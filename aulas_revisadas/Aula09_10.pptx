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2" r:id="rId31"/>
    <p:sldId id="283" r:id="rId32"/>
    <p:sldId id="284" r:id="rId33"/>
    <p:sldId id="285" r:id="rId34"/>
    <p:sldId id="281" r:id="rId30"/>
  </p:sldIdLst>
  <p:sldSz cy="7559675" cx="10080625"/>
  <p:notesSz cx="7559675" cy="106918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slide" Target="slides/slide25.xml"/><Relationship Id="rId30" Type="http://schemas.openxmlformats.org/officeDocument/2006/relationships/slide" Target="slides/slide26.xml"/><Relationship Id="rId31" Type="http://schemas.openxmlformats.org/officeDocument/2006/relationships/slide" Target="slides/slide27.xml"/><Relationship Id="rId32" Type="http://schemas.openxmlformats.org/officeDocument/2006/relationships/slide" Target="slides/slide28.xml"/><Relationship Id="rId33" Type="http://schemas.openxmlformats.org/officeDocument/2006/relationships/slide" Target="slides/slide29.xml"/><Relationship Id="rId34" Type="http://schemas.openxmlformats.org/officeDocument/2006/relationships/slide" Target="slides/slide3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1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2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70f2bcd8e8_0_0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g370f2bcd8e8_0_0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1c9f34a603c_0_0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g1c9f34a603c_0_0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4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5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6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6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7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7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8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8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9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9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0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0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1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1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1c9f34a603c_0_9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g1c9f34a603c_0_9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2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2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b4bcc6169c_0_38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gb4bcc6169c_0_38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b4bcc6169c_0_47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gb4bcc6169c_0_47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3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3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4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4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5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5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6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6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7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7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8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8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70f2bcd8e8_0_14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g370f2bcd8e8_0_14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70f420d55c_0_0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g370f420d55c_0_0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9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9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 txBox="1"/>
          <p:nvPr>
            <p:ph type="title"/>
          </p:nvPr>
        </p:nvSpPr>
        <p:spPr>
          <a:xfrm>
            <a:off x="144000" y="157320"/>
            <a:ext cx="9792000" cy="126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144000" y="1584000"/>
            <a:ext cx="9792000" cy="50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buNone/>
              <a:defRPr sz="1400"/>
            </a:lvl1pPr>
            <a:lvl2pPr lvl="1" algn="r">
              <a:buNone/>
              <a:defRPr sz="1400"/>
            </a:lvl2pPr>
            <a:lvl3pPr lvl="2" algn="r">
              <a:buNone/>
              <a:defRPr sz="1400"/>
            </a:lvl3pPr>
            <a:lvl4pPr lvl="3" algn="r">
              <a:buNone/>
              <a:defRPr sz="1400"/>
            </a:lvl4pPr>
            <a:lvl5pPr lvl="4" algn="r">
              <a:buNone/>
              <a:defRPr sz="1400"/>
            </a:lvl5pPr>
            <a:lvl6pPr lvl="5" algn="r">
              <a:buNone/>
              <a:defRPr sz="1400"/>
            </a:lvl6pPr>
            <a:lvl7pPr lvl="6" algn="r">
              <a:buNone/>
              <a:defRPr sz="1400"/>
            </a:lvl7pPr>
            <a:lvl8pPr lvl="7" algn="r">
              <a:buNone/>
              <a:defRPr sz="1400"/>
            </a:lvl8pPr>
            <a:lvl9pPr lvl="8" algn="r">
              <a:buNone/>
              <a:defRPr sz="14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/>
          <p:nvPr>
            <p:ph type="title"/>
          </p:nvPr>
        </p:nvSpPr>
        <p:spPr>
          <a:xfrm>
            <a:off x="144000" y="157320"/>
            <a:ext cx="9792000" cy="126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1" type="body"/>
          </p:nvPr>
        </p:nvSpPr>
        <p:spPr>
          <a:xfrm>
            <a:off x="144000" y="1584000"/>
            <a:ext cx="9792000" cy="50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buNone/>
              <a:defRPr sz="1400"/>
            </a:lvl1pPr>
            <a:lvl2pPr lvl="1" algn="r">
              <a:buNone/>
              <a:defRPr sz="1400"/>
            </a:lvl2pPr>
            <a:lvl3pPr lvl="2" algn="r">
              <a:buNone/>
              <a:defRPr sz="1400"/>
            </a:lvl3pPr>
            <a:lvl4pPr lvl="3" algn="r">
              <a:buNone/>
              <a:defRPr sz="1400"/>
            </a:lvl4pPr>
            <a:lvl5pPr lvl="4" algn="r">
              <a:buNone/>
              <a:defRPr sz="1400"/>
            </a:lvl5pPr>
            <a:lvl6pPr lvl="5" algn="r">
              <a:buNone/>
              <a:defRPr sz="1400"/>
            </a:lvl6pPr>
            <a:lvl7pPr lvl="6" algn="r">
              <a:buNone/>
              <a:defRPr sz="1400"/>
            </a:lvl7pPr>
            <a:lvl8pPr lvl="7" algn="r">
              <a:buNone/>
              <a:defRPr sz="1400"/>
            </a:lvl8pPr>
            <a:lvl9pPr lvl="8" algn="r">
              <a:buNone/>
              <a:defRPr sz="14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144000" y="157320"/>
            <a:ext cx="9792000" cy="126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144000" y="1584000"/>
            <a:ext cx="4778280" cy="50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2" type="body"/>
          </p:nvPr>
        </p:nvSpPr>
        <p:spPr>
          <a:xfrm>
            <a:off x="5161680" y="1584000"/>
            <a:ext cx="4778280" cy="50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144000" y="157320"/>
            <a:ext cx="9792000" cy="126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/>
          <p:nvPr>
            <p:ph idx="1" type="subTitle"/>
          </p:nvPr>
        </p:nvSpPr>
        <p:spPr>
          <a:xfrm>
            <a:off x="144000" y="157320"/>
            <a:ext cx="9792000" cy="585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/>
          <p:nvPr>
            <p:ph type="title"/>
          </p:nvPr>
        </p:nvSpPr>
        <p:spPr>
          <a:xfrm>
            <a:off x="144000" y="157320"/>
            <a:ext cx="9792000" cy="126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8"/>
          <p:cNvSpPr txBox="1"/>
          <p:nvPr>
            <p:ph idx="1" type="body"/>
          </p:nvPr>
        </p:nvSpPr>
        <p:spPr>
          <a:xfrm>
            <a:off x="144000" y="1584000"/>
            <a:ext cx="4778280" cy="2403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8"/>
          <p:cNvSpPr txBox="1"/>
          <p:nvPr>
            <p:ph idx="2" type="body"/>
          </p:nvPr>
        </p:nvSpPr>
        <p:spPr>
          <a:xfrm>
            <a:off x="5161680" y="1584000"/>
            <a:ext cx="4778280" cy="50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8"/>
          <p:cNvSpPr txBox="1"/>
          <p:nvPr>
            <p:ph idx="3" type="body"/>
          </p:nvPr>
        </p:nvSpPr>
        <p:spPr>
          <a:xfrm>
            <a:off x="144000" y="4216320"/>
            <a:ext cx="4778280" cy="2403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9"/>
          <p:cNvSpPr txBox="1"/>
          <p:nvPr>
            <p:ph type="title"/>
          </p:nvPr>
        </p:nvSpPr>
        <p:spPr>
          <a:xfrm>
            <a:off x="144000" y="157320"/>
            <a:ext cx="9792000" cy="126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9"/>
          <p:cNvSpPr txBox="1"/>
          <p:nvPr>
            <p:ph idx="1" type="body"/>
          </p:nvPr>
        </p:nvSpPr>
        <p:spPr>
          <a:xfrm>
            <a:off x="144000" y="1584000"/>
            <a:ext cx="4778280" cy="50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9"/>
          <p:cNvSpPr txBox="1"/>
          <p:nvPr>
            <p:ph idx="2" type="body"/>
          </p:nvPr>
        </p:nvSpPr>
        <p:spPr>
          <a:xfrm>
            <a:off x="5161680" y="1584000"/>
            <a:ext cx="4778280" cy="2403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9"/>
          <p:cNvSpPr txBox="1"/>
          <p:nvPr>
            <p:ph idx="3" type="body"/>
          </p:nvPr>
        </p:nvSpPr>
        <p:spPr>
          <a:xfrm>
            <a:off x="5161680" y="4216320"/>
            <a:ext cx="4778280" cy="2403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0"/>
          <p:cNvSpPr txBox="1"/>
          <p:nvPr>
            <p:ph type="title"/>
          </p:nvPr>
        </p:nvSpPr>
        <p:spPr>
          <a:xfrm>
            <a:off x="144000" y="157320"/>
            <a:ext cx="9792000" cy="126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0"/>
          <p:cNvSpPr txBox="1"/>
          <p:nvPr>
            <p:ph idx="1" type="body"/>
          </p:nvPr>
        </p:nvSpPr>
        <p:spPr>
          <a:xfrm>
            <a:off x="144000" y="1584000"/>
            <a:ext cx="4778280" cy="2403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0"/>
          <p:cNvSpPr txBox="1"/>
          <p:nvPr>
            <p:ph idx="2" type="body"/>
          </p:nvPr>
        </p:nvSpPr>
        <p:spPr>
          <a:xfrm>
            <a:off x="5161680" y="1584000"/>
            <a:ext cx="4778280" cy="2403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0"/>
          <p:cNvSpPr txBox="1"/>
          <p:nvPr>
            <p:ph idx="3" type="body"/>
          </p:nvPr>
        </p:nvSpPr>
        <p:spPr>
          <a:xfrm>
            <a:off x="144000" y="4216320"/>
            <a:ext cx="9792000" cy="2403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type="title"/>
          </p:nvPr>
        </p:nvSpPr>
        <p:spPr>
          <a:xfrm>
            <a:off x="144000" y="157320"/>
            <a:ext cx="9792000" cy="126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144000" y="1584000"/>
            <a:ext cx="9792000" cy="2403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2" type="body"/>
          </p:nvPr>
        </p:nvSpPr>
        <p:spPr>
          <a:xfrm>
            <a:off x="144000" y="4216320"/>
            <a:ext cx="9792000" cy="2403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type="title"/>
          </p:nvPr>
        </p:nvSpPr>
        <p:spPr>
          <a:xfrm>
            <a:off x="144000" y="157320"/>
            <a:ext cx="9792000" cy="126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2"/>
          <p:cNvSpPr txBox="1"/>
          <p:nvPr>
            <p:ph idx="1" type="body"/>
          </p:nvPr>
        </p:nvSpPr>
        <p:spPr>
          <a:xfrm>
            <a:off x="144000" y="1584000"/>
            <a:ext cx="4778280" cy="2403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2"/>
          <p:cNvSpPr txBox="1"/>
          <p:nvPr>
            <p:ph idx="2" type="body"/>
          </p:nvPr>
        </p:nvSpPr>
        <p:spPr>
          <a:xfrm>
            <a:off x="5161680" y="1584000"/>
            <a:ext cx="4778280" cy="2403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2"/>
          <p:cNvSpPr txBox="1"/>
          <p:nvPr>
            <p:ph idx="3" type="body"/>
          </p:nvPr>
        </p:nvSpPr>
        <p:spPr>
          <a:xfrm>
            <a:off x="144000" y="4216320"/>
            <a:ext cx="4778280" cy="2403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2"/>
          <p:cNvSpPr txBox="1"/>
          <p:nvPr>
            <p:ph idx="4" type="body"/>
          </p:nvPr>
        </p:nvSpPr>
        <p:spPr>
          <a:xfrm>
            <a:off x="5161680" y="4216320"/>
            <a:ext cx="4778280" cy="2403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/>
          <p:nvPr>
            <p:ph type="title"/>
          </p:nvPr>
        </p:nvSpPr>
        <p:spPr>
          <a:xfrm>
            <a:off x="144000" y="157320"/>
            <a:ext cx="9792000" cy="126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3"/>
          <p:cNvSpPr txBox="1"/>
          <p:nvPr>
            <p:ph idx="1" type="body"/>
          </p:nvPr>
        </p:nvSpPr>
        <p:spPr>
          <a:xfrm>
            <a:off x="144000" y="1584000"/>
            <a:ext cx="3152880" cy="2403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3"/>
          <p:cNvSpPr txBox="1"/>
          <p:nvPr>
            <p:ph idx="2" type="body"/>
          </p:nvPr>
        </p:nvSpPr>
        <p:spPr>
          <a:xfrm>
            <a:off x="3454920" y="1584000"/>
            <a:ext cx="3152880" cy="2403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3"/>
          <p:cNvSpPr txBox="1"/>
          <p:nvPr>
            <p:ph idx="3" type="body"/>
          </p:nvPr>
        </p:nvSpPr>
        <p:spPr>
          <a:xfrm>
            <a:off x="6765840" y="1584000"/>
            <a:ext cx="3152880" cy="2403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3"/>
          <p:cNvSpPr txBox="1"/>
          <p:nvPr>
            <p:ph idx="4" type="body"/>
          </p:nvPr>
        </p:nvSpPr>
        <p:spPr>
          <a:xfrm>
            <a:off x="144000" y="4216320"/>
            <a:ext cx="3152880" cy="2403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3"/>
          <p:cNvSpPr txBox="1"/>
          <p:nvPr>
            <p:ph idx="5" type="body"/>
          </p:nvPr>
        </p:nvSpPr>
        <p:spPr>
          <a:xfrm>
            <a:off x="3454920" y="4216320"/>
            <a:ext cx="3152880" cy="2403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3"/>
          <p:cNvSpPr txBox="1"/>
          <p:nvPr>
            <p:ph idx="6" type="body"/>
          </p:nvPr>
        </p:nvSpPr>
        <p:spPr>
          <a:xfrm>
            <a:off x="6765840" y="4216320"/>
            <a:ext cx="3152880" cy="2403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144000" y="157320"/>
            <a:ext cx="9792000" cy="126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144000" y="1584000"/>
            <a:ext cx="9792000" cy="50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2520000" y="6887160"/>
            <a:ext cx="1440000" cy="521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4104000" y="6887160"/>
            <a:ext cx="4608000" cy="521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856000" y="6887160"/>
            <a:ext cx="1079640" cy="521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rtl="0" algn="ctr">
              <a:spcBef>
                <a:spcPts val="0"/>
              </a:spcBef>
              <a:buNone/>
              <a:defRPr b="0" i="0" sz="1400" u="none" cap="none" strike="noStrike"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ctr">
              <a:spcBef>
                <a:spcPts val="0"/>
              </a:spcBef>
              <a:buNone/>
              <a:defRPr b="0" i="0" sz="1400" u="none" cap="none" strike="noStrike"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ctr">
              <a:spcBef>
                <a:spcPts val="0"/>
              </a:spcBef>
              <a:buNone/>
              <a:defRPr b="0" i="0" sz="1400" u="none" cap="none" strike="noStrike"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ctr">
              <a:spcBef>
                <a:spcPts val="0"/>
              </a:spcBef>
              <a:buNone/>
              <a:defRPr b="0" i="0" sz="1400" u="none" cap="none" strike="noStrike"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ctr">
              <a:spcBef>
                <a:spcPts val="0"/>
              </a:spcBef>
              <a:buNone/>
              <a:defRPr b="0" i="0" sz="1400" u="none" cap="none" strike="noStrike"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ctr">
              <a:spcBef>
                <a:spcPts val="0"/>
              </a:spcBef>
              <a:buNone/>
              <a:defRPr b="0" i="0" sz="1400" u="none" cap="none" strike="noStrike"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ctr">
              <a:spcBef>
                <a:spcPts val="0"/>
              </a:spcBef>
              <a:buNone/>
              <a:defRPr b="0" i="0" sz="1400" u="none" cap="none" strike="noStrike"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ctr">
              <a:spcBef>
                <a:spcPts val="0"/>
              </a:spcBef>
              <a:buNone/>
              <a:defRPr b="0" i="0" sz="1400" u="none" cap="none" strike="noStrike"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ctr">
              <a:spcBef>
                <a:spcPts val="0"/>
              </a:spcBef>
              <a:buNone/>
              <a:defRPr b="0" i="0" sz="1400" u="none" cap="none" strike="noStrike"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1" name="Google Shape;11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144000" y="6769080"/>
            <a:ext cx="2275560" cy="64692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/>
          <p:nvPr/>
        </p:nvSpPr>
        <p:spPr>
          <a:xfrm>
            <a:off x="144000" y="157320"/>
            <a:ext cx="9792000" cy="126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4200" u="none" cap="none" strike="noStrike">
                <a:latin typeface="Arial"/>
                <a:ea typeface="Arial"/>
                <a:cs typeface="Arial"/>
                <a:sym typeface="Arial"/>
              </a:rPr>
              <a:t>Algoritmos e Programação de Computadores I</a:t>
            </a:r>
            <a:endParaRPr b="0" i="0" sz="4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14"/>
          <p:cNvSpPr txBox="1"/>
          <p:nvPr/>
        </p:nvSpPr>
        <p:spPr>
          <a:xfrm>
            <a:off x="144000" y="1584000"/>
            <a:ext cx="9792000" cy="50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4400" u="none" cap="none" strike="noStrike">
                <a:latin typeface="Arial"/>
                <a:ea typeface="Arial"/>
                <a:cs typeface="Arial"/>
                <a:sym typeface="Arial"/>
              </a:rPr>
              <a:t>Comandos de Seleção em C</a:t>
            </a:r>
            <a:endParaRPr b="0" i="0" sz="4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r>
              <a:rPr>
                <a:latin typeface="Arial"/>
              </a:rPr>
              <a:t/>
            </a:r>
          </a:p>
          <a:p>
            <a:r>
              <a:rPr>
                <a:latin typeface="Arial"/>
              </a:rPr>
              <a:t/>
            </a:r>
          </a:p>
          <a:p>
            <a:r>
              <a:rPr>
                <a:latin typeface="Arial"/>
              </a:rPr>
              <a:t>Prof. Marcelo Farias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/>
          <p:nvPr/>
        </p:nvSpPr>
        <p:spPr>
          <a:xfrm>
            <a:off x="144000" y="157320"/>
            <a:ext cx="9792000" cy="126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4400" u="none" cap="none" strike="noStrike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t-BR" sz="4400"/>
              <a:t>Objetivos da Aula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15"/>
          <p:cNvSpPr txBox="1"/>
          <p:nvPr/>
        </p:nvSpPr>
        <p:spPr>
          <a:xfrm>
            <a:off x="144000" y="1584000"/>
            <a:ext cx="9792000" cy="50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4000" lvl="0" marL="431999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/>
              <a:t>Compreender </a:t>
            </a:r>
            <a:r>
              <a:rPr lang="pt-BR" sz="3200"/>
              <a:t>as</a:t>
            </a:r>
            <a:r>
              <a:rPr lang="pt-BR" sz="3200"/>
              <a:t> </a:t>
            </a:r>
            <a:r>
              <a:rPr lang="pt-BR" sz="3200"/>
              <a:t>estruturas</a:t>
            </a:r>
            <a:r>
              <a:rPr lang="pt-BR" sz="3200"/>
              <a:t> de seleção condicionais em C.</a:t>
            </a:r>
            <a:endParaRPr sz="3200"/>
          </a:p>
          <a:p>
            <a:pPr indent="-324000" lvl="0" marL="431999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>
                <a:solidFill>
                  <a:schemeClr val="dk1"/>
                </a:solidFill>
              </a:rPr>
              <a:t>Conhecer a sintaxe e o funcionamento de cada comando de seleção.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  <a:p>
            <a:pPr indent="-320040" lvl="0" marL="457200" rtl="0" algn="l">
              <a:spcBef>
                <a:spcPts val="1417"/>
              </a:spcBef>
              <a:spcAft>
                <a:spcPts val="0"/>
              </a:spcAft>
              <a:buSzPts val="1440"/>
              <a:buFont typeface="Noto Sans Symbols"/>
              <a:buChar char="●"/>
            </a:pPr>
            <a:r>
              <a:rPr lang="pt-BR" sz="3200">
                <a:solidFill>
                  <a:schemeClr val="dk1"/>
                </a:solidFill>
              </a:rPr>
              <a:t>Aprender a utilizar e diferenciar seleção simples e múltipla</a:t>
            </a:r>
            <a:r>
              <a:rPr lang="pt-BR" sz="3200">
                <a:solidFill>
                  <a:schemeClr val="dk1"/>
                </a:solidFill>
              </a:rPr>
              <a:t>.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5"/>
          <p:cNvSpPr txBox="1"/>
          <p:nvPr/>
        </p:nvSpPr>
        <p:spPr>
          <a:xfrm>
            <a:off x="2713375" y="6877725"/>
            <a:ext cx="6065100" cy="46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Algoritmos e Programação de Computadores I</a:t>
            </a:r>
            <a:endParaRPr/>
          </a:p>
        </p:txBody>
      </p:sp>
      <p:sp>
        <p:nvSpPr>
          <p:cNvPr id="75" name="Google Shape;75;p15"/>
          <p:cNvSpPr txBox="1"/>
          <p:nvPr>
            <p:ph idx="12" type="sldNum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r>
              <a:rPr sz="1200"/>
              <a:t>2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/>
          <p:nvPr/>
        </p:nvSpPr>
        <p:spPr>
          <a:xfrm>
            <a:off x="144000" y="157320"/>
            <a:ext cx="97920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4400" u="none" cap="none" strike="noStrike">
                <a:latin typeface="Arial"/>
                <a:ea typeface="Arial"/>
                <a:cs typeface="Arial"/>
                <a:sym typeface="Arial"/>
              </a:rPr>
              <a:t> Comandos </a:t>
            </a:r>
            <a:r>
              <a:rPr lang="pt-BR" sz="4400"/>
              <a:t>de Seleção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16"/>
          <p:cNvSpPr txBox="1"/>
          <p:nvPr/>
        </p:nvSpPr>
        <p:spPr>
          <a:xfrm>
            <a:off x="144000" y="1584000"/>
            <a:ext cx="9792000" cy="50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4000" lvl="0" marL="431999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/>
              <a:t>Testam uma condição para determinar qual comando ou bloco de comandos será executado.</a:t>
            </a:r>
            <a:endParaRPr sz="3200"/>
          </a:p>
          <a:p>
            <a:pPr indent="-324000" lvl="0" marL="431999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/>
              <a:t>Também chamados de comandos condicionais.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  <a:p>
            <a:pPr indent="-324000" lvl="0" marL="431999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/>
              <a:t>C suporta os comandos if e switch</a:t>
            </a:r>
            <a:r>
              <a:rPr b="0" lang="pt-BR" sz="3200" strike="noStrike">
                <a:latin typeface="Arial"/>
                <a:ea typeface="Arial"/>
                <a:cs typeface="Arial"/>
                <a:sym typeface="Arial"/>
              </a:rPr>
              <a:t>.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16"/>
          <p:cNvSpPr txBox="1"/>
          <p:nvPr/>
        </p:nvSpPr>
        <p:spPr>
          <a:xfrm>
            <a:off x="2713375" y="6877725"/>
            <a:ext cx="6065100" cy="46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Algoritmos e Programação de Computadores I</a:t>
            </a:r>
            <a:endParaRPr/>
          </a:p>
        </p:txBody>
      </p:sp>
      <p:sp>
        <p:nvSpPr>
          <p:cNvPr id="83" name="Google Shape;83;p16"/>
          <p:cNvSpPr txBox="1"/>
          <p:nvPr>
            <p:ph idx="12" type="sldNum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r>
              <a:rPr sz="1200"/>
              <a:t>3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/>
          <p:nvPr/>
        </p:nvSpPr>
        <p:spPr>
          <a:xfrm>
            <a:off x="144000" y="157320"/>
            <a:ext cx="97920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4400" u="none" cap="none" strike="noStrike">
                <a:latin typeface="Arial"/>
                <a:ea typeface="Arial"/>
                <a:cs typeface="Arial"/>
                <a:sym typeface="Arial"/>
              </a:rPr>
              <a:t> Comando if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7"/>
          <p:cNvSpPr txBox="1"/>
          <p:nvPr/>
        </p:nvSpPr>
        <p:spPr>
          <a:xfrm>
            <a:off x="144000" y="1584000"/>
            <a:ext cx="9792000" cy="50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4000" lvl="0" marL="431999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/>
              <a:t>Principal c</a:t>
            </a:r>
            <a:r>
              <a:rPr b="0" lang="pt-BR" sz="3200" strike="noStrike">
                <a:latin typeface="Arial"/>
                <a:ea typeface="Arial"/>
                <a:cs typeface="Arial"/>
                <a:sym typeface="Arial"/>
              </a:rPr>
              <a:t>omando de seleção.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  <a:p>
            <a:pPr indent="-324000" lvl="0" marL="431999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b="0" lang="pt-BR" sz="3200" strike="noStrike">
                <a:latin typeface="Arial"/>
                <a:ea typeface="Arial"/>
                <a:cs typeface="Arial"/>
                <a:sym typeface="Arial"/>
              </a:rPr>
              <a:t>Executa um comando ou um bloco</a:t>
            </a:r>
            <a:r>
              <a:rPr lang="pt-BR" sz="3200"/>
              <a:t> de comandos</a:t>
            </a:r>
            <a:r>
              <a:rPr b="0" lang="pt-BR" sz="3200" strike="noStrike">
                <a:latin typeface="Arial"/>
                <a:ea typeface="Arial"/>
                <a:cs typeface="Arial"/>
                <a:sym typeface="Arial"/>
              </a:rPr>
              <a:t> se uma </a:t>
            </a:r>
            <a:r>
              <a:rPr lang="pt-BR" sz="3200"/>
              <a:t>condição</a:t>
            </a:r>
            <a:r>
              <a:rPr b="0" lang="pt-BR" sz="3200" strike="noStrike">
                <a:latin typeface="Arial"/>
                <a:ea typeface="Arial"/>
                <a:cs typeface="Arial"/>
                <a:sym typeface="Arial"/>
              </a:rPr>
              <a:t> for verdadeira.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7"/>
          <p:cNvSpPr txBox="1"/>
          <p:nvPr/>
        </p:nvSpPr>
        <p:spPr>
          <a:xfrm>
            <a:off x="2713375" y="6877725"/>
            <a:ext cx="6065100" cy="46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Algoritmos e Programação de Computadores I</a:t>
            </a:r>
            <a:endParaRPr/>
          </a:p>
        </p:txBody>
      </p:sp>
      <p:sp>
        <p:nvSpPr>
          <p:cNvPr id="91" name="Google Shape;91;p17"/>
          <p:cNvSpPr txBox="1"/>
          <p:nvPr>
            <p:ph idx="12" type="sldNum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r>
              <a:rPr sz="1200"/>
              <a:t>4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8"/>
          <p:cNvSpPr txBox="1"/>
          <p:nvPr/>
        </p:nvSpPr>
        <p:spPr>
          <a:xfrm>
            <a:off x="144000" y="157320"/>
            <a:ext cx="9792000" cy="126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4400" strike="noStrike">
                <a:latin typeface="Arial"/>
                <a:ea typeface="Arial"/>
                <a:cs typeface="Arial"/>
                <a:sym typeface="Arial"/>
              </a:rPr>
              <a:t> Sintaxe </a:t>
            </a:r>
            <a:r>
              <a:rPr lang="pt-BR" sz="4400"/>
              <a:t>B</a:t>
            </a:r>
            <a:r>
              <a:rPr b="0" lang="pt-BR" sz="4400" strike="noStrike">
                <a:latin typeface="Arial"/>
                <a:ea typeface="Arial"/>
                <a:cs typeface="Arial"/>
                <a:sym typeface="Arial"/>
              </a:rPr>
              <a:t>ásica do if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8"/>
          <p:cNvSpPr txBox="1"/>
          <p:nvPr/>
        </p:nvSpPr>
        <p:spPr>
          <a:xfrm>
            <a:off x="144000" y="1584000"/>
            <a:ext cx="9792000" cy="50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800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if(</a:t>
            </a:r>
            <a:r>
              <a:rPr b="0" i="1" lang="pt-BR" sz="2400" strike="noStrike">
                <a:latin typeface="Arial"/>
                <a:ea typeface="Arial"/>
                <a:cs typeface="Arial"/>
                <a:sym typeface="Arial"/>
              </a:rPr>
              <a:t>condição</a:t>
            </a: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) </a:t>
            </a:r>
            <a:r>
              <a:rPr i="1" lang="pt-BR" sz="2400"/>
              <a:t>comando</a:t>
            </a: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;</a:t>
            </a:r>
            <a:endParaRPr b="0" sz="24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1800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4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1800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if(</a:t>
            </a:r>
            <a:r>
              <a:rPr b="0" i="1" lang="pt-BR" sz="2400" strike="noStrike">
                <a:latin typeface="Arial"/>
                <a:ea typeface="Arial"/>
                <a:cs typeface="Arial"/>
                <a:sym typeface="Arial"/>
              </a:rPr>
              <a:t>condição</a:t>
            </a: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) {</a:t>
            </a:r>
            <a:endParaRPr b="0" sz="24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1800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pt-BR" sz="2400" strike="noStrike"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i="1" lang="pt-BR" sz="2400"/>
              <a:t>comando</a:t>
            </a:r>
            <a:r>
              <a:rPr b="0" i="1" lang="pt-BR" sz="2400" strike="noStrike"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;</a:t>
            </a:r>
            <a:endParaRPr b="0" sz="24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1800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pt-BR" sz="2400" strike="noStrike"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i="1" lang="pt-BR" sz="2400"/>
              <a:t>comando</a:t>
            </a:r>
            <a:r>
              <a:rPr b="0" i="1" lang="pt-BR" sz="2400" strike="noStrike"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;</a:t>
            </a:r>
            <a:endParaRPr b="0" sz="24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1800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   … </a:t>
            </a:r>
            <a:endParaRPr b="0" sz="24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1800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pt-BR" sz="2400" strike="noStrike"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i="1" lang="pt-BR" sz="2400"/>
              <a:t>comando</a:t>
            </a:r>
            <a:r>
              <a:rPr b="0" i="1" lang="pt-BR" sz="2400" strike="noStrike"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;</a:t>
            </a:r>
            <a:endParaRPr b="0" sz="24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1800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}</a:t>
            </a:r>
            <a:endParaRPr b="0" sz="2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8"/>
          <p:cNvSpPr txBox="1"/>
          <p:nvPr/>
        </p:nvSpPr>
        <p:spPr>
          <a:xfrm>
            <a:off x="2713375" y="6877725"/>
            <a:ext cx="6065100" cy="46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Algoritmos e Programação de Computadores I</a:t>
            </a:r>
            <a:endParaRPr/>
          </a:p>
        </p:txBody>
      </p:sp>
      <p:sp>
        <p:nvSpPr>
          <p:cNvPr id="99" name="Google Shape;99;p18"/>
          <p:cNvSpPr txBox="1"/>
          <p:nvPr>
            <p:ph idx="12" type="sldNum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r>
              <a:rPr sz="1200"/>
              <a:t>5</a:t>
            </a:r>
            <a:endParaRPr/>
          </a:p>
        </p:txBody>
      </p:sp>
      <p:pic>
        <p:nvPicPr>
          <p:cNvPr id="100" name="Google Shape;10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14350" y="1507800"/>
            <a:ext cx="3819525" cy="3476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9"/>
          <p:cNvSpPr txBox="1"/>
          <p:nvPr/>
        </p:nvSpPr>
        <p:spPr>
          <a:xfrm>
            <a:off x="144000" y="157320"/>
            <a:ext cx="9792000" cy="126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4400" strike="noStrike">
                <a:latin typeface="Arial"/>
                <a:ea typeface="Arial"/>
                <a:cs typeface="Arial"/>
                <a:sym typeface="Arial"/>
              </a:rPr>
              <a:t> Exemplo de if simples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9"/>
          <p:cNvSpPr txBox="1"/>
          <p:nvPr/>
        </p:nvSpPr>
        <p:spPr>
          <a:xfrm>
            <a:off x="144000" y="1584000"/>
            <a:ext cx="9792000" cy="50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800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int idade = 32; </a:t>
            </a:r>
            <a:endParaRPr b="0" sz="24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1800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char sexo = '</a:t>
            </a:r>
            <a:r>
              <a:rPr lang="pt-BR" sz="2400"/>
              <a:t>F</a:t>
            </a: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';</a:t>
            </a:r>
            <a:endParaRPr b="0" sz="24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1800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/>
              <a:t>float desconto = 0.0f;</a:t>
            </a:r>
            <a:endParaRPr sz="2400"/>
          </a:p>
          <a:p>
            <a:pPr indent="0" lvl="0" marL="1800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4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1800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if(idade &gt; </a:t>
            </a:r>
            <a:r>
              <a:rPr lang="pt-BR" sz="2400"/>
              <a:t>18</a:t>
            </a: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) </a:t>
            </a:r>
            <a:r>
              <a:rPr lang="pt-BR" sz="2400"/>
              <a:t>printf(</a:t>
            </a:r>
            <a:r>
              <a:rPr lang="pt-BR" sz="2400"/>
              <a:t>"É maior de idade\n");</a:t>
            </a:r>
            <a:endParaRPr b="0" sz="24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1800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4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1800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if(sexo == 'F') {</a:t>
            </a:r>
            <a:endParaRPr b="0" sz="24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1800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lang="pt-BR" sz="2400"/>
              <a:t>printf("É do sexo feminino\n");</a:t>
            </a:r>
            <a:endParaRPr sz="2400"/>
          </a:p>
          <a:p>
            <a:pPr indent="0" lvl="0" marL="1800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/>
              <a:t>   desconto = 0.5f;</a:t>
            </a:r>
            <a:endParaRPr sz="2400"/>
          </a:p>
          <a:p>
            <a:pPr indent="0" lvl="0" marL="1800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} </a:t>
            </a:r>
            <a:endParaRPr b="0" sz="2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19"/>
          <p:cNvSpPr txBox="1"/>
          <p:nvPr/>
        </p:nvSpPr>
        <p:spPr>
          <a:xfrm>
            <a:off x="2713375" y="6877725"/>
            <a:ext cx="6065100" cy="46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Algoritmos e Programação de Computadores I</a:t>
            </a:r>
            <a:endParaRPr/>
          </a:p>
        </p:txBody>
      </p:sp>
      <p:sp>
        <p:nvSpPr>
          <p:cNvPr id="108" name="Google Shape;108;p19"/>
          <p:cNvSpPr txBox="1"/>
          <p:nvPr>
            <p:ph idx="12" type="sldNum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r>
              <a:rPr sz="1200"/>
              <a:t>6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0"/>
          <p:cNvSpPr txBox="1"/>
          <p:nvPr/>
        </p:nvSpPr>
        <p:spPr>
          <a:xfrm>
            <a:off x="144000" y="157320"/>
            <a:ext cx="9792000" cy="126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4400" strike="noStrike">
                <a:latin typeface="Arial"/>
                <a:ea typeface="Arial"/>
                <a:cs typeface="Arial"/>
                <a:sym typeface="Arial"/>
              </a:rPr>
              <a:t> Com</a:t>
            </a:r>
            <a:r>
              <a:rPr b="0" lang="pt-BR" sz="4400" strike="noStrike">
                <a:latin typeface="Arial"/>
                <a:ea typeface="Arial"/>
                <a:cs typeface="Arial"/>
                <a:sym typeface="Arial"/>
              </a:rPr>
              <a:t>ando</a:t>
            </a:r>
            <a:r>
              <a:rPr b="0" lang="pt-BR" sz="4400" strike="noStrike">
                <a:latin typeface="Arial"/>
                <a:ea typeface="Arial"/>
                <a:cs typeface="Arial"/>
                <a:sym typeface="Arial"/>
              </a:rPr>
              <a:t> else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20"/>
          <p:cNvSpPr txBox="1"/>
          <p:nvPr/>
        </p:nvSpPr>
        <p:spPr>
          <a:xfrm>
            <a:off x="144000" y="1584000"/>
            <a:ext cx="9792000" cy="50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4000" lvl="0" marL="4320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b="0" lang="pt-BR" sz="3200" strike="noStrike">
                <a:latin typeface="Arial"/>
                <a:ea typeface="Arial"/>
                <a:cs typeface="Arial"/>
                <a:sym typeface="Arial"/>
              </a:rPr>
              <a:t>Complemento opcional do if.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  <a:p>
            <a:pPr indent="-324000" lvl="0" marL="43200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b="0" lang="pt-BR" sz="3200" strike="noStrike">
                <a:latin typeface="Arial"/>
                <a:ea typeface="Arial"/>
                <a:cs typeface="Arial"/>
                <a:sym typeface="Arial"/>
              </a:rPr>
              <a:t>Executa um comando ou um bloco de comandos </a:t>
            </a:r>
            <a:r>
              <a:rPr lang="pt-BR" sz="3200"/>
              <a:t>caso</a:t>
            </a:r>
            <a:r>
              <a:rPr b="0" lang="pt-BR" sz="3200" strike="noStrike">
                <a:latin typeface="Arial"/>
                <a:ea typeface="Arial"/>
                <a:cs typeface="Arial"/>
                <a:sym typeface="Arial"/>
              </a:rPr>
              <a:t> a </a:t>
            </a:r>
            <a:r>
              <a:rPr lang="pt-BR" sz="3200"/>
              <a:t>condição do</a:t>
            </a:r>
            <a:r>
              <a:rPr b="0" lang="pt-BR" sz="3200" strike="noStrike">
                <a:latin typeface="Arial"/>
                <a:ea typeface="Arial"/>
                <a:cs typeface="Arial"/>
                <a:sym typeface="Arial"/>
              </a:rPr>
              <a:t> if </a:t>
            </a:r>
            <a:r>
              <a:rPr lang="pt-BR" sz="3200"/>
              <a:t>seja</a:t>
            </a:r>
            <a:r>
              <a:rPr b="0" lang="pt-BR" sz="3200" strike="noStrike">
                <a:latin typeface="Arial"/>
                <a:ea typeface="Arial"/>
                <a:cs typeface="Arial"/>
                <a:sym typeface="Arial"/>
              </a:rPr>
              <a:t> falsa.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20"/>
          <p:cNvSpPr txBox="1"/>
          <p:nvPr/>
        </p:nvSpPr>
        <p:spPr>
          <a:xfrm>
            <a:off x="2713375" y="6877725"/>
            <a:ext cx="6065100" cy="46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Algoritmos e Programação de Computadores I</a:t>
            </a:r>
            <a:endParaRPr/>
          </a:p>
        </p:txBody>
      </p:sp>
      <p:sp>
        <p:nvSpPr>
          <p:cNvPr id="116" name="Google Shape;116;p20"/>
          <p:cNvSpPr txBox="1"/>
          <p:nvPr>
            <p:ph idx="12" type="sldNum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r>
              <a:rPr sz="1200"/>
              <a:t>7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1"/>
          <p:cNvSpPr txBox="1"/>
          <p:nvPr/>
        </p:nvSpPr>
        <p:spPr>
          <a:xfrm>
            <a:off x="144000" y="157320"/>
            <a:ext cx="9792000" cy="126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4400" strike="noStrike">
                <a:latin typeface="Arial"/>
                <a:ea typeface="Arial"/>
                <a:cs typeface="Arial"/>
                <a:sym typeface="Arial"/>
              </a:rPr>
              <a:t> Sintaxe </a:t>
            </a:r>
            <a:r>
              <a:rPr lang="pt-BR" sz="4400"/>
              <a:t>C</a:t>
            </a:r>
            <a:r>
              <a:rPr b="0" lang="pt-BR" sz="4400" strike="noStrike">
                <a:latin typeface="Arial"/>
                <a:ea typeface="Arial"/>
                <a:cs typeface="Arial"/>
                <a:sym typeface="Arial"/>
              </a:rPr>
              <a:t>ompleta do if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21"/>
          <p:cNvSpPr txBox="1"/>
          <p:nvPr/>
        </p:nvSpPr>
        <p:spPr>
          <a:xfrm>
            <a:off x="144000" y="1584000"/>
            <a:ext cx="9792000" cy="50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800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if(</a:t>
            </a:r>
            <a:r>
              <a:rPr b="0" i="1" lang="pt-BR" sz="2400" strike="noStrike">
                <a:latin typeface="Arial"/>
                <a:ea typeface="Arial"/>
                <a:cs typeface="Arial"/>
                <a:sym typeface="Arial"/>
              </a:rPr>
              <a:t>condição</a:t>
            </a: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) </a:t>
            </a:r>
            <a:r>
              <a:rPr i="1" lang="pt-BR" sz="2400"/>
              <a:t>comando</a:t>
            </a:r>
            <a:r>
              <a:rPr b="0" i="1" lang="pt-BR" sz="2400" strike="noStrike"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;</a:t>
            </a:r>
            <a:br>
              <a:rPr lang="pt-BR" sz="2400"/>
            </a:b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else </a:t>
            </a:r>
            <a:r>
              <a:rPr i="1" lang="pt-BR" sz="2400"/>
              <a:t>comando</a:t>
            </a:r>
            <a:r>
              <a:rPr b="0" i="1" lang="pt-BR" sz="2400" strike="noStrike"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;</a:t>
            </a:r>
            <a:endParaRPr b="0" sz="24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1800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4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1800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if(</a:t>
            </a:r>
            <a:r>
              <a:rPr b="0" i="1" lang="pt-BR" sz="2400" strike="noStrike">
                <a:latin typeface="Arial"/>
                <a:ea typeface="Arial"/>
                <a:cs typeface="Arial"/>
                <a:sym typeface="Arial"/>
              </a:rPr>
              <a:t>condição</a:t>
            </a: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) { </a:t>
            </a:r>
            <a:endParaRPr b="0" sz="24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1800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i="1" lang="pt-BR" sz="2400"/>
              <a:t>comando</a:t>
            </a:r>
            <a:r>
              <a:rPr b="0" i="1" lang="pt-BR" sz="2400" strike="noStrike"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;</a:t>
            </a:r>
            <a:endParaRPr b="0" sz="24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1800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} else { </a:t>
            </a:r>
            <a:endParaRPr b="0" sz="24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1800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i="1" lang="pt-BR" sz="2400"/>
              <a:t>comando</a:t>
            </a:r>
            <a:r>
              <a:rPr b="0" i="1" lang="pt-BR" sz="2400" strike="noStrike"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;</a:t>
            </a:r>
            <a:endParaRPr b="0" sz="24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1800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}</a:t>
            </a:r>
            <a:endParaRPr b="0" sz="2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21"/>
          <p:cNvSpPr txBox="1"/>
          <p:nvPr/>
        </p:nvSpPr>
        <p:spPr>
          <a:xfrm>
            <a:off x="2713375" y="6877725"/>
            <a:ext cx="6065100" cy="46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Algoritmos e Programação de Computadores I</a:t>
            </a:r>
            <a:endParaRPr/>
          </a:p>
        </p:txBody>
      </p:sp>
      <p:sp>
        <p:nvSpPr>
          <p:cNvPr id="124" name="Google Shape;124;p21"/>
          <p:cNvSpPr txBox="1"/>
          <p:nvPr>
            <p:ph idx="12" type="sldNum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r>
              <a:rPr sz="1200"/>
              <a:t>8</a:t>
            </a:r>
            <a:endParaRPr/>
          </a:p>
        </p:txBody>
      </p:sp>
      <p:pic>
        <p:nvPicPr>
          <p:cNvPr id="125" name="Google Shape;12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80325" y="1584000"/>
            <a:ext cx="4352925" cy="3552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2"/>
          <p:cNvSpPr txBox="1"/>
          <p:nvPr/>
        </p:nvSpPr>
        <p:spPr>
          <a:xfrm>
            <a:off x="144000" y="157320"/>
            <a:ext cx="9792000" cy="126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4400" strike="noStrike">
                <a:latin typeface="Arial"/>
                <a:ea typeface="Arial"/>
                <a:cs typeface="Arial"/>
                <a:sym typeface="Arial"/>
              </a:rPr>
              <a:t> Exemplo de if-else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22"/>
          <p:cNvSpPr txBox="1"/>
          <p:nvPr/>
        </p:nvSpPr>
        <p:spPr>
          <a:xfrm>
            <a:off x="144000" y="1584000"/>
            <a:ext cx="9792000" cy="50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80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 sz="2400">
                <a:solidFill>
                  <a:schemeClr val="dk1"/>
                </a:solidFill>
              </a:rPr>
              <a:t>int idade = 32; </a:t>
            </a:r>
            <a:endParaRPr sz="2400">
              <a:solidFill>
                <a:schemeClr val="dk1"/>
              </a:solidFill>
            </a:endParaRPr>
          </a:p>
          <a:p>
            <a:pPr indent="0" lvl="0" marL="180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 sz="2400">
                <a:solidFill>
                  <a:schemeClr val="dk1"/>
                </a:solidFill>
              </a:rPr>
              <a:t>char sexo = 'F';</a:t>
            </a:r>
            <a:endParaRPr sz="2400">
              <a:solidFill>
                <a:schemeClr val="dk1"/>
              </a:solidFill>
            </a:endParaRPr>
          </a:p>
          <a:p>
            <a:pPr indent="0" lvl="0" marL="1800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</a:rPr>
              <a:t>float desconto = 0.0f;</a:t>
            </a:r>
            <a:endParaRPr sz="2400">
              <a:solidFill>
                <a:schemeClr val="dk1"/>
              </a:solidFill>
            </a:endParaRPr>
          </a:p>
          <a:p>
            <a:pPr indent="0" lvl="0" marL="180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1800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</a:rPr>
              <a:t>if(idade &gt; 18) printf("É maior de idade\n");</a:t>
            </a:r>
            <a:endParaRPr sz="2400">
              <a:solidFill>
                <a:schemeClr val="dk1"/>
              </a:solidFill>
            </a:endParaRPr>
          </a:p>
          <a:p>
            <a:pPr indent="0" lvl="0" marL="180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 sz="2400">
                <a:solidFill>
                  <a:schemeClr val="dk1"/>
                </a:solidFill>
              </a:rPr>
              <a:t>else printf("É menor de idade\n");</a:t>
            </a:r>
            <a:endParaRPr sz="2400">
              <a:solidFill>
                <a:schemeClr val="dk1"/>
              </a:solidFill>
            </a:endParaRPr>
          </a:p>
          <a:p>
            <a:pPr indent="0" lvl="0" marL="180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180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 sz="2400">
                <a:solidFill>
                  <a:schemeClr val="dk1"/>
                </a:solidFill>
              </a:rPr>
              <a:t>if(sexo == 'F') {</a:t>
            </a:r>
            <a:endParaRPr sz="2400">
              <a:solidFill>
                <a:schemeClr val="dk1"/>
              </a:solidFill>
            </a:endParaRPr>
          </a:p>
          <a:p>
            <a:pPr indent="0" lvl="0" marL="180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 sz="2400">
                <a:solidFill>
                  <a:schemeClr val="dk1"/>
                </a:solidFill>
              </a:rPr>
              <a:t>   printf("É do sexo feminino\n");</a:t>
            </a:r>
            <a:endParaRPr sz="2400">
              <a:solidFill>
                <a:schemeClr val="dk1"/>
              </a:solidFill>
            </a:endParaRPr>
          </a:p>
          <a:p>
            <a:pPr indent="0" lvl="0" marL="180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 sz="2400">
                <a:solidFill>
                  <a:schemeClr val="dk1"/>
                </a:solidFill>
              </a:rPr>
              <a:t>   desconto = 0.5f;</a:t>
            </a:r>
            <a:endParaRPr sz="2400">
              <a:solidFill>
                <a:schemeClr val="dk1"/>
              </a:solidFill>
            </a:endParaRPr>
          </a:p>
          <a:p>
            <a:pPr indent="0" lvl="0" marL="1800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</a:rPr>
              <a:t>} else {</a:t>
            </a:r>
            <a:endParaRPr sz="2400">
              <a:solidFill>
                <a:schemeClr val="dk1"/>
              </a:solidFill>
            </a:endParaRPr>
          </a:p>
          <a:p>
            <a:pPr indent="0" lvl="0" marL="1800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</a:rPr>
              <a:t>   printf("É do sexo masculino\n");</a:t>
            </a:r>
            <a:endParaRPr sz="2400">
              <a:solidFill>
                <a:schemeClr val="dk1"/>
              </a:solidFill>
            </a:endParaRPr>
          </a:p>
          <a:p>
            <a:pPr indent="0" lvl="0" marL="1800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</a:rPr>
              <a:t>   desconto = 0.1f;</a:t>
            </a:r>
            <a:endParaRPr sz="2400">
              <a:solidFill>
                <a:schemeClr val="dk1"/>
              </a:solidFill>
            </a:endParaRPr>
          </a:p>
          <a:p>
            <a:pPr indent="0" lvl="0" marL="180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 sz="2400">
                <a:solidFill>
                  <a:schemeClr val="dk1"/>
                </a:solidFill>
              </a:rPr>
              <a:t>}</a:t>
            </a:r>
            <a:endParaRPr sz="2400"/>
          </a:p>
        </p:txBody>
      </p:sp>
      <p:sp>
        <p:nvSpPr>
          <p:cNvPr id="132" name="Google Shape;132;p22"/>
          <p:cNvSpPr txBox="1"/>
          <p:nvPr/>
        </p:nvSpPr>
        <p:spPr>
          <a:xfrm>
            <a:off x="2713375" y="6877725"/>
            <a:ext cx="6065100" cy="46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Algoritmos e Programação de Computadores I</a:t>
            </a:r>
            <a:endParaRPr/>
          </a:p>
        </p:txBody>
      </p:sp>
      <p:sp>
        <p:nvSpPr>
          <p:cNvPr id="133" name="Google Shape;133;p22"/>
          <p:cNvSpPr txBox="1"/>
          <p:nvPr>
            <p:ph idx="12" type="sldNum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r>
              <a:rPr sz="1200"/>
              <a:t>9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3"/>
          <p:cNvSpPr txBox="1"/>
          <p:nvPr/>
        </p:nvSpPr>
        <p:spPr>
          <a:xfrm>
            <a:off x="144000" y="157320"/>
            <a:ext cx="9792000" cy="126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4400" strike="noStrike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t-BR" sz="4400"/>
              <a:t>Comando</a:t>
            </a:r>
            <a:r>
              <a:rPr b="0" lang="pt-BR" sz="4400" strike="noStrike">
                <a:latin typeface="Arial"/>
                <a:ea typeface="Arial"/>
                <a:cs typeface="Arial"/>
                <a:sym typeface="Arial"/>
              </a:rPr>
              <a:t> if-else-</a:t>
            </a:r>
            <a:r>
              <a:rPr lang="pt-BR" sz="4400"/>
              <a:t>if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23"/>
          <p:cNvSpPr txBox="1"/>
          <p:nvPr/>
        </p:nvSpPr>
        <p:spPr>
          <a:xfrm>
            <a:off x="144000" y="1584000"/>
            <a:ext cx="9792000" cy="50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4000" lvl="0" marL="431999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/>
              <a:t>Vários ifs são conectados criando</a:t>
            </a:r>
            <a:r>
              <a:rPr b="0" lang="pt-BR" sz="3200" strike="noStrike">
                <a:latin typeface="Arial"/>
                <a:ea typeface="Arial"/>
                <a:cs typeface="Arial"/>
                <a:sym typeface="Arial"/>
              </a:rPr>
              <a:t> uma cadeia de </a:t>
            </a:r>
            <a:r>
              <a:rPr lang="pt-BR" sz="3200"/>
              <a:t>seleção</a:t>
            </a:r>
            <a:r>
              <a:rPr b="0" lang="pt-BR" sz="3200" strike="noStrike">
                <a:latin typeface="Arial"/>
                <a:ea typeface="Arial"/>
                <a:cs typeface="Arial"/>
                <a:sym typeface="Arial"/>
              </a:rPr>
              <a:t>.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  <a:p>
            <a:pPr indent="-324000" lvl="0" marL="431999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/>
              <a:t>P</a:t>
            </a:r>
            <a:r>
              <a:rPr lang="pt-BR" sz="3200"/>
              <a:t>ercorre-se </a:t>
            </a:r>
            <a:r>
              <a:rPr lang="pt-BR" sz="3200">
                <a:solidFill>
                  <a:schemeClr val="dk1"/>
                </a:solidFill>
              </a:rPr>
              <a:t>sequencialmente </a:t>
            </a:r>
            <a:r>
              <a:rPr lang="pt-BR" sz="3200"/>
              <a:t>cada if até encontrar a condição que satisfaz a seleção.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  <a:p>
            <a:pPr indent="-324000" lvl="0" marL="43200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/>
              <a:t>O</a:t>
            </a:r>
            <a:r>
              <a:rPr b="0" lang="pt-BR" sz="3200" strike="noStrike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t-BR" sz="3200"/>
              <a:t>último else</a:t>
            </a:r>
            <a:r>
              <a:rPr b="0" lang="pt-BR" sz="3200" strike="noStrike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t-BR" sz="3200"/>
              <a:t>é</a:t>
            </a:r>
            <a:r>
              <a:rPr b="0" lang="pt-BR" sz="3200" strike="noStrike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t-BR" sz="3200"/>
              <a:t>executado s</a:t>
            </a:r>
            <a:r>
              <a:rPr lang="pt-BR" sz="3200"/>
              <a:t>e </a:t>
            </a:r>
            <a:r>
              <a:rPr lang="pt-BR" sz="3200"/>
              <a:t>todos</a:t>
            </a:r>
            <a:r>
              <a:rPr lang="pt-BR" sz="3200"/>
              <a:t> ifs da cadeia forem descartados</a:t>
            </a:r>
            <a:r>
              <a:rPr b="0" lang="pt-BR" sz="3200" strike="noStrike">
                <a:latin typeface="Arial"/>
                <a:ea typeface="Arial"/>
                <a:cs typeface="Arial"/>
                <a:sym typeface="Arial"/>
              </a:rPr>
              <a:t>.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23"/>
          <p:cNvSpPr txBox="1"/>
          <p:nvPr/>
        </p:nvSpPr>
        <p:spPr>
          <a:xfrm>
            <a:off x="2713375" y="6877725"/>
            <a:ext cx="6065100" cy="46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Algoritmos e Programação de Computadores I</a:t>
            </a:r>
            <a:endParaRPr/>
          </a:p>
        </p:txBody>
      </p:sp>
      <p:sp>
        <p:nvSpPr>
          <p:cNvPr id="141" name="Google Shape;141;p23"/>
          <p:cNvSpPr txBox="1"/>
          <p:nvPr>
            <p:ph idx="12" type="sldNum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r>
              <a:rPr sz="1200"/>
              <a:t>10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4"/>
          <p:cNvSpPr txBox="1"/>
          <p:nvPr/>
        </p:nvSpPr>
        <p:spPr>
          <a:xfrm>
            <a:off x="144000" y="157320"/>
            <a:ext cx="97920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4400" strike="noStrike">
                <a:latin typeface="Arial"/>
                <a:ea typeface="Arial"/>
                <a:cs typeface="Arial"/>
                <a:sym typeface="Arial"/>
              </a:rPr>
              <a:t> Sintaxe </a:t>
            </a:r>
            <a:r>
              <a:rPr lang="pt-BR" sz="4400"/>
              <a:t>C</a:t>
            </a:r>
            <a:r>
              <a:rPr b="0" lang="pt-BR" sz="4400" strike="noStrike">
                <a:latin typeface="Arial"/>
                <a:ea typeface="Arial"/>
                <a:cs typeface="Arial"/>
                <a:sym typeface="Arial"/>
              </a:rPr>
              <a:t>omposta do if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24"/>
          <p:cNvSpPr txBox="1"/>
          <p:nvPr/>
        </p:nvSpPr>
        <p:spPr>
          <a:xfrm>
            <a:off x="144000" y="1584000"/>
            <a:ext cx="4836300" cy="50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1800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if(</a:t>
            </a:r>
            <a:r>
              <a:rPr b="0" i="1" lang="pt-BR" sz="2400" strike="noStrike">
                <a:latin typeface="Arial"/>
                <a:ea typeface="Arial"/>
                <a:cs typeface="Arial"/>
                <a:sym typeface="Arial"/>
              </a:rPr>
              <a:t>condição1</a:t>
            </a: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) </a:t>
            </a:r>
            <a:r>
              <a:rPr i="1" lang="pt-BR" sz="2400"/>
              <a:t>comando</a:t>
            </a:r>
            <a:r>
              <a:rPr b="0" i="1" lang="pt-BR" sz="2400" strike="noStrike"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;</a:t>
            </a:r>
            <a:endParaRPr sz="2400"/>
          </a:p>
          <a:p>
            <a:pPr indent="1800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else if(</a:t>
            </a:r>
            <a:r>
              <a:rPr b="0" i="1" lang="pt-BR" sz="2400" strike="noStrike">
                <a:latin typeface="Arial"/>
                <a:ea typeface="Arial"/>
                <a:cs typeface="Arial"/>
                <a:sym typeface="Arial"/>
              </a:rPr>
              <a:t>condição2</a:t>
            </a: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) </a:t>
            </a:r>
            <a:r>
              <a:rPr i="1" lang="pt-BR" sz="2400"/>
              <a:t>comando</a:t>
            </a:r>
            <a:r>
              <a:rPr b="0" i="1" lang="pt-BR" sz="2400" strike="noStrike"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;</a:t>
            </a:r>
            <a:endParaRPr sz="2400"/>
          </a:p>
          <a:p>
            <a:pPr indent="1800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else if(</a:t>
            </a:r>
            <a:r>
              <a:rPr b="0" i="1" lang="pt-BR" sz="2400" strike="noStrike">
                <a:latin typeface="Arial"/>
                <a:ea typeface="Arial"/>
                <a:cs typeface="Arial"/>
                <a:sym typeface="Arial"/>
              </a:rPr>
              <a:t>condição3</a:t>
            </a: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) </a:t>
            </a:r>
            <a:r>
              <a:rPr i="1" lang="pt-BR" sz="2400"/>
              <a:t>comando</a:t>
            </a:r>
            <a:r>
              <a:rPr b="0" i="1" lang="pt-BR" sz="2400" strike="noStrike">
                <a:latin typeface="Arial"/>
                <a:ea typeface="Arial"/>
                <a:cs typeface="Arial"/>
                <a:sym typeface="Arial"/>
              </a:rPr>
              <a:t>3</a:t>
            </a: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;</a:t>
            </a:r>
            <a:endParaRPr b="0" sz="2400" strike="noStrike">
              <a:latin typeface="Arial"/>
              <a:ea typeface="Arial"/>
              <a:cs typeface="Arial"/>
              <a:sym typeface="Arial"/>
            </a:endParaRPr>
          </a:p>
          <a:p>
            <a:pPr indent="1800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…</a:t>
            </a:r>
            <a:endParaRPr b="0" sz="2400" strike="noStrike">
              <a:latin typeface="Arial"/>
              <a:ea typeface="Arial"/>
              <a:cs typeface="Arial"/>
              <a:sym typeface="Arial"/>
            </a:endParaRPr>
          </a:p>
          <a:p>
            <a:pPr indent="1800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else </a:t>
            </a:r>
            <a:r>
              <a:rPr i="1" lang="pt-BR" sz="2400"/>
              <a:t>comandoN</a:t>
            </a: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;</a:t>
            </a:r>
            <a:endParaRPr b="0" sz="2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24"/>
          <p:cNvSpPr txBox="1"/>
          <p:nvPr/>
        </p:nvSpPr>
        <p:spPr>
          <a:xfrm>
            <a:off x="2713375" y="6877725"/>
            <a:ext cx="6065100" cy="46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Algoritmos e Programação de Computadores I</a:t>
            </a:r>
            <a:endParaRPr/>
          </a:p>
        </p:txBody>
      </p:sp>
      <p:sp>
        <p:nvSpPr>
          <p:cNvPr id="149" name="Google Shape;149;p24"/>
          <p:cNvSpPr txBox="1"/>
          <p:nvPr>
            <p:ph idx="12" type="sldNum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r>
              <a:rPr sz="1200"/>
              <a:t>11</a:t>
            </a:r>
            <a:endParaRPr/>
          </a:p>
        </p:txBody>
      </p:sp>
      <p:pic>
        <p:nvPicPr>
          <p:cNvPr id="150" name="Google Shape;150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32825" y="1076250"/>
            <a:ext cx="5277083" cy="5700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5"/>
          <p:cNvSpPr txBox="1"/>
          <p:nvPr/>
        </p:nvSpPr>
        <p:spPr>
          <a:xfrm>
            <a:off x="144000" y="157320"/>
            <a:ext cx="9792000" cy="126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4400" strike="noStrike">
                <a:latin typeface="Arial"/>
                <a:ea typeface="Arial"/>
                <a:cs typeface="Arial"/>
                <a:sym typeface="Arial"/>
              </a:rPr>
              <a:t> Exemplo de if-else-if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25"/>
          <p:cNvSpPr txBox="1"/>
          <p:nvPr/>
        </p:nvSpPr>
        <p:spPr>
          <a:xfrm>
            <a:off x="144000" y="1584000"/>
            <a:ext cx="9792000" cy="50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800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int </a:t>
            </a:r>
            <a:r>
              <a:rPr lang="pt-BR" sz="2400"/>
              <a:t>temperatura</a:t>
            </a: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lang="pt-BR" sz="2400"/>
              <a:t>30</a:t>
            </a: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;</a:t>
            </a:r>
            <a:endParaRPr b="0" sz="24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1800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4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1800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if(</a:t>
            </a:r>
            <a:r>
              <a:rPr lang="pt-BR" sz="2400"/>
              <a:t>temperatura</a:t>
            </a: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t-BR" sz="2400"/>
              <a:t>&lt;</a:t>
            </a: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t-BR" sz="2400"/>
              <a:t>20</a:t>
            </a: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) </a:t>
            </a:r>
            <a:r>
              <a:rPr lang="pt-BR" sz="2400"/>
              <a:t>{</a:t>
            </a:r>
            <a:endParaRPr b="0" sz="24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1800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</a:rPr>
              <a:t>   printf("Tá frio!\n");</a:t>
            </a:r>
            <a:endParaRPr sz="2400"/>
          </a:p>
          <a:p>
            <a:pPr indent="0" lvl="0" marL="1800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} else if(</a:t>
            </a:r>
            <a:r>
              <a:rPr lang="pt-BR" sz="2400"/>
              <a:t>temperatura &lt; 30</a:t>
            </a: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) {</a:t>
            </a:r>
            <a:endParaRPr b="0" sz="24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1800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</a:rPr>
              <a:t>   printf("Tá bom demais!\n");</a:t>
            </a:r>
            <a:endParaRPr sz="2400"/>
          </a:p>
          <a:p>
            <a:pPr indent="0" lvl="0" marL="1800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} else if(</a:t>
            </a:r>
            <a:r>
              <a:rPr lang="pt-BR" sz="2400"/>
              <a:t>temperatura &lt; 40</a:t>
            </a: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) {</a:t>
            </a:r>
            <a:endParaRPr b="0" sz="24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1800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lang="pt-BR" sz="2400"/>
              <a:t>printf(</a:t>
            </a:r>
            <a:r>
              <a:rPr lang="pt-BR" sz="2400"/>
              <a:t>"Tá quente!\n");</a:t>
            </a:r>
            <a:endParaRPr b="0" sz="24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1800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} else {</a:t>
            </a:r>
            <a:endParaRPr b="0" sz="24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1800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lang="pt-BR" sz="2400"/>
              <a:t>printf(</a:t>
            </a:r>
            <a:r>
              <a:rPr lang="pt-BR" sz="2400"/>
              <a:t>"Tá muito quente!\n");</a:t>
            </a:r>
            <a:endParaRPr b="0" sz="24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1800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}</a:t>
            </a:r>
            <a:endParaRPr b="0" sz="2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25"/>
          <p:cNvSpPr txBox="1"/>
          <p:nvPr/>
        </p:nvSpPr>
        <p:spPr>
          <a:xfrm>
            <a:off x="2713375" y="6877725"/>
            <a:ext cx="6065100" cy="46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Algoritmos e Programação de Computadores I</a:t>
            </a:r>
            <a:endParaRPr/>
          </a:p>
        </p:txBody>
      </p:sp>
      <p:sp>
        <p:nvSpPr>
          <p:cNvPr id="158" name="Google Shape;158;p25"/>
          <p:cNvSpPr txBox="1"/>
          <p:nvPr>
            <p:ph idx="12" type="sldNum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r>
              <a:rPr sz="1200"/>
              <a:t>12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6"/>
          <p:cNvSpPr txBox="1"/>
          <p:nvPr/>
        </p:nvSpPr>
        <p:spPr>
          <a:xfrm>
            <a:off x="144000" y="157320"/>
            <a:ext cx="9792000" cy="126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4400" strike="noStrike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t-BR" sz="4400"/>
              <a:t>Comando i</a:t>
            </a:r>
            <a:r>
              <a:rPr b="0" lang="pt-BR" sz="4400" strike="noStrike">
                <a:latin typeface="Arial"/>
                <a:ea typeface="Arial"/>
                <a:cs typeface="Arial"/>
                <a:sym typeface="Arial"/>
              </a:rPr>
              <a:t>f aninhado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26"/>
          <p:cNvSpPr txBox="1"/>
          <p:nvPr/>
        </p:nvSpPr>
        <p:spPr>
          <a:xfrm>
            <a:off x="144000" y="1584000"/>
            <a:ext cx="9792000" cy="50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4000" lvl="0" marL="4320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b="0" lang="pt-BR" sz="3200" strike="noStrike">
                <a:latin typeface="Arial"/>
                <a:ea typeface="Arial"/>
                <a:cs typeface="Arial"/>
                <a:sym typeface="Arial"/>
              </a:rPr>
              <a:t>Um if é declarado dentro de outro if </a:t>
            </a:r>
            <a:r>
              <a:rPr lang="pt-BR" sz="3200"/>
              <a:t>criando uma árvore de seleção.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  <a:p>
            <a:pPr indent="-324000" lvl="0" marL="43200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/>
              <a:t>A cada if avaliado determina o caminho percorrido na árvore.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  <a:p>
            <a:pPr indent="-324000" lvl="0" marL="431999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b="0" lang="pt-BR" sz="3200" strike="noStrike">
                <a:latin typeface="Arial"/>
                <a:ea typeface="Arial"/>
                <a:cs typeface="Arial"/>
                <a:sym typeface="Arial"/>
              </a:rPr>
              <a:t>Padrão ANSI C recomenda até 15 níveis de aninhamento por raz</a:t>
            </a:r>
            <a:r>
              <a:rPr lang="pt-BR" sz="3200"/>
              <a:t>ão de clareza</a:t>
            </a:r>
            <a:r>
              <a:rPr b="0" lang="pt-BR" sz="3200" strike="noStrike">
                <a:latin typeface="Arial"/>
                <a:ea typeface="Arial"/>
                <a:cs typeface="Arial"/>
                <a:sym typeface="Arial"/>
              </a:rPr>
              <a:t>.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spcBef>
                <a:spcPts val="1417"/>
              </a:spcBef>
              <a:spcAft>
                <a:spcPts val="0"/>
              </a:spcAft>
              <a:buNone/>
            </a:pPr>
            <a:br>
              <a:rPr lang="pt-BR" sz="2600">
                <a:solidFill>
                  <a:schemeClr val="dk1"/>
                </a:solidFill>
              </a:rPr>
            </a:br>
            <a:r>
              <a:rPr lang="pt-BR" sz="2800">
                <a:solidFill>
                  <a:schemeClr val="dk1"/>
                </a:solidFill>
              </a:rPr>
              <a:t>Obs.: I</a:t>
            </a:r>
            <a:r>
              <a:rPr lang="pt-BR" sz="2800">
                <a:solidFill>
                  <a:schemeClr val="dk1"/>
                </a:solidFill>
              </a:rPr>
              <a:t>ndentar o código é fundamental para se ter uma melhor visualização</a:t>
            </a:r>
            <a:r>
              <a:rPr b="0" lang="pt-BR" sz="2800" strike="noStrike">
                <a:latin typeface="Arial"/>
                <a:ea typeface="Arial"/>
                <a:cs typeface="Arial"/>
                <a:sym typeface="Arial"/>
              </a:rPr>
              <a:t>.</a:t>
            </a:r>
            <a:endParaRPr b="0" sz="28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26"/>
          <p:cNvSpPr txBox="1"/>
          <p:nvPr/>
        </p:nvSpPr>
        <p:spPr>
          <a:xfrm>
            <a:off x="2713375" y="6877725"/>
            <a:ext cx="6065100" cy="46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Algoritmos e Programação de Computadores I</a:t>
            </a:r>
            <a:endParaRPr/>
          </a:p>
        </p:txBody>
      </p:sp>
      <p:sp>
        <p:nvSpPr>
          <p:cNvPr id="166" name="Google Shape;166;p26"/>
          <p:cNvSpPr txBox="1"/>
          <p:nvPr>
            <p:ph idx="12" type="sldNum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r>
              <a:rPr sz="1200"/>
              <a:t>13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89286" y="1343227"/>
            <a:ext cx="6555790" cy="504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27"/>
          <p:cNvSpPr txBox="1"/>
          <p:nvPr/>
        </p:nvSpPr>
        <p:spPr>
          <a:xfrm>
            <a:off x="144000" y="157320"/>
            <a:ext cx="97920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4400" strike="noStrike">
                <a:latin typeface="Arial"/>
                <a:ea typeface="Arial"/>
                <a:cs typeface="Arial"/>
                <a:sym typeface="Arial"/>
              </a:rPr>
              <a:t> Sintaxe </a:t>
            </a:r>
            <a:r>
              <a:rPr lang="pt-BR" sz="4400"/>
              <a:t>do</a:t>
            </a:r>
            <a:r>
              <a:rPr b="0" lang="pt-BR" sz="4400" strike="noStrike">
                <a:latin typeface="Arial"/>
                <a:ea typeface="Arial"/>
                <a:cs typeface="Arial"/>
                <a:sym typeface="Arial"/>
              </a:rPr>
              <a:t> if</a:t>
            </a:r>
            <a:r>
              <a:rPr lang="pt-BR" sz="4400"/>
              <a:t> aninhado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27"/>
          <p:cNvSpPr txBox="1"/>
          <p:nvPr/>
        </p:nvSpPr>
        <p:spPr>
          <a:xfrm>
            <a:off x="2713375" y="6877725"/>
            <a:ext cx="6065100" cy="46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Algoritmos e Programação de Computadores I</a:t>
            </a:r>
            <a:endParaRPr/>
          </a:p>
        </p:txBody>
      </p:sp>
      <p:sp>
        <p:nvSpPr>
          <p:cNvPr id="174" name="Google Shape;174;p27"/>
          <p:cNvSpPr txBox="1"/>
          <p:nvPr>
            <p:ph idx="12" type="sldNum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r>
              <a:rPr sz="1200"/>
              <a:t>14</a:t>
            </a:r>
            <a:endParaRPr/>
          </a:p>
        </p:txBody>
      </p:sp>
      <p:sp>
        <p:nvSpPr>
          <p:cNvPr id="175" name="Google Shape;175;p27"/>
          <p:cNvSpPr txBox="1"/>
          <p:nvPr/>
        </p:nvSpPr>
        <p:spPr>
          <a:xfrm>
            <a:off x="144000" y="1584000"/>
            <a:ext cx="4552800" cy="50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1800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if(</a:t>
            </a:r>
            <a:r>
              <a:rPr b="0" i="1" lang="pt-BR" sz="2400" strike="noStrike">
                <a:latin typeface="Arial"/>
                <a:ea typeface="Arial"/>
                <a:cs typeface="Arial"/>
                <a:sym typeface="Arial"/>
              </a:rPr>
              <a:t>condição1</a:t>
            </a: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) </a:t>
            </a:r>
            <a:endParaRPr b="0" sz="2400" strike="noStrike">
              <a:latin typeface="Arial"/>
              <a:ea typeface="Arial"/>
              <a:cs typeface="Arial"/>
              <a:sym typeface="Arial"/>
            </a:endParaRPr>
          </a:p>
          <a:p>
            <a:pPr indent="1800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pt-BR" sz="2400"/>
              <a:t>   </a:t>
            </a:r>
            <a:r>
              <a:rPr lang="pt-BR" sz="2400"/>
              <a:t>if</a:t>
            </a:r>
            <a:r>
              <a:rPr lang="pt-BR" sz="2400">
                <a:solidFill>
                  <a:schemeClr val="dk1"/>
                </a:solidFill>
              </a:rPr>
              <a:t>(</a:t>
            </a:r>
            <a:r>
              <a:rPr i="1" lang="pt-BR" sz="2400">
                <a:solidFill>
                  <a:schemeClr val="dk1"/>
                </a:solidFill>
              </a:rPr>
              <a:t>condição2</a:t>
            </a:r>
            <a:r>
              <a:rPr lang="pt-BR" sz="2400">
                <a:solidFill>
                  <a:schemeClr val="dk1"/>
                </a:solidFill>
              </a:rPr>
              <a:t>) </a:t>
            </a:r>
            <a:r>
              <a:rPr i="1" lang="pt-BR" sz="2400">
                <a:solidFill>
                  <a:schemeClr val="dk1"/>
                </a:solidFill>
              </a:rPr>
              <a:t>comando1</a:t>
            </a:r>
            <a:r>
              <a:rPr lang="pt-BR" sz="2400">
                <a:solidFill>
                  <a:schemeClr val="dk1"/>
                </a:solidFill>
              </a:rPr>
              <a:t>;</a:t>
            </a:r>
            <a:endParaRPr sz="2400">
              <a:solidFill>
                <a:schemeClr val="dk1"/>
              </a:solidFill>
            </a:endParaRPr>
          </a:p>
          <a:p>
            <a:pPr indent="1800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/>
              <a:t>   else </a:t>
            </a:r>
            <a:r>
              <a:rPr i="1" lang="pt-BR" sz="2400"/>
              <a:t>comando2</a:t>
            </a:r>
            <a:r>
              <a:rPr lang="pt-BR" sz="2400"/>
              <a:t>;</a:t>
            </a:r>
            <a:endParaRPr sz="2400"/>
          </a:p>
          <a:p>
            <a:pPr indent="1800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/>
              <a:t>else</a:t>
            </a:r>
            <a:endParaRPr sz="2400"/>
          </a:p>
          <a:p>
            <a:pPr indent="1800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/>
              <a:t>   if(condição3) </a:t>
            </a:r>
            <a:r>
              <a:rPr i="1" lang="pt-BR" sz="2400"/>
              <a:t>comando3</a:t>
            </a:r>
            <a:r>
              <a:rPr lang="pt-BR" sz="2400"/>
              <a:t>;</a:t>
            </a:r>
            <a:endParaRPr sz="2400"/>
          </a:p>
          <a:p>
            <a:pPr indent="1800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/>
              <a:t>   else </a:t>
            </a:r>
            <a:r>
              <a:rPr i="1" lang="pt-BR" sz="2400"/>
              <a:t>comando4</a:t>
            </a:r>
            <a:r>
              <a:rPr lang="pt-BR" sz="2400"/>
              <a:t>;</a:t>
            </a:r>
            <a:endParaRPr sz="24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8"/>
          <p:cNvSpPr txBox="1"/>
          <p:nvPr/>
        </p:nvSpPr>
        <p:spPr>
          <a:xfrm>
            <a:off x="144000" y="157320"/>
            <a:ext cx="9792000" cy="126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4400" strike="noStrike">
                <a:latin typeface="Arial"/>
                <a:ea typeface="Arial"/>
                <a:cs typeface="Arial"/>
                <a:sym typeface="Arial"/>
              </a:rPr>
              <a:t> Exemplo de </a:t>
            </a:r>
            <a:r>
              <a:rPr lang="pt-BR" sz="4400"/>
              <a:t>i</a:t>
            </a:r>
            <a:r>
              <a:rPr b="0" lang="pt-BR" sz="4400" strike="noStrike">
                <a:latin typeface="Arial"/>
                <a:ea typeface="Arial"/>
                <a:cs typeface="Arial"/>
                <a:sym typeface="Arial"/>
              </a:rPr>
              <a:t>f aninhado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28"/>
          <p:cNvSpPr txBox="1"/>
          <p:nvPr/>
        </p:nvSpPr>
        <p:spPr>
          <a:xfrm>
            <a:off x="144000" y="1584000"/>
            <a:ext cx="9792000" cy="50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800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int idade = 32;</a:t>
            </a:r>
            <a:endParaRPr b="0" sz="24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1800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4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1800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if(idade </a:t>
            </a:r>
            <a:r>
              <a:rPr lang="pt-BR" sz="2400"/>
              <a:t>&lt;</a:t>
            </a: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t-BR" sz="2400"/>
              <a:t>18</a:t>
            </a: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) {</a:t>
            </a:r>
            <a:endParaRPr b="0" sz="24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1800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/>
              <a:t>   if(idade &lt; 16) {</a:t>
            </a:r>
            <a:endParaRPr sz="2400"/>
          </a:p>
          <a:p>
            <a:pPr indent="0" lvl="0" marL="1800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/>
              <a:t>      printf(</a:t>
            </a:r>
            <a:r>
              <a:rPr lang="pt-BR" sz="2400"/>
              <a:t>"Não pode votar!\n");</a:t>
            </a:r>
            <a:endParaRPr sz="2400"/>
          </a:p>
          <a:p>
            <a:pPr indent="0" lvl="0" marL="1800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/>
              <a:t>   } else {</a:t>
            </a:r>
            <a:endParaRPr sz="2400"/>
          </a:p>
          <a:p>
            <a:pPr indent="0" lvl="0" marL="1800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/>
              <a:t>      printf("Voto é facultativo\n");</a:t>
            </a:r>
            <a:endParaRPr sz="2400"/>
          </a:p>
          <a:p>
            <a:pPr indent="0" lvl="0" marL="1800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/>
              <a:t>   }</a:t>
            </a:r>
            <a:endParaRPr sz="2400"/>
          </a:p>
          <a:p>
            <a:pPr indent="0" lvl="0" marL="1800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} else {</a:t>
            </a:r>
            <a:endParaRPr b="0" sz="24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1800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lang="pt-BR" sz="2400"/>
              <a:t>printf(</a:t>
            </a:r>
            <a:r>
              <a:rPr lang="pt-BR" sz="2400"/>
              <a:t>"Voto é obrigatório\n");</a:t>
            </a:r>
            <a:endParaRPr b="0" sz="24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1800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}</a:t>
            </a:r>
            <a:endParaRPr b="0" sz="2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28"/>
          <p:cNvSpPr txBox="1"/>
          <p:nvPr/>
        </p:nvSpPr>
        <p:spPr>
          <a:xfrm>
            <a:off x="2713375" y="6877725"/>
            <a:ext cx="6065100" cy="46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Algoritmos e Programação de Computadores I</a:t>
            </a:r>
            <a:endParaRPr/>
          </a:p>
        </p:txBody>
      </p:sp>
      <p:sp>
        <p:nvSpPr>
          <p:cNvPr id="183" name="Google Shape;183;p28"/>
          <p:cNvSpPr txBox="1"/>
          <p:nvPr>
            <p:ph idx="12" type="sldNum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r>
              <a:rPr sz="1200"/>
              <a:t>15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9"/>
          <p:cNvSpPr txBox="1"/>
          <p:nvPr/>
        </p:nvSpPr>
        <p:spPr>
          <a:xfrm>
            <a:off x="144000" y="157320"/>
            <a:ext cx="97920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4400" strike="noStrike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t-BR" sz="4400"/>
              <a:t>Operador Ternário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29"/>
          <p:cNvSpPr txBox="1"/>
          <p:nvPr/>
        </p:nvSpPr>
        <p:spPr>
          <a:xfrm>
            <a:off x="144000" y="1584000"/>
            <a:ext cx="9792000" cy="50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4000" lvl="0" marL="431999" marR="0" rtl="0" algn="l">
              <a:spcBef>
                <a:spcPts val="0"/>
              </a:spcBef>
              <a:spcAft>
                <a:spcPts val="0"/>
              </a:spcAft>
              <a:buSzPts val="1440"/>
              <a:buFont typeface="Noto Sans Symbols"/>
              <a:buChar char="●"/>
            </a:pPr>
            <a:r>
              <a:rPr lang="pt-BR" sz="3200"/>
              <a:t>Operador ? é uma alternativa ao comando if.</a:t>
            </a:r>
            <a:endParaRPr sz="3200"/>
          </a:p>
          <a:p>
            <a:pPr indent="-320040" lvl="0" marL="457200" rtl="0" algn="l">
              <a:spcBef>
                <a:spcPts val="1417"/>
              </a:spcBef>
              <a:spcAft>
                <a:spcPts val="0"/>
              </a:spcAft>
              <a:buSzPts val="1440"/>
              <a:buFont typeface="Noto Sans Symbols"/>
              <a:buChar char="●"/>
            </a:pPr>
            <a:r>
              <a:rPr lang="pt-BR" sz="3200">
                <a:solidFill>
                  <a:schemeClr val="dk1"/>
                </a:solidFill>
              </a:rPr>
              <a:t>Tipicamente usado em atribuições de variáveis.</a:t>
            </a:r>
            <a:endParaRPr sz="3200"/>
          </a:p>
          <a:p>
            <a:pPr indent="-324000" lvl="0" marL="431999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/>
              <a:t>Forma geral:</a:t>
            </a:r>
            <a:endParaRPr sz="3200"/>
          </a:p>
          <a:p>
            <a:pPr indent="0" lvl="0" marL="457200" marR="0" rtl="0" algn="l">
              <a:spcBef>
                <a:spcPts val="1417"/>
              </a:spcBef>
              <a:spcAft>
                <a:spcPts val="0"/>
              </a:spcAft>
              <a:buNone/>
            </a:pPr>
            <a:r>
              <a:rPr i="1" lang="pt-BR" sz="3200"/>
              <a:t>condição ? comando1 : comando2;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spcBef>
                <a:spcPts val="1417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  <a:p>
            <a:pPr indent="0" lvl="0" marL="457200" marR="0" rtl="0" algn="l">
              <a:spcBef>
                <a:spcPts val="1417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  <a:p>
            <a:pPr indent="0" lvl="0" marL="457200" marR="0" rtl="0" algn="l">
              <a:spcBef>
                <a:spcPts val="1417"/>
              </a:spcBef>
              <a:spcAft>
                <a:spcPts val="0"/>
              </a:spcAft>
              <a:buNone/>
            </a:pPr>
            <a:r>
              <a:rPr lang="pt-BR" sz="2800"/>
              <a:t>Nota: Se </a:t>
            </a:r>
            <a:r>
              <a:rPr i="1" lang="pt-BR" sz="2800"/>
              <a:t>condição</a:t>
            </a:r>
            <a:r>
              <a:rPr lang="pt-BR" sz="2800"/>
              <a:t> for verdadeira então </a:t>
            </a:r>
            <a:r>
              <a:rPr i="1" lang="pt-BR" sz="2800"/>
              <a:t>comando1</a:t>
            </a:r>
            <a:r>
              <a:rPr lang="pt-BR" sz="2800"/>
              <a:t> é executado, senão </a:t>
            </a:r>
            <a:r>
              <a:rPr i="1" lang="pt-BR" sz="2800"/>
              <a:t>comando2</a:t>
            </a:r>
            <a:r>
              <a:rPr lang="pt-BR" sz="2800"/>
              <a:t> é executado.</a:t>
            </a:r>
            <a:endParaRPr b="0" sz="28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29"/>
          <p:cNvSpPr txBox="1"/>
          <p:nvPr/>
        </p:nvSpPr>
        <p:spPr>
          <a:xfrm>
            <a:off x="2713375" y="6877725"/>
            <a:ext cx="6065100" cy="46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Algoritmos e Programação de Computadores I</a:t>
            </a:r>
            <a:endParaRPr/>
          </a:p>
        </p:txBody>
      </p:sp>
      <p:sp>
        <p:nvSpPr>
          <p:cNvPr id="191" name="Google Shape;191;p29"/>
          <p:cNvSpPr txBox="1"/>
          <p:nvPr>
            <p:ph idx="12" type="sldNum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r>
              <a:rPr sz="1200"/>
              <a:t>16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0"/>
          <p:cNvSpPr txBox="1"/>
          <p:nvPr/>
        </p:nvSpPr>
        <p:spPr>
          <a:xfrm>
            <a:off x="144000" y="157320"/>
            <a:ext cx="97920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4400" strike="noStrike">
                <a:latin typeface="Arial"/>
                <a:ea typeface="Arial"/>
                <a:cs typeface="Arial"/>
                <a:sym typeface="Arial"/>
              </a:rPr>
              <a:t> Exemplo de </a:t>
            </a:r>
            <a:r>
              <a:rPr lang="pt-BR" sz="4400"/>
              <a:t>Operador Ternário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30"/>
          <p:cNvSpPr txBox="1"/>
          <p:nvPr/>
        </p:nvSpPr>
        <p:spPr>
          <a:xfrm>
            <a:off x="144000" y="1584000"/>
            <a:ext cx="9792000" cy="50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80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 sz="2400">
                <a:solidFill>
                  <a:schemeClr val="dk1"/>
                </a:solidFill>
              </a:rPr>
              <a:t>char sexo = 'F';</a:t>
            </a:r>
            <a:endParaRPr sz="2400">
              <a:solidFill>
                <a:schemeClr val="dk1"/>
              </a:solidFill>
            </a:endParaRPr>
          </a:p>
          <a:p>
            <a:pPr indent="0" lvl="0" marL="180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 sz="2400">
                <a:solidFill>
                  <a:schemeClr val="dk1"/>
                </a:solidFill>
              </a:rPr>
              <a:t>float desconto = 0.0f;</a:t>
            </a:r>
            <a:endParaRPr sz="2400">
              <a:solidFill>
                <a:schemeClr val="dk1"/>
              </a:solidFill>
            </a:endParaRPr>
          </a:p>
          <a:p>
            <a:pPr indent="0" lvl="0" marL="180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180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 sz="2400">
                <a:solidFill>
                  <a:schemeClr val="dk1"/>
                </a:solidFill>
              </a:rPr>
              <a:t>desconto = sexo == 'F' ? 0.5f : 0.1f;</a:t>
            </a:r>
            <a:endParaRPr sz="2400">
              <a:solidFill>
                <a:schemeClr val="dk1"/>
              </a:solidFill>
            </a:endParaRPr>
          </a:p>
          <a:p>
            <a:pPr indent="0" lvl="0" marL="180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180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sz="2400">
                <a:solidFill>
                  <a:srgbClr val="0000FF"/>
                </a:solidFill>
              </a:rPr>
              <a:t>// equivale a </a:t>
            </a:r>
            <a:endParaRPr sz="2400">
              <a:solidFill>
                <a:srgbClr val="0000FF"/>
              </a:solidFill>
            </a:endParaRPr>
          </a:p>
          <a:p>
            <a:pPr indent="0" lvl="0" marL="180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 sz="2400">
                <a:solidFill>
                  <a:schemeClr val="dk1"/>
                </a:solidFill>
              </a:rPr>
              <a:t>if(sexo == 'F') desconto = 0.5f;</a:t>
            </a:r>
            <a:endParaRPr sz="2400">
              <a:solidFill>
                <a:schemeClr val="dk1"/>
              </a:solidFill>
            </a:endParaRPr>
          </a:p>
          <a:p>
            <a:pPr indent="0" lvl="0" marL="180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 sz="2400">
                <a:solidFill>
                  <a:schemeClr val="dk1"/>
                </a:solidFill>
              </a:rPr>
              <a:t>else desconto = 0.1f;</a:t>
            </a:r>
            <a:endParaRPr sz="2400">
              <a:solidFill>
                <a:schemeClr val="dk1"/>
              </a:solidFill>
            </a:endParaRPr>
          </a:p>
        </p:txBody>
      </p:sp>
      <p:sp>
        <p:nvSpPr>
          <p:cNvPr id="198" name="Google Shape;198;p30"/>
          <p:cNvSpPr txBox="1"/>
          <p:nvPr/>
        </p:nvSpPr>
        <p:spPr>
          <a:xfrm>
            <a:off x="2713375" y="6877725"/>
            <a:ext cx="6065100" cy="46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Algoritmos e Programação de Computadores I</a:t>
            </a:r>
            <a:endParaRPr/>
          </a:p>
        </p:txBody>
      </p:sp>
      <p:sp>
        <p:nvSpPr>
          <p:cNvPr id="199" name="Google Shape;199;p30"/>
          <p:cNvSpPr txBox="1"/>
          <p:nvPr>
            <p:ph idx="12" type="sldNum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r>
              <a:rPr sz="1200"/>
              <a:t>17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1"/>
          <p:cNvSpPr txBox="1"/>
          <p:nvPr/>
        </p:nvSpPr>
        <p:spPr>
          <a:xfrm>
            <a:off x="144000" y="157320"/>
            <a:ext cx="9792000" cy="126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4400" strike="noStrike">
                <a:latin typeface="Arial"/>
                <a:ea typeface="Arial"/>
                <a:cs typeface="Arial"/>
                <a:sym typeface="Arial"/>
              </a:rPr>
              <a:t> Comando switch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31"/>
          <p:cNvSpPr txBox="1"/>
          <p:nvPr/>
        </p:nvSpPr>
        <p:spPr>
          <a:xfrm>
            <a:off x="144000" y="1584000"/>
            <a:ext cx="9792000" cy="50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4000" lvl="0" marL="4320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b="0" lang="pt-BR" sz="3200" strike="noStrike">
                <a:latin typeface="Arial"/>
                <a:ea typeface="Arial"/>
                <a:cs typeface="Arial"/>
                <a:sym typeface="Arial"/>
              </a:rPr>
              <a:t>Comando de seleção múltipla.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  <a:p>
            <a:pPr indent="-324000" lvl="0" marL="43200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/>
              <a:t>Tem o m</a:t>
            </a:r>
            <a:r>
              <a:rPr b="0" lang="pt-BR" sz="3200" strike="noStrike">
                <a:latin typeface="Arial"/>
                <a:ea typeface="Arial"/>
                <a:cs typeface="Arial"/>
                <a:sym typeface="Arial"/>
              </a:rPr>
              <a:t>esmo efeito que vários if-else-if.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  <a:p>
            <a:pPr indent="-324000" lvl="0" marL="431999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/>
              <a:t>Avalia</a:t>
            </a:r>
            <a:r>
              <a:rPr b="0" lang="pt-BR" sz="3200" strike="noStrike">
                <a:latin typeface="Arial"/>
                <a:ea typeface="Arial"/>
                <a:cs typeface="Arial"/>
                <a:sym typeface="Arial"/>
              </a:rPr>
              <a:t> somente a igualdade de valores inteiros e char.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1417"/>
              </a:spcBef>
              <a:spcAft>
                <a:spcPts val="0"/>
              </a:spcAft>
              <a:buNone/>
            </a:pPr>
            <a:r>
              <a:t/>
            </a:r>
            <a:endParaRPr sz="3200"/>
          </a:p>
          <a:p>
            <a:pPr indent="0" lvl="0" marL="0" marR="0" rtl="0" algn="l">
              <a:spcBef>
                <a:spcPts val="1417"/>
              </a:spcBef>
              <a:spcAft>
                <a:spcPts val="0"/>
              </a:spcAft>
              <a:buNone/>
            </a:pPr>
            <a:r>
              <a:t/>
            </a:r>
            <a:endParaRPr sz="3200"/>
          </a:p>
          <a:p>
            <a:pPr indent="0" lvl="0" marL="457200" rtl="0" algn="l">
              <a:spcBef>
                <a:spcPts val="1417"/>
              </a:spcBef>
              <a:spcAft>
                <a:spcPts val="0"/>
              </a:spcAft>
              <a:buNone/>
            </a:pPr>
            <a:r>
              <a:rPr lang="pt-BR" sz="2800">
                <a:solidFill>
                  <a:schemeClr val="dk1"/>
                </a:solidFill>
              </a:rPr>
              <a:t>Obs.</a:t>
            </a:r>
            <a:r>
              <a:rPr lang="pt-BR" sz="2800">
                <a:solidFill>
                  <a:schemeClr val="dk1"/>
                </a:solidFill>
              </a:rPr>
              <a:t>: Não aceita valores dos tipos float/double, nem expressões booleanas.</a:t>
            </a:r>
            <a:endParaRPr sz="3200"/>
          </a:p>
        </p:txBody>
      </p:sp>
      <p:sp>
        <p:nvSpPr>
          <p:cNvPr id="206" name="Google Shape;206;p31"/>
          <p:cNvSpPr txBox="1"/>
          <p:nvPr/>
        </p:nvSpPr>
        <p:spPr>
          <a:xfrm>
            <a:off x="2713375" y="6877725"/>
            <a:ext cx="6065100" cy="46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Algoritmos e Programação de Computadores I</a:t>
            </a:r>
            <a:endParaRPr/>
          </a:p>
        </p:txBody>
      </p:sp>
      <p:sp>
        <p:nvSpPr>
          <p:cNvPr id="207" name="Google Shape;207;p31"/>
          <p:cNvSpPr txBox="1"/>
          <p:nvPr>
            <p:ph idx="12" type="sldNum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r>
              <a:rPr sz="1200"/>
              <a:t>18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" name="Google Shape;212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56750" y="738257"/>
            <a:ext cx="5060100" cy="5987067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32"/>
          <p:cNvSpPr txBox="1"/>
          <p:nvPr/>
        </p:nvSpPr>
        <p:spPr>
          <a:xfrm>
            <a:off x="144000" y="157320"/>
            <a:ext cx="9792000" cy="126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4400" strike="noStrike">
                <a:latin typeface="Arial"/>
                <a:ea typeface="Arial"/>
                <a:cs typeface="Arial"/>
                <a:sym typeface="Arial"/>
              </a:rPr>
              <a:t> Sintaxe do </a:t>
            </a:r>
            <a:r>
              <a:rPr lang="pt-BR" sz="4400"/>
              <a:t>switch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32"/>
          <p:cNvSpPr txBox="1"/>
          <p:nvPr/>
        </p:nvSpPr>
        <p:spPr>
          <a:xfrm>
            <a:off x="144000" y="1584000"/>
            <a:ext cx="5060100" cy="50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1800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switch(</a:t>
            </a:r>
            <a:r>
              <a:rPr b="0" i="1" lang="pt-BR" sz="2400" strike="noStrike">
                <a:latin typeface="Arial"/>
                <a:ea typeface="Arial"/>
                <a:cs typeface="Arial"/>
                <a:sym typeface="Arial"/>
              </a:rPr>
              <a:t>variável</a:t>
            </a: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) {</a:t>
            </a:r>
            <a:endParaRPr b="0" sz="2400" strike="noStrike">
              <a:latin typeface="Arial"/>
              <a:ea typeface="Arial"/>
              <a:cs typeface="Arial"/>
              <a:sym typeface="Arial"/>
            </a:endParaRPr>
          </a:p>
          <a:p>
            <a:pPr indent="1800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     case </a:t>
            </a:r>
            <a:r>
              <a:rPr b="0" i="1" lang="pt-BR" sz="2400" strike="noStrike">
                <a:latin typeface="Arial"/>
                <a:ea typeface="Arial"/>
                <a:cs typeface="Arial"/>
                <a:sym typeface="Arial"/>
              </a:rPr>
              <a:t>valor1</a:t>
            </a: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: </a:t>
            </a:r>
            <a:r>
              <a:rPr i="1" lang="pt-BR" sz="2400"/>
              <a:t>comando</a:t>
            </a:r>
            <a:r>
              <a:rPr b="0" i="1" lang="pt-BR" sz="2400" strike="noStrike"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; </a:t>
            </a:r>
            <a:r>
              <a:rPr b="0" i="1" lang="pt-BR" sz="2400" strike="noStrike">
                <a:latin typeface="Arial"/>
                <a:ea typeface="Arial"/>
                <a:cs typeface="Arial"/>
                <a:sym typeface="Arial"/>
              </a:rPr>
              <a:t>break</a:t>
            </a: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;</a:t>
            </a:r>
            <a:endParaRPr b="0" sz="2400" strike="noStrike">
              <a:latin typeface="Arial"/>
              <a:ea typeface="Arial"/>
              <a:cs typeface="Arial"/>
              <a:sym typeface="Arial"/>
            </a:endParaRPr>
          </a:p>
          <a:p>
            <a:pPr indent="1800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     case </a:t>
            </a:r>
            <a:r>
              <a:rPr b="0" i="1" lang="pt-BR" sz="2400" strike="noStrike">
                <a:latin typeface="Arial"/>
                <a:ea typeface="Arial"/>
                <a:cs typeface="Arial"/>
                <a:sym typeface="Arial"/>
              </a:rPr>
              <a:t>valor2</a:t>
            </a: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: </a:t>
            </a:r>
            <a:r>
              <a:rPr i="1" lang="pt-BR" sz="2400">
                <a:solidFill>
                  <a:schemeClr val="dk1"/>
                </a:solidFill>
              </a:rPr>
              <a:t>comando</a:t>
            </a:r>
            <a:r>
              <a:rPr b="0" i="1" lang="pt-BR" sz="2400" strike="noStrike"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; </a:t>
            </a:r>
            <a:r>
              <a:rPr b="0" i="1" lang="pt-BR" sz="2400" strike="noStrike">
                <a:latin typeface="Arial"/>
                <a:ea typeface="Arial"/>
                <a:cs typeface="Arial"/>
                <a:sym typeface="Arial"/>
              </a:rPr>
              <a:t>break</a:t>
            </a: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;</a:t>
            </a:r>
            <a:endParaRPr b="0" sz="2400" strike="noStrike">
              <a:latin typeface="Arial"/>
              <a:ea typeface="Arial"/>
              <a:cs typeface="Arial"/>
              <a:sym typeface="Arial"/>
            </a:endParaRPr>
          </a:p>
          <a:p>
            <a:pPr indent="1800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     case </a:t>
            </a:r>
            <a:r>
              <a:rPr b="0" i="1" lang="pt-BR" sz="2400" strike="noStrike">
                <a:latin typeface="Arial"/>
                <a:ea typeface="Arial"/>
                <a:cs typeface="Arial"/>
                <a:sym typeface="Arial"/>
              </a:rPr>
              <a:t>valor3</a:t>
            </a: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: </a:t>
            </a:r>
            <a:r>
              <a:rPr i="1" lang="pt-BR" sz="2400">
                <a:solidFill>
                  <a:schemeClr val="dk1"/>
                </a:solidFill>
              </a:rPr>
              <a:t>comando</a:t>
            </a:r>
            <a:r>
              <a:rPr b="0" i="1" lang="pt-BR" sz="2400" strike="noStrike">
                <a:latin typeface="Arial"/>
                <a:ea typeface="Arial"/>
                <a:cs typeface="Arial"/>
                <a:sym typeface="Arial"/>
              </a:rPr>
              <a:t>3</a:t>
            </a: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; </a:t>
            </a:r>
            <a:r>
              <a:rPr b="0" i="1" lang="pt-BR" sz="2400" strike="noStrike">
                <a:latin typeface="Arial"/>
                <a:ea typeface="Arial"/>
                <a:cs typeface="Arial"/>
                <a:sym typeface="Arial"/>
              </a:rPr>
              <a:t>break</a:t>
            </a: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;</a:t>
            </a:r>
            <a:br>
              <a:rPr lang="pt-BR" sz="2400"/>
            </a:b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     …</a:t>
            </a:r>
            <a:endParaRPr b="0" sz="2400" strike="noStrike">
              <a:latin typeface="Arial"/>
              <a:ea typeface="Arial"/>
              <a:cs typeface="Arial"/>
              <a:sym typeface="Arial"/>
            </a:endParaRPr>
          </a:p>
          <a:p>
            <a:pPr indent="1800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     default: </a:t>
            </a:r>
            <a:r>
              <a:rPr i="1" lang="pt-BR" sz="2400">
                <a:solidFill>
                  <a:schemeClr val="dk1"/>
                </a:solidFill>
              </a:rPr>
              <a:t>comandoN</a:t>
            </a: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;</a:t>
            </a:r>
            <a:endParaRPr b="0" sz="2400" strike="noStrike">
              <a:latin typeface="Arial"/>
              <a:ea typeface="Arial"/>
              <a:cs typeface="Arial"/>
              <a:sym typeface="Arial"/>
            </a:endParaRPr>
          </a:p>
          <a:p>
            <a:pPr indent="1800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}</a:t>
            </a:r>
            <a:endParaRPr b="0" sz="2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32"/>
          <p:cNvSpPr txBox="1"/>
          <p:nvPr/>
        </p:nvSpPr>
        <p:spPr>
          <a:xfrm>
            <a:off x="2713375" y="6877725"/>
            <a:ext cx="6065100" cy="46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Algoritmos e Programação de Computadores I</a:t>
            </a:r>
            <a:endParaRPr/>
          </a:p>
        </p:txBody>
      </p:sp>
      <p:sp>
        <p:nvSpPr>
          <p:cNvPr id="216" name="Google Shape;216;p32"/>
          <p:cNvSpPr txBox="1"/>
          <p:nvPr>
            <p:ph idx="12" type="sldNum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r>
              <a:rPr sz="1200"/>
              <a:t>19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3"/>
          <p:cNvSpPr txBox="1"/>
          <p:nvPr/>
        </p:nvSpPr>
        <p:spPr>
          <a:xfrm>
            <a:off x="144000" y="157320"/>
            <a:ext cx="9792000" cy="126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4400" strike="noStrike">
                <a:latin typeface="Arial"/>
                <a:ea typeface="Arial"/>
                <a:cs typeface="Arial"/>
                <a:sym typeface="Arial"/>
              </a:rPr>
              <a:t> Comando case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33"/>
          <p:cNvSpPr txBox="1"/>
          <p:nvPr/>
        </p:nvSpPr>
        <p:spPr>
          <a:xfrm>
            <a:off x="144000" y="1584000"/>
            <a:ext cx="9792000" cy="50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4000" lvl="0" marL="4320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b="0" lang="pt-BR" sz="3200" strike="noStrike">
                <a:latin typeface="Arial"/>
                <a:ea typeface="Arial"/>
                <a:cs typeface="Arial"/>
                <a:sym typeface="Arial"/>
              </a:rPr>
              <a:t>Define valores que são comparados pelo switch.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  <a:p>
            <a:pPr indent="-324000" lvl="0" marL="43200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b="0" lang="pt-BR" sz="3200" strike="noStrike">
                <a:latin typeface="Arial"/>
                <a:ea typeface="Arial"/>
                <a:cs typeface="Arial"/>
                <a:sym typeface="Arial"/>
              </a:rPr>
              <a:t>Quando um valor é encontrado, o bloco de comandos associado ao case é executado.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  <a:p>
            <a:pPr indent="-324000" lvl="0" marL="43200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/>
              <a:t>Padrão ANSI C </a:t>
            </a:r>
            <a:r>
              <a:rPr b="0" lang="pt-BR" sz="3200" strike="noStrike">
                <a:latin typeface="Arial"/>
                <a:ea typeface="Arial"/>
                <a:cs typeface="Arial"/>
                <a:sym typeface="Arial"/>
              </a:rPr>
              <a:t>limita</a:t>
            </a:r>
            <a:r>
              <a:rPr lang="pt-BR" sz="3200"/>
              <a:t> o uso</a:t>
            </a:r>
            <a:r>
              <a:rPr b="0" lang="pt-BR" sz="3200" strike="noStrike">
                <a:latin typeface="Arial"/>
                <a:ea typeface="Arial"/>
                <a:cs typeface="Arial"/>
                <a:sym typeface="Arial"/>
              </a:rPr>
              <a:t> em até 257 cases.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33"/>
          <p:cNvSpPr txBox="1"/>
          <p:nvPr/>
        </p:nvSpPr>
        <p:spPr>
          <a:xfrm>
            <a:off x="2713375" y="6877725"/>
            <a:ext cx="6065100" cy="46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Algoritmos e Programação de Computadores I</a:t>
            </a:r>
            <a:endParaRPr/>
          </a:p>
        </p:txBody>
      </p:sp>
      <p:sp>
        <p:nvSpPr>
          <p:cNvPr id="224" name="Google Shape;224;p33"/>
          <p:cNvSpPr txBox="1"/>
          <p:nvPr>
            <p:ph idx="12" type="sldNum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r>
              <a:rPr sz="1200"/>
              <a:t>20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4"/>
          <p:cNvSpPr txBox="1"/>
          <p:nvPr/>
        </p:nvSpPr>
        <p:spPr>
          <a:xfrm>
            <a:off x="144000" y="157320"/>
            <a:ext cx="9792000" cy="126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4400" strike="noStrike">
                <a:latin typeface="Arial"/>
                <a:ea typeface="Arial"/>
                <a:cs typeface="Arial"/>
                <a:sym typeface="Arial"/>
              </a:rPr>
              <a:t> Comando break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34"/>
          <p:cNvSpPr txBox="1"/>
          <p:nvPr/>
        </p:nvSpPr>
        <p:spPr>
          <a:xfrm>
            <a:off x="144000" y="1584000"/>
            <a:ext cx="9792000" cy="50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4000" lvl="0" marL="4320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b="0" lang="pt-BR" sz="3200" strike="noStrike">
                <a:latin typeface="Arial"/>
                <a:ea typeface="Arial"/>
                <a:cs typeface="Arial"/>
                <a:sym typeface="Arial"/>
              </a:rPr>
              <a:t>Interrompe a seleção múltipla.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  <a:p>
            <a:pPr indent="-324000" lvl="0" marL="431999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b="0" lang="pt-BR" sz="3200" strike="noStrike">
                <a:latin typeface="Arial"/>
                <a:ea typeface="Arial"/>
                <a:cs typeface="Arial"/>
                <a:sym typeface="Arial"/>
              </a:rPr>
              <a:t>Impede que cases subjacentes ao case </a:t>
            </a:r>
            <a:r>
              <a:rPr lang="pt-BR" sz="3200"/>
              <a:t>selecionado</a:t>
            </a:r>
            <a:r>
              <a:rPr b="0" lang="pt-BR" sz="3200" strike="noStrike">
                <a:latin typeface="Arial"/>
                <a:ea typeface="Arial"/>
                <a:cs typeface="Arial"/>
                <a:sym typeface="Arial"/>
              </a:rPr>
              <a:t> sejam executados em sequ</a:t>
            </a:r>
            <a:r>
              <a:rPr lang="pt-BR" sz="3200"/>
              <a:t>ê</a:t>
            </a:r>
            <a:r>
              <a:rPr b="0" lang="pt-BR" sz="3200" strike="noStrike">
                <a:latin typeface="Arial"/>
                <a:ea typeface="Arial"/>
                <a:cs typeface="Arial"/>
                <a:sym typeface="Arial"/>
              </a:rPr>
              <a:t>ncia.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1417"/>
              </a:spcBef>
              <a:spcAft>
                <a:spcPts val="0"/>
              </a:spcAft>
              <a:buNone/>
            </a:pPr>
            <a:r>
              <a:t/>
            </a:r>
            <a:endParaRPr sz="3200"/>
          </a:p>
          <a:p>
            <a:pPr indent="0" lvl="0" marL="0" marR="0" rtl="0" algn="l">
              <a:spcBef>
                <a:spcPts val="1417"/>
              </a:spcBef>
              <a:spcAft>
                <a:spcPts val="0"/>
              </a:spcAft>
              <a:buNone/>
            </a:pPr>
            <a:r>
              <a:t/>
            </a:r>
            <a:endParaRPr sz="3200"/>
          </a:p>
          <a:p>
            <a:pPr indent="0" lvl="0" marL="457200" rtl="0" algn="l">
              <a:spcBef>
                <a:spcPts val="1417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417"/>
              </a:spcBef>
              <a:spcAft>
                <a:spcPts val="0"/>
              </a:spcAft>
              <a:buNone/>
            </a:pPr>
            <a:r>
              <a:rPr lang="pt-BR" sz="2800">
                <a:solidFill>
                  <a:schemeClr val="dk1"/>
                </a:solidFill>
              </a:rPr>
              <a:t>Nota</a:t>
            </a:r>
            <a:r>
              <a:rPr lang="pt-BR" sz="2800">
                <a:solidFill>
                  <a:schemeClr val="dk1"/>
                </a:solidFill>
              </a:rPr>
              <a:t>: Omissão do break causa "fall-through" e pode executar código não desejado.</a:t>
            </a:r>
            <a:endParaRPr sz="3200"/>
          </a:p>
        </p:txBody>
      </p:sp>
      <p:sp>
        <p:nvSpPr>
          <p:cNvPr id="231" name="Google Shape;231;p34"/>
          <p:cNvSpPr txBox="1"/>
          <p:nvPr/>
        </p:nvSpPr>
        <p:spPr>
          <a:xfrm>
            <a:off x="2713375" y="6877725"/>
            <a:ext cx="6065100" cy="46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Algoritmos e Programação de Computadores I</a:t>
            </a:r>
            <a:endParaRPr/>
          </a:p>
        </p:txBody>
      </p:sp>
      <p:sp>
        <p:nvSpPr>
          <p:cNvPr id="232" name="Google Shape;232;p34"/>
          <p:cNvSpPr txBox="1"/>
          <p:nvPr>
            <p:ph idx="12" type="sldNum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r>
              <a:rPr sz="1200"/>
              <a:t>21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5"/>
          <p:cNvSpPr txBox="1"/>
          <p:nvPr/>
        </p:nvSpPr>
        <p:spPr>
          <a:xfrm>
            <a:off x="144000" y="157320"/>
            <a:ext cx="9792000" cy="126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4400" strike="noStrike">
                <a:latin typeface="Arial"/>
                <a:ea typeface="Arial"/>
                <a:cs typeface="Arial"/>
                <a:sym typeface="Arial"/>
              </a:rPr>
              <a:t> Comando default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35"/>
          <p:cNvSpPr txBox="1"/>
          <p:nvPr/>
        </p:nvSpPr>
        <p:spPr>
          <a:xfrm>
            <a:off x="144000" y="1584000"/>
            <a:ext cx="9792000" cy="50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4000" lvl="0" marL="4320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b="0" lang="pt-BR" sz="3200" strike="noStrike">
                <a:latin typeface="Arial"/>
                <a:ea typeface="Arial"/>
                <a:cs typeface="Arial"/>
                <a:sym typeface="Arial"/>
              </a:rPr>
              <a:t>Define a ação padrão para quando o switch não </a:t>
            </a:r>
            <a:r>
              <a:rPr lang="pt-BR" sz="3200"/>
              <a:t>seleciona</a:t>
            </a:r>
            <a:r>
              <a:rPr b="0" lang="pt-BR" sz="3200" strike="noStrike">
                <a:latin typeface="Arial"/>
                <a:ea typeface="Arial"/>
                <a:cs typeface="Arial"/>
                <a:sym typeface="Arial"/>
              </a:rPr>
              <a:t> nenhum valor.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  <a:p>
            <a:pPr indent="-324000" lvl="0" marL="43200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b="0" lang="pt-BR" sz="3200" strike="noStrike">
                <a:latin typeface="Arial"/>
                <a:ea typeface="Arial"/>
                <a:cs typeface="Arial"/>
                <a:sym typeface="Arial"/>
              </a:rPr>
              <a:t>É opcional, se não estiver presente nenhuma ação será realizada.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35"/>
          <p:cNvSpPr txBox="1"/>
          <p:nvPr/>
        </p:nvSpPr>
        <p:spPr>
          <a:xfrm>
            <a:off x="2713375" y="6877725"/>
            <a:ext cx="6065100" cy="46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Algoritmos e Programação de Computadores I</a:t>
            </a:r>
            <a:endParaRPr/>
          </a:p>
        </p:txBody>
      </p:sp>
      <p:sp>
        <p:nvSpPr>
          <p:cNvPr id="240" name="Google Shape;240;p35"/>
          <p:cNvSpPr txBox="1"/>
          <p:nvPr>
            <p:ph idx="12" type="sldNum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r>
              <a:rPr sz="1200"/>
              <a:t>22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6"/>
          <p:cNvSpPr txBox="1"/>
          <p:nvPr/>
        </p:nvSpPr>
        <p:spPr>
          <a:xfrm>
            <a:off x="144000" y="157320"/>
            <a:ext cx="9792000" cy="126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4400" strike="noStrike">
                <a:latin typeface="Arial"/>
                <a:ea typeface="Arial"/>
                <a:cs typeface="Arial"/>
                <a:sym typeface="Arial"/>
              </a:rPr>
              <a:t> Exemplo de switch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36"/>
          <p:cNvSpPr txBox="1"/>
          <p:nvPr/>
        </p:nvSpPr>
        <p:spPr>
          <a:xfrm>
            <a:off x="144000" y="1584000"/>
            <a:ext cx="9792000" cy="50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800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int </a:t>
            </a:r>
            <a:r>
              <a:rPr lang="pt-BR" sz="2400"/>
              <a:t>dia_da_semana</a:t>
            </a: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lang="pt-BR" sz="2400"/>
              <a:t>5</a:t>
            </a: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; </a:t>
            </a:r>
            <a:endParaRPr b="0" sz="24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1800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1800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switch</a:t>
            </a: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pt-BR" sz="2400">
                <a:solidFill>
                  <a:schemeClr val="dk1"/>
                </a:solidFill>
              </a:rPr>
              <a:t>dia_da_semana</a:t>
            </a: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) {</a:t>
            </a:r>
            <a:endParaRPr b="0" sz="24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1800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      case </a:t>
            </a:r>
            <a:r>
              <a:rPr lang="pt-BR" sz="2400"/>
              <a:t>1</a:t>
            </a: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pt-BR" sz="2400"/>
              <a:t>printf(</a:t>
            </a:r>
            <a:r>
              <a:rPr lang="pt-BR" sz="2400"/>
              <a:t>"Domingo\n")</a:t>
            </a: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; break;</a:t>
            </a:r>
            <a:endParaRPr b="0" sz="24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180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 sz="2400">
                <a:solidFill>
                  <a:schemeClr val="dk1"/>
                </a:solidFill>
              </a:rPr>
              <a:t>      case 2: printf("Segunda\n"); break;</a:t>
            </a:r>
            <a:endParaRPr sz="2400">
              <a:solidFill>
                <a:schemeClr val="dk1"/>
              </a:solidFill>
            </a:endParaRPr>
          </a:p>
          <a:p>
            <a:pPr indent="0" lvl="0" marL="180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 sz="2400">
                <a:solidFill>
                  <a:schemeClr val="dk1"/>
                </a:solidFill>
              </a:rPr>
              <a:t>      case 3: printf("Terça\n"); break;</a:t>
            </a:r>
            <a:endParaRPr sz="2400">
              <a:solidFill>
                <a:schemeClr val="dk1"/>
              </a:solidFill>
            </a:endParaRPr>
          </a:p>
          <a:p>
            <a:pPr indent="0" lvl="0" marL="180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 sz="2400">
                <a:solidFill>
                  <a:schemeClr val="dk1"/>
                </a:solidFill>
              </a:rPr>
              <a:t>      case 4: printf("Quarta\n"); break;</a:t>
            </a:r>
            <a:endParaRPr sz="2400">
              <a:solidFill>
                <a:schemeClr val="dk1"/>
              </a:solidFill>
            </a:endParaRPr>
          </a:p>
          <a:p>
            <a:pPr indent="0" lvl="0" marL="180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 sz="2400">
                <a:solidFill>
                  <a:schemeClr val="dk1"/>
                </a:solidFill>
              </a:rPr>
              <a:t>      case 5: printf("Quinta\n"); break;</a:t>
            </a:r>
            <a:endParaRPr sz="2400">
              <a:solidFill>
                <a:schemeClr val="dk1"/>
              </a:solidFill>
            </a:endParaRPr>
          </a:p>
          <a:p>
            <a:pPr indent="0" lvl="0" marL="180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 sz="2400">
                <a:solidFill>
                  <a:schemeClr val="dk1"/>
                </a:solidFill>
              </a:rPr>
              <a:t>      case 6: printf("Sexta\n"); break;</a:t>
            </a:r>
            <a:endParaRPr sz="2400">
              <a:solidFill>
                <a:schemeClr val="dk1"/>
              </a:solidFill>
            </a:endParaRPr>
          </a:p>
          <a:p>
            <a:pPr indent="0" lvl="0" marL="180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 sz="2400">
                <a:solidFill>
                  <a:schemeClr val="dk1"/>
                </a:solidFill>
              </a:rPr>
              <a:t>      case 7: printf("Sábado\n"); break;</a:t>
            </a:r>
            <a:endParaRPr sz="2400">
              <a:solidFill>
                <a:schemeClr val="dk1"/>
              </a:solidFill>
            </a:endParaRPr>
          </a:p>
          <a:p>
            <a:pPr indent="0" lvl="0" marL="1800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      default:</a:t>
            </a:r>
            <a:r>
              <a:rPr lang="pt-BR" sz="2400"/>
              <a:t> printf(</a:t>
            </a:r>
            <a:r>
              <a:rPr lang="pt-BR" sz="2400"/>
              <a:t>"Dia da semana inválido\n");</a:t>
            </a:r>
            <a:endParaRPr b="0" sz="24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1800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}</a:t>
            </a:r>
            <a:endParaRPr b="0" sz="2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36"/>
          <p:cNvSpPr txBox="1"/>
          <p:nvPr/>
        </p:nvSpPr>
        <p:spPr>
          <a:xfrm>
            <a:off x="2713375" y="6877725"/>
            <a:ext cx="6065100" cy="46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Algoritmos e Programação de Computadores I</a:t>
            </a:r>
            <a:endParaRPr/>
          </a:p>
        </p:txBody>
      </p:sp>
      <p:sp>
        <p:nvSpPr>
          <p:cNvPr id="248" name="Google Shape;248;p36"/>
          <p:cNvSpPr txBox="1"/>
          <p:nvPr>
            <p:ph idx="12" type="sldNum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r>
              <a:rPr sz="1200"/>
              <a:t>23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7"/>
          <p:cNvSpPr txBox="1"/>
          <p:nvPr/>
        </p:nvSpPr>
        <p:spPr>
          <a:xfrm>
            <a:off x="144000" y="157320"/>
            <a:ext cx="97920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4400" strike="noStrike">
                <a:latin typeface="Arial"/>
                <a:ea typeface="Arial"/>
                <a:cs typeface="Arial"/>
                <a:sym typeface="Arial"/>
              </a:rPr>
              <a:t> Exemplo de </a:t>
            </a:r>
            <a:r>
              <a:rPr lang="pt-BR" sz="4400"/>
              <a:t>fall-through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37"/>
          <p:cNvSpPr txBox="1"/>
          <p:nvPr/>
        </p:nvSpPr>
        <p:spPr>
          <a:xfrm>
            <a:off x="144000" y="1584000"/>
            <a:ext cx="9792000" cy="50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800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int </a:t>
            </a:r>
            <a:r>
              <a:rPr lang="pt-BR" sz="2400"/>
              <a:t>dia_da_semana</a:t>
            </a: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lang="pt-BR" sz="2400"/>
              <a:t>5</a:t>
            </a: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; </a:t>
            </a:r>
            <a:endParaRPr b="0" sz="24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1800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1800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switch(</a:t>
            </a:r>
            <a:r>
              <a:rPr lang="pt-BR" sz="2400">
                <a:solidFill>
                  <a:schemeClr val="dk1"/>
                </a:solidFill>
              </a:rPr>
              <a:t>dia_da_semana</a:t>
            </a: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) {</a:t>
            </a:r>
            <a:endParaRPr b="0" sz="24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1800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      case </a:t>
            </a:r>
            <a:r>
              <a:rPr lang="pt-BR" sz="2400"/>
              <a:t>1</a:t>
            </a: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pt-BR" sz="2400"/>
              <a:t>printf("Domingo\n")</a:t>
            </a: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; </a:t>
            </a:r>
            <a:r>
              <a:rPr b="0" lang="pt-BR" sz="2400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// sem break, vai para case 2</a:t>
            </a:r>
            <a:endParaRPr b="0" sz="2400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80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 sz="2400">
                <a:solidFill>
                  <a:schemeClr val="dk1"/>
                </a:solidFill>
              </a:rPr>
              <a:t>      case 2: printf("Segunda\n"); break;</a:t>
            </a:r>
            <a:endParaRPr sz="2400">
              <a:solidFill>
                <a:schemeClr val="dk1"/>
              </a:solidFill>
            </a:endParaRPr>
          </a:p>
          <a:p>
            <a:pPr indent="0" lvl="0" marL="180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 sz="2400">
                <a:solidFill>
                  <a:schemeClr val="dk1"/>
                </a:solidFill>
              </a:rPr>
              <a:t>      case 3: printf("Terça\n"); </a:t>
            </a:r>
            <a:r>
              <a:rPr lang="pt-BR" sz="2400">
                <a:solidFill>
                  <a:srgbClr val="0000FF"/>
                </a:solidFill>
              </a:rPr>
              <a:t>// sem break, vai para case 4</a:t>
            </a:r>
            <a:endParaRPr sz="2400">
              <a:solidFill>
                <a:schemeClr val="dk1"/>
              </a:solidFill>
            </a:endParaRPr>
          </a:p>
          <a:p>
            <a:pPr indent="0" lvl="0" marL="180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 sz="2400">
                <a:solidFill>
                  <a:schemeClr val="dk1"/>
                </a:solidFill>
              </a:rPr>
              <a:t>      case 4: printf("Quarta\n"); </a:t>
            </a:r>
            <a:r>
              <a:rPr lang="pt-BR" sz="2400">
                <a:solidFill>
                  <a:srgbClr val="0000FF"/>
                </a:solidFill>
              </a:rPr>
              <a:t>// sem break, vai para case 5</a:t>
            </a:r>
            <a:endParaRPr sz="2400">
              <a:solidFill>
                <a:schemeClr val="dk1"/>
              </a:solidFill>
            </a:endParaRPr>
          </a:p>
          <a:p>
            <a:pPr indent="0" lvl="0" marL="180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 sz="2400">
                <a:solidFill>
                  <a:schemeClr val="dk1"/>
                </a:solidFill>
              </a:rPr>
              <a:t>      case 5: printf("Quinta\n"); </a:t>
            </a:r>
            <a:r>
              <a:rPr lang="pt-BR" sz="2400">
                <a:solidFill>
                  <a:srgbClr val="0000FF"/>
                </a:solidFill>
              </a:rPr>
              <a:t>// sem break, vai para case 6</a:t>
            </a:r>
            <a:endParaRPr sz="2400">
              <a:solidFill>
                <a:schemeClr val="dk1"/>
              </a:solidFill>
            </a:endParaRPr>
          </a:p>
          <a:p>
            <a:pPr indent="0" lvl="0" marL="180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 sz="2400">
                <a:solidFill>
                  <a:schemeClr val="dk1"/>
                </a:solidFill>
              </a:rPr>
              <a:t>      case 6: printf("Sexta\n"); </a:t>
            </a:r>
            <a:r>
              <a:rPr lang="pt-BR" sz="2400">
                <a:solidFill>
                  <a:schemeClr val="dk1"/>
                </a:solidFill>
              </a:rPr>
              <a:t>break;</a:t>
            </a:r>
            <a:endParaRPr sz="2400">
              <a:solidFill>
                <a:schemeClr val="dk1"/>
              </a:solidFill>
            </a:endParaRPr>
          </a:p>
          <a:p>
            <a:pPr indent="0" lvl="0" marL="180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 sz="2400">
                <a:solidFill>
                  <a:schemeClr val="dk1"/>
                </a:solidFill>
              </a:rPr>
              <a:t>      case 7: printf("Sábado\n"); </a:t>
            </a:r>
            <a:r>
              <a:rPr lang="pt-BR" sz="2400">
                <a:solidFill>
                  <a:schemeClr val="dk1"/>
                </a:solidFill>
              </a:rPr>
              <a:t>break;</a:t>
            </a:r>
            <a:endParaRPr sz="2400">
              <a:solidFill>
                <a:schemeClr val="dk1"/>
              </a:solidFill>
            </a:endParaRPr>
          </a:p>
          <a:p>
            <a:pPr indent="0" lvl="0" marL="180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 sz="2400">
                <a:solidFill>
                  <a:schemeClr val="dk1"/>
                </a:solidFill>
              </a:rPr>
              <a:t>      </a:t>
            </a:r>
            <a:r>
              <a:rPr lang="pt-BR" sz="2400">
                <a:solidFill>
                  <a:schemeClr val="dk1"/>
                </a:solidFill>
              </a:rPr>
              <a:t>default: printf("Dia da semana inválido\n");</a:t>
            </a:r>
            <a:endParaRPr sz="2400">
              <a:solidFill>
                <a:schemeClr val="dk1"/>
              </a:solidFill>
            </a:endParaRPr>
          </a:p>
          <a:p>
            <a:pPr indent="0" lvl="0" marL="1800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}</a:t>
            </a:r>
            <a:endParaRPr b="0" sz="2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37"/>
          <p:cNvSpPr txBox="1"/>
          <p:nvPr/>
        </p:nvSpPr>
        <p:spPr>
          <a:xfrm>
            <a:off x="2713375" y="6877725"/>
            <a:ext cx="6065100" cy="46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Algoritmos e Programação de Computadores I</a:t>
            </a:r>
            <a:endParaRPr/>
          </a:p>
        </p:txBody>
      </p:sp>
      <p:sp>
        <p:nvSpPr>
          <p:cNvPr id="256" name="Google Shape;256;p37"/>
          <p:cNvSpPr txBox="1"/>
          <p:nvPr>
            <p:ph idx="12" type="sldNum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r>
              <a:rPr sz="1200"/>
              <a:t>24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8"/>
          <p:cNvSpPr txBox="1"/>
          <p:nvPr/>
        </p:nvSpPr>
        <p:spPr>
          <a:xfrm>
            <a:off x="144000" y="157320"/>
            <a:ext cx="97920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4400" strike="noStrike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t-BR" sz="4400"/>
              <a:t>Em Resumo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38"/>
          <p:cNvSpPr txBox="1"/>
          <p:nvPr/>
        </p:nvSpPr>
        <p:spPr>
          <a:xfrm>
            <a:off x="144000" y="1584000"/>
            <a:ext cx="9792000" cy="50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4000" lvl="0" marL="431999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/>
              <a:t>O </a:t>
            </a:r>
            <a:r>
              <a:rPr b="1" lang="pt-BR" sz="3200"/>
              <a:t>if</a:t>
            </a:r>
            <a:r>
              <a:rPr lang="pt-BR" sz="3200"/>
              <a:t> é usado para avaliar qualquer condição lógica, podendo ser simples ou composta.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  <a:p>
            <a:pPr indent="-324000" lvl="0" marL="431999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/>
              <a:t>O </a:t>
            </a:r>
            <a:r>
              <a:rPr b="1" lang="pt-BR" sz="3200"/>
              <a:t>switch</a:t>
            </a:r>
            <a:r>
              <a:rPr lang="pt-BR" sz="3200"/>
              <a:t> é ideal para múltiplas seleções da mesma variável, comparando sempre igualdade com valores constantes.</a:t>
            </a:r>
            <a:endParaRPr sz="3200"/>
          </a:p>
          <a:p>
            <a:pPr indent="-324000" lvl="0" marL="431999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/>
              <a:t>O </a:t>
            </a:r>
            <a:r>
              <a:rPr b="1" lang="pt-BR" sz="3200"/>
              <a:t>operador ternário ?:</a:t>
            </a:r>
            <a:r>
              <a:rPr lang="pt-BR" sz="3200"/>
              <a:t> é uma forma reduzida de expressar condições simples em uma única linha.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38"/>
          <p:cNvSpPr txBox="1"/>
          <p:nvPr/>
        </p:nvSpPr>
        <p:spPr>
          <a:xfrm>
            <a:off x="2713375" y="6877725"/>
            <a:ext cx="6065100" cy="46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Algoritmos e Programação de Computadores I</a:t>
            </a:r>
            <a:endParaRPr/>
          </a:p>
        </p:txBody>
      </p:sp>
      <p:sp>
        <p:nvSpPr>
          <p:cNvPr id="264" name="Google Shape;264;p38"/>
          <p:cNvSpPr txBox="1"/>
          <p:nvPr>
            <p:ph idx="12" type="sldNum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r>
              <a:rPr sz="1200"/>
              <a:t>25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39"/>
          <p:cNvSpPr txBox="1"/>
          <p:nvPr/>
        </p:nvSpPr>
        <p:spPr>
          <a:xfrm>
            <a:off x="144000" y="157320"/>
            <a:ext cx="9792000" cy="126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4400" strike="noStrike">
                <a:latin typeface="Arial"/>
                <a:ea typeface="Arial"/>
                <a:cs typeface="Arial"/>
                <a:sym typeface="Arial"/>
              </a:rPr>
              <a:t> Referências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39"/>
          <p:cNvSpPr txBox="1"/>
          <p:nvPr/>
        </p:nvSpPr>
        <p:spPr>
          <a:xfrm>
            <a:off x="144000" y="1584000"/>
            <a:ext cx="9792000" cy="50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9718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80"/>
              <a:buFont typeface="Noto Sans Symbols"/>
              <a:buChar char="●"/>
            </a:pPr>
            <a:r>
              <a:rPr lang="pt-BR" sz="2400">
                <a:solidFill>
                  <a:schemeClr val="dk1"/>
                </a:solidFill>
              </a:rPr>
              <a:t>SCHILDT, Herbert. C: Completo e Total. 3. ed. Pearson Makron Books, 1997.</a:t>
            </a:r>
            <a:endParaRPr sz="2400">
              <a:solidFill>
                <a:schemeClr val="dk1"/>
              </a:solidFill>
            </a:endParaRPr>
          </a:p>
          <a:p>
            <a:pPr indent="-29718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80"/>
              <a:buFont typeface="Noto Sans Symbols"/>
              <a:buChar char="●"/>
            </a:pPr>
            <a:r>
              <a:rPr lang="pt-BR" sz="2400">
                <a:solidFill>
                  <a:schemeClr val="dk1"/>
                </a:solidFill>
              </a:rPr>
              <a:t>ANTONELLO, Ricardo. Linguagem C. 1. ed. Livro Digital, 2020.</a:t>
            </a:r>
            <a:endParaRPr sz="2400"/>
          </a:p>
        </p:txBody>
      </p:sp>
      <p:sp>
        <p:nvSpPr>
          <p:cNvPr id="271" name="Google Shape;271;p39"/>
          <p:cNvSpPr txBox="1"/>
          <p:nvPr/>
        </p:nvSpPr>
        <p:spPr>
          <a:xfrm>
            <a:off x="2713375" y="6877725"/>
            <a:ext cx="6065100" cy="46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Algoritmos e Programação de Computadores I</a:t>
            </a:r>
            <a:endParaRPr/>
          </a:p>
        </p:txBody>
      </p:sp>
      <p:sp>
        <p:nvSpPr>
          <p:cNvPr id="272" name="Google Shape;272;p39"/>
          <p:cNvSpPr txBox="1"/>
          <p:nvPr>
            <p:ph idx="12" type="sldNum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r>
              <a:rPr sz="1200"/>
              <a:t>30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F4E79"/>
                </a:solidFill>
                <a:latin typeface="Arial"/>
              </a:rPr>
              <a:t>Mapa da aula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  <a:defRPr sz="1800">
                <a:latin typeface="Arial"/>
              </a:defRPr>
            </a:pPr>
            <a:r>
              <a:t>Aula (teoria): Aula09–10 — Seleção</a:t>
            </a:r>
          </a:p>
          <a:p>
            <a:pPr>
              <a:spcAft>
                <a:spcPts val="600"/>
              </a:spcAft>
              <a:defRPr sz="1800">
                <a:latin typeface="Arial"/>
              </a:defRPr>
            </a:pPr>
            <a:r>
              <a:t>Laboratório guiado: Pratica06</a:t>
            </a:r>
          </a:p>
          <a:p>
            <a:pPr>
              <a:spcAft>
                <a:spcPts val="600"/>
              </a:spcAft>
              <a:defRPr sz="1800">
                <a:latin typeface="Arial"/>
              </a:defRPr>
            </a:pPr>
            <a:r>
              <a:t>Atividade avaliativa: Atividade03 (opções 1 e 4)</a:t>
            </a:r>
          </a:p>
          <a:p>
            <a:pPr>
              <a:spcAft>
                <a:spcPts val="600"/>
              </a:spcAft>
              <a:defRPr sz="1800">
                <a:latin typeface="Arial"/>
              </a:defRPr>
            </a:pPr>
          </a:p>
          <a:p>
            <a:pPr>
              <a:spcAft>
                <a:spcPts val="600"/>
              </a:spcAft>
              <a:defRPr sz="1800">
                <a:latin typeface="Arial"/>
              </a:defRPr>
            </a:pPr>
            <a:r>
              <a:t>Sugestão de ritmo:</a:t>
            </a:r>
          </a:p>
          <a:p>
            <a:pPr>
              <a:spcAft>
                <a:spcPts val="600"/>
              </a:spcAft>
              <a:defRPr sz="1800">
                <a:latin typeface="Arial"/>
              </a:defRPr>
            </a:pPr>
            <a:r>
              <a:t>1) Conceitos nos slides   2) Prática no lab   3) Atividade sem 'receita'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  <a:latin typeface="Arial"/>
              </a:defRPr>
            </a:pPr>
            <a:r>
              <a:t>Algoritmos e Programação de Computadores I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F4E79"/>
                </a:solidFill>
                <a:latin typeface="Arial"/>
              </a:rPr>
              <a:t>Para estudar no livro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  <a:defRPr sz="1800">
                <a:latin typeface="Arial"/>
              </a:defRPr>
            </a:pPr>
            <a:r>
              <a:t>Livro-base: ANTONELLO, Ricardo. Linguagem C. 1. ed.</a:t>
            </a:r>
          </a:p>
          <a:p>
            <a:pPr>
              <a:spcAft>
                <a:spcPts val="600"/>
              </a:spcAft>
              <a:defRPr sz="1800">
                <a:latin typeface="Arial"/>
              </a:defRPr>
            </a:pPr>
          </a:p>
          <a:p>
            <a:pPr>
              <a:spcAft>
                <a:spcPts val="600"/>
              </a:spcAft>
              <a:defRPr sz="1800">
                <a:latin typeface="Arial"/>
              </a:defRPr>
            </a:pPr>
            <a:r>
              <a:t>Leitura indicada: Cap. 5 — Comandos Condicionais (p. 51–67)</a:t>
            </a:r>
          </a:p>
          <a:p>
            <a:pPr>
              <a:spcAft>
                <a:spcPts val="600"/>
              </a:spcAft>
              <a:defRPr sz="1800">
                <a:latin typeface="Arial"/>
              </a:defRPr>
            </a:pPr>
          </a:p>
          <a:p>
            <a:pPr>
              <a:spcAft>
                <a:spcPts val="600"/>
              </a:spcAft>
              <a:defRPr sz="1800">
                <a:latin typeface="Arial"/>
              </a:defRPr>
            </a:pPr>
            <a:r>
              <a:t>Exercícios do livro: Exercícios 5.5</a:t>
            </a:r>
          </a:p>
          <a:p>
            <a:pPr>
              <a:spcAft>
                <a:spcPts val="600"/>
              </a:spcAft>
              <a:defRPr sz="1800">
                <a:latin typeface="Arial"/>
              </a:defRPr>
            </a:pPr>
          </a:p>
          <a:p>
            <a:pPr>
              <a:spcAft>
                <a:spcPts val="600"/>
              </a:spcAft>
              <a:defRPr sz="1800">
                <a:latin typeface="Arial"/>
              </a:defRPr>
            </a:pPr>
            <a:r>
              <a:t>Revise o capítulo após a aula e antes da prática.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  <a:latin typeface="Arial"/>
              </a:defRPr>
            </a:pPr>
            <a:r>
              <a:t>Algoritmos e Programação de Computadores I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F4E79"/>
                </a:solidFill>
                <a:latin typeface="Arial"/>
              </a:rPr>
              <a:t>Desafio (8 min)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  <a:defRPr sz="1800">
                <a:latin typeface="Arial"/>
              </a:defRPr>
            </a:pPr>
            <a:r>
              <a:t>Faça if-else-if para classificar IMC. Em seguida, discuta se switch seria adequado.</a:t>
            </a:r>
          </a:p>
          <a:p>
            <a:pPr>
              <a:spcAft>
                <a:spcPts val="600"/>
              </a:spcAft>
              <a:defRPr sz="1800">
                <a:latin typeface="Arial"/>
              </a:defRPr>
            </a:pPr>
          </a:p>
          <a:p>
            <a:pPr>
              <a:spcAft>
                <a:spcPts val="600"/>
              </a:spcAft>
              <a:defRPr sz="1800">
                <a:latin typeface="Arial"/>
              </a:defRPr>
            </a:pPr>
            <a:r>
              <a:t>Trabalhe em dupla (instrução por pares).</a:t>
            </a:r>
          </a:p>
          <a:p>
            <a:pPr>
              <a:spcAft>
                <a:spcPts val="600"/>
              </a:spcAft>
              <a:defRPr sz="1800">
                <a:latin typeface="Arial"/>
              </a:defRPr>
            </a:pPr>
            <a:r>
              <a:t>Ao final, uma dupla compartilha a solução com a turma.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  <a:latin typeface="Arial"/>
              </a:defRPr>
            </a:pPr>
            <a:r>
              <a:t>Algoritmos e Programação de Computadores I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F4E79"/>
                </a:solidFill>
                <a:latin typeface="Arial"/>
              </a:rPr>
              <a:t>Quiz rápido (3 perguntas)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  <a:defRPr sz="1800">
                <a:latin typeface="Arial"/>
              </a:defRPr>
            </a:pPr>
            <a:r>
              <a:t>1) Quando preferir switch em vez de if?</a:t>
            </a:r>
          </a:p>
          <a:p>
            <a:pPr>
              <a:spcAft>
                <a:spcPts val="600"/>
              </a:spcAft>
              <a:defRPr sz="1800">
                <a:latin typeface="Arial"/>
              </a:defRPr>
            </a:pPr>
          </a:p>
          <a:p>
            <a:pPr>
              <a:spcAft>
                <a:spcPts val="600"/>
              </a:spcAft>
              <a:defRPr sz="1800">
                <a:latin typeface="Arial"/>
              </a:defRPr>
            </a:pPr>
            <a:r>
              <a:t>2) O que acontece se omitir break no case?</a:t>
            </a:r>
          </a:p>
          <a:p>
            <a:pPr>
              <a:spcAft>
                <a:spcPts val="600"/>
              </a:spcAft>
              <a:defRPr sz="1800">
                <a:latin typeface="Arial"/>
              </a:defRPr>
            </a:pPr>
          </a:p>
          <a:p>
            <a:pPr>
              <a:spcAft>
                <a:spcPts val="600"/>
              </a:spcAft>
              <a:defRPr sz="1800">
                <a:latin typeface="Arial"/>
              </a:defRPr>
            </a:pPr>
            <a:r>
              <a:t>3) O operador ?: substitui qual estrutura?</a:t>
            </a:r>
          </a:p>
          <a:p>
            <a:pPr>
              <a:spcAft>
                <a:spcPts val="600"/>
              </a:spcAft>
              <a:defRPr sz="1800">
                <a:latin typeface="Arial"/>
              </a:defRPr>
            </a:pPr>
          </a:p>
          <a:p>
            <a:pPr>
              <a:spcAft>
                <a:spcPts val="600"/>
              </a:spcAft>
              <a:defRPr sz="1800">
                <a:latin typeface="Arial"/>
              </a:defRPr>
            </a:pPr>
            <a:r>
              <a:t>Respostas no quadro / Mentimeter / Kahoot.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  <a:latin typeface="Arial"/>
              </a:defRPr>
            </a:pPr>
            <a:r>
              <a:t>Algoritmos e Programação de Computadores 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