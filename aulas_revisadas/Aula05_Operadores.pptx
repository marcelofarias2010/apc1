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48"/>
  </p:notesMasterIdLst>
  <p:sldIdLst>
    <p:sldId id="256" r:id="rId2"/>
    <p:sldId id="302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3" r:id="rId25"/>
    <p:sldId id="304" r:id="rId24"/>
    <p:sldId id="305" r:id="rId23"/>
    <p:sldId id="306" r:id="rId22"/>
    <p:sldId id="301" r:id="rId47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256A9D-A1DA-4847-989C-4C4989DC4989}">
  <a:tblStyle styleId="{1D256A9D-A1DA-4847-989C-4C4989DC49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2" Type="http://schemas.openxmlformats.org/officeDocument/2006/relationships/slide" Target="slides/slide27.xml"/><Relationship Id="rId23" Type="http://schemas.openxmlformats.org/officeDocument/2006/relationships/slide" Target="slides/slide26.xml"/><Relationship Id="rId24" Type="http://schemas.openxmlformats.org/officeDocument/2006/relationships/slide" Target="slides/slide25.xml"/><Relationship Id="rId25" Type="http://schemas.openxmlformats.org/officeDocument/2006/relationships/slide" Target="slides/slide24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5.xml"/><Relationship Id="rId40" Type="http://schemas.openxmlformats.org/officeDocument/2006/relationships/slide" Target="slides/slide16.xml"/><Relationship Id="rId41" Type="http://schemas.openxmlformats.org/officeDocument/2006/relationships/slide" Target="slides/slide17.xml"/><Relationship Id="rId42" Type="http://schemas.openxmlformats.org/officeDocument/2006/relationships/slide" Target="slides/slide18.xml"/><Relationship Id="rId43" Type="http://schemas.openxmlformats.org/officeDocument/2006/relationships/slide" Target="slides/slide19.xml"/><Relationship Id="rId44" Type="http://schemas.openxmlformats.org/officeDocument/2006/relationships/slide" Target="slides/slide20.xml"/><Relationship Id="rId45" Type="http://schemas.openxmlformats.org/officeDocument/2006/relationships/slide" Target="slides/slide21.xml"/><Relationship Id="rId46" Type="http://schemas.openxmlformats.org/officeDocument/2006/relationships/slide" Target="slides/slide22.xml"/><Relationship Id="rId47" Type="http://schemas.openxmlformats.org/officeDocument/2006/relationships/slide" Target="slides/slide23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5deda7da1c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25deda7da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5deda7da1c_0_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25deda7da1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5deda7da1c_0_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25deda7da1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5deda7da1c_0_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5deda7da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5deda7da1c_0_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5deda7da1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5deda7da1c_0_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25deda7da1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deda7da1c_0_4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25deda7da1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5deda7da1c_0_4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25deda7da1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5deda7da1c_0_5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deda7da1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5deda7da1c_0_6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25deda7da1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5deda7da1c_0_7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25deda7da1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5deda7da1c_0_7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25deda7da1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deda7da1c_0_8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25deda7da1c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5deda7da1c_0_9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25deda7da1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5deda7da1c_0_9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25deda7da1c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5deda7da1c_0_10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25deda7da1c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5deda7da1c_0_1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5deda7da1c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5deda7da1c_0_1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25deda7da1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5deda7da1c_0_1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25deda7da1c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5deda7da1c_0_1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g25deda7da1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144000" y="157320"/>
            <a:ext cx="9792000" cy="58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3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2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345492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76584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14400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5"/>
          </p:nvPr>
        </p:nvSpPr>
        <p:spPr>
          <a:xfrm>
            <a:off x="345492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6"/>
          </p:nvPr>
        </p:nvSpPr>
        <p:spPr>
          <a:xfrm>
            <a:off x="676584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2520000" y="6887160"/>
            <a:ext cx="1440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04000" y="6887160"/>
            <a:ext cx="4608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856000" y="6887160"/>
            <a:ext cx="107964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44000" y="6769080"/>
            <a:ext cx="2275560" cy="6469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b="0" i="0" u="none" strike="noStrike" cap="none">
                <a:latin typeface="Arial"/>
                <a:ea typeface="Arial"/>
                <a:cs typeface="Arial"/>
                <a:sym typeface="Arial"/>
              </a:rPr>
              <a:t>Algoritmos e Programação de Computadores I</a:t>
            </a:r>
            <a:endParaRPr sz="4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u="none" strike="noStrike" cap="none" dirty="0">
                <a:latin typeface="Arial"/>
                <a:ea typeface="Arial"/>
                <a:cs typeface="Arial"/>
                <a:sym typeface="Arial"/>
              </a:rPr>
              <a:t>Operadores em C</a:t>
            </a:r>
            <a:r>
              <a:rPr lang="pt-BR" sz="4400" b="1" dirty="0"/>
              <a:t/>
            </a:r>
            <a:r>
              <a:rPr lang="pt-BR" sz="4400" b="1" i="0" u="none" strike="noStrike" cap="none" dirty="0">
                <a:latin typeface="Arial"/>
                <a:ea typeface="Arial"/>
                <a:cs typeface="Arial"/>
                <a:sym typeface="Arial"/>
              </a:rPr>
              <a:t/>
            </a:r>
            <a:r>
              <a:rPr lang="pt-BR" sz="4400" b="1" dirty="0"/>
              <a:t/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>Prof. Marcelo Farias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Aplicar operadores aritméticos, relacionais e lógicos.</a:t>
            </a:r>
          </a:p>
          <a:p>
            <a:pPr>
              <a:defRPr sz="2000">
                <a:latin typeface="Arial"/>
              </a:defRPr>
            </a:pPr>
            <a:r>
              <a:t>Diferenciar = e ==.</a:t>
            </a:r>
          </a:p>
          <a:p>
            <a:pPr>
              <a:defRPr sz="2000">
                <a:latin typeface="Arial"/>
              </a:defRPr>
            </a:pPr>
            <a:r>
              <a:t>Usar ++/-- e entender precedência.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Operadores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Símbolos usados para realizar operações entre valores e variáveis.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 provê operadores de atribuição, aritméticos, relacionais e lógicos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i="1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Há também alguns operadores especiais (ex.: sizeof, ternário, estrutura, ponteiro)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/>
          </a:p>
        </p:txBody>
      </p:sp>
      <p:sp>
        <p:nvSpPr>
          <p:cNvPr id="268" name="Google Shape;268;p3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69" name="Google Shape;269;p3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r>
              <a:rPr sz="1200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Operador de Atribuição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dirty="0"/>
              <a:t>Operador = c</a:t>
            </a:r>
            <a:r>
              <a:rPr lang="pt-BR" sz="3200" b="0" strike="noStrike" dirty="0">
                <a:latin typeface="Arial"/>
                <a:ea typeface="Arial"/>
                <a:cs typeface="Arial"/>
                <a:sym typeface="Arial"/>
              </a:rPr>
              <a:t>opia um valor para uma variável.</a:t>
            </a:r>
            <a:endParaRPr sz="3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 dirty="0">
                <a:latin typeface="Arial"/>
                <a:ea typeface="Arial"/>
                <a:cs typeface="Arial"/>
                <a:sym typeface="Arial"/>
              </a:rPr>
              <a:t>Pode ser usado dentro de qualquer expressão.</a:t>
            </a:r>
            <a:endParaRPr sz="3200" i="1" dirty="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 dirty="0">
                <a:latin typeface="Arial"/>
                <a:ea typeface="Arial"/>
                <a:cs typeface="Arial"/>
                <a:sym typeface="Arial"/>
              </a:rPr>
              <a:t>O valor atribuído é convertido </a:t>
            </a:r>
            <a:r>
              <a:rPr lang="pt-BR" sz="3200" dirty="0">
                <a:solidFill>
                  <a:schemeClr val="dk1"/>
                </a:solidFill>
              </a:rPr>
              <a:t>(</a:t>
            </a:r>
            <a:r>
              <a:rPr lang="pt-BR" sz="3200" i="1" dirty="0">
                <a:solidFill>
                  <a:schemeClr val="dk1"/>
                </a:solidFill>
              </a:rPr>
              <a:t>casting</a:t>
            </a:r>
            <a:r>
              <a:rPr lang="pt-BR" sz="3200" dirty="0">
                <a:solidFill>
                  <a:schemeClr val="dk1"/>
                </a:solidFill>
              </a:rPr>
              <a:t>) </a:t>
            </a:r>
            <a:r>
              <a:rPr lang="pt-BR" sz="3200" b="0" strike="noStrike" dirty="0">
                <a:latin typeface="Arial"/>
                <a:ea typeface="Arial"/>
                <a:cs typeface="Arial"/>
                <a:sym typeface="Arial"/>
              </a:rPr>
              <a:t>para o tipo da variável.</a:t>
            </a:r>
            <a:endParaRPr sz="3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77" name="Google Shape;277;p4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27</a:t>
            </a:fld>
            <a:r>
              <a:rPr sz="1200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Conversão de Tipos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Um valor de um tipo pode ser convertido em outro.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Necessário quando uma operação envolve tipos distintos (ex.: somar inteiro e ponto flutuante).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C permite a conversão implícita ou explícita.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28</a:t>
            </a:fld>
            <a:r>
              <a:rPr sz="1200"/>
              <a:t>5</a:t>
            </a:r>
            <a:endParaRPr/>
          </a:p>
        </p:txBody>
      </p:sp>
      <p:sp>
        <p:nvSpPr>
          <p:cNvPr id="285" name="Google Shape;285;p4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Conversão Implícita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O próprio compilador C se encarrega de converter.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tipo menor é automaticamente convertido no tipo maior (regra de ouro).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Exemplo: um char é convertido em int.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93" name="Google Shape;293;p4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29</a:t>
            </a:fld>
            <a:r>
              <a:rPr sz="1200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Conversão Explícita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O programador indica ao compilador como será a conversão</a:t>
            </a:r>
            <a:r>
              <a:rPr lang="pt-BR" sz="3200"/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Também chamada de </a:t>
            </a:r>
            <a:r>
              <a:rPr lang="pt-BR" sz="3200" i="1"/>
              <a:t>cast</a:t>
            </a:r>
            <a:r>
              <a:rPr lang="pt-BR" sz="3200"/>
              <a:t>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Pode levar à perda de informação.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Exemplo: (int) 2.56 é convertido para 2.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01" name="Google Shape;301;p4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30</a:t>
            </a:fld>
            <a:r>
              <a:rPr sz="1200"/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Conversão de Tipos Numéricos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7" name="Google Shape;307;p44"/>
          <p:cNvGraphicFramePr/>
          <p:nvPr/>
        </p:nvGraphicFramePr>
        <p:xfrm>
          <a:off x="505800" y="1419422"/>
          <a:ext cx="9068400" cy="5303600"/>
        </p:xfrm>
        <a:graphic>
          <a:graphicData uri="http://schemas.openxmlformats.org/drawingml/2006/table">
            <a:tbl>
              <a:tblPr>
                <a:noFill/>
                <a:tableStyleId>{1D256A9D-A1DA-4847-989C-4C4989DC4989}</a:tableStyleId>
              </a:tblPr>
              <a:tblGrid>
                <a:gridCol w="158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9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8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7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 \ PARA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char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short int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long int</a:t>
                      </a:r>
                      <a:b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long long int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float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double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long double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char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short int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long int</a:t>
                      </a:r>
                      <a:br>
                        <a:rPr lang="pt-BR" sz="2000"/>
                      </a:br>
                      <a:r>
                        <a:rPr lang="pt-BR" sz="2000"/>
                        <a:t>long long int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float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double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long double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perda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20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8" name="Google Shape;308;p4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09" name="Google Shape;309;p4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31</a:t>
            </a:fld>
            <a:r>
              <a:rPr sz="1200"/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Exemplos de Atribuição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char ch = 'c';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char nova_linha = '\n';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short int dias_ano = 365;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long long int chave_RSA = 1810299898998898988L;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float preco_unitario = 123.20f;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double preco_total = 12312.3420;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int x = 9.997; </a:t>
            </a:r>
            <a:r>
              <a:rPr lang="pt-BR" sz="2600" b="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valor 9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short y = 159655; </a:t>
            </a:r>
            <a:r>
              <a:rPr lang="pt-BR" sz="2600" b="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valor 28583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17" name="Google Shape;317;p4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32</a:t>
            </a:fld>
            <a:r>
              <a:rPr sz="1200"/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Operadores </a:t>
            </a:r>
            <a:r>
              <a:rPr lang="pt-BR" sz="4400"/>
              <a:t>Aritméticos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Operações da matemática tradicional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Podem ser aplicados a qualquer tipo numérico.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Uso de parênteses ( ) permite criar expressões aritméticas complexas, além de realizar cálculos na ordem correta.</a:t>
            </a:r>
            <a:endParaRPr sz="3200"/>
          </a:p>
          <a:p>
            <a:pPr marL="4572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endParaRPr sz="3200"/>
          </a:p>
          <a:p>
            <a:pPr marL="4572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endParaRPr sz="2400"/>
          </a:p>
          <a:p>
            <a:pPr marL="4572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400"/>
              <a:t>Obs.: A biblioteca "math.h" provê funções matemáticas (ex.: potência, raiz quadrada, logaritmo, etc.).</a:t>
            </a:r>
            <a:endParaRPr sz="2400"/>
          </a:p>
        </p:txBody>
      </p:sp>
      <p:sp>
        <p:nvSpPr>
          <p:cNvPr id="324" name="Google Shape;324;p4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25" name="Google Shape;325;p4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33</a:t>
            </a:fld>
            <a:r>
              <a:rPr sz="1200"/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/>
        </p:nvSpPr>
        <p:spPr>
          <a:xfrm>
            <a:off x="144313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Tabela de Operadores Aritméticos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1" name="Google Shape;331;p47"/>
          <p:cNvGraphicFramePr/>
          <p:nvPr/>
        </p:nvGraphicFramePr>
        <p:xfrm>
          <a:off x="361650" y="1584000"/>
          <a:ext cx="9389100" cy="4145360"/>
        </p:xfrm>
        <a:graphic>
          <a:graphicData uri="http://schemas.openxmlformats.org/drawingml/2006/table">
            <a:tbl>
              <a:tblPr>
                <a:noFill/>
                <a:tableStyleId>{1D256A9D-A1DA-4847-989C-4C4989DC4989}</a:tableStyleId>
              </a:tblPr>
              <a:tblGrid>
                <a:gridCol w="232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325">
                <a:tc>
                  <a:txBody>
                    <a:bodyPr/>
                    <a:lstStyle/>
                    <a:p>
                      <a:pPr marL="90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Operador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Ação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90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adição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90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subtração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90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multiplicação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90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divisão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90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resto da divisão 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90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decremento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9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incremento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2" name="Google Shape;332;p4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33" name="Google Shape;333;p47"/>
          <p:cNvSpPr txBox="1"/>
          <p:nvPr/>
        </p:nvSpPr>
        <p:spPr>
          <a:xfrm>
            <a:off x="361650" y="5909125"/>
            <a:ext cx="9389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Obs.: Permite concatenar com atribuição +=, -=, *=, /= e %= 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34" name="Google Shape;334;p4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34</a:t>
            </a:fld>
            <a:r>
              <a:rPr sz="1200"/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Incremento e Decremento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41" name="Google Shape;341;p4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35</a:t>
            </a:fld>
            <a:r>
              <a:rPr sz="1200"/>
              <a:t>12</a:t>
            </a:r>
            <a:endParaRPr/>
          </a:p>
        </p:txBody>
      </p:sp>
      <p:sp>
        <p:nvSpPr>
          <p:cNvPr id="342" name="Google Shape;342;p4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Operador ++ soma 1 enquanto que -- subtrai 1.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Ambos podem ser utilizados como prefixo ou sufixo da variável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Se for um prefixo, a operação é executada antes de usar o valor da variável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lvl="0" indent="-324000" algn="l" rtl="0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Se for um sufixo, a operação é executada depois de usar o valor da variável.</a:t>
            </a:r>
            <a:endParaRPr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Operadores Aritméticos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int x = 5 </a:t>
            </a:r>
            <a:r>
              <a:rPr lang="pt-BR" sz="2600"/>
              <a:t>/ 2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int y = x++;  </a:t>
            </a:r>
            <a:r>
              <a:rPr lang="pt-BR" sz="2600" b="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sufixo</a:t>
            </a:r>
            <a:endParaRPr sz="2600" b="0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int z = x % 2;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x = --y; </a:t>
            </a:r>
            <a:r>
              <a:rPr lang="pt-BR" sz="2600" b="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prefixo</a:t>
            </a:r>
            <a:endParaRPr sz="2600" b="0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double taxa = 2 / 100</a:t>
            </a:r>
            <a:r>
              <a:rPr lang="pt-BR" sz="2600"/>
              <a:t>.0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;	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double desconto = 50.0 * taxa;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preco -= desconto; 	</a:t>
            </a:r>
            <a:r>
              <a:rPr lang="pt-BR" sz="2600" b="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= preco - desconto</a:t>
            </a:r>
            <a:endParaRPr sz="2600" b="0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50" name="Google Shape;350;p4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36</a:t>
            </a:fld>
            <a:r>
              <a:rPr sz="1200"/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Operadores Relacionais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57" name="Google Shape;357;p5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37</a:t>
            </a:fld>
            <a:r>
              <a:rPr sz="1200"/>
              <a:t>14</a:t>
            </a:r>
            <a:endParaRPr/>
          </a:p>
        </p:txBody>
      </p:sp>
      <p:sp>
        <p:nvSpPr>
          <p:cNvPr id="358" name="Google Shape;358;p5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Operadores que realizam comparações entre valores.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Resultado da comparação é um valor inteiro.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Em C, falso é 0 (zero) e verdadeiro é 1 (um).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Ta</a:t>
            </a:r>
            <a:r>
              <a:rPr lang="pt-BR" sz="4400"/>
              <a:t>bela de 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Operadores Relacionais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4" name="Google Shape;364;p51"/>
          <p:cNvGraphicFramePr/>
          <p:nvPr/>
        </p:nvGraphicFramePr>
        <p:xfrm>
          <a:off x="354450" y="1584000"/>
          <a:ext cx="5685050" cy="3640525"/>
        </p:xfrm>
        <a:graphic>
          <a:graphicData uri="http://schemas.openxmlformats.org/drawingml/2006/table">
            <a:tbl>
              <a:tblPr>
                <a:noFill/>
                <a:tableStyleId>{1D256A9D-A1DA-4847-989C-4C4989DC4989}</a:tableStyleId>
              </a:tblPr>
              <a:tblGrid>
                <a:gridCol w="210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/>
                        <a:t>Operador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/>
                        <a:t>Ação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==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igualdade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!=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desigualdade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maior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&gt;=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maior ou igual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menor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&lt;=	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menor ou igual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5" name="Google Shape;365;p5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66" name="Google Shape;366;p5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38</a:t>
            </a:fld>
            <a:r>
              <a:rPr sz="1200"/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>
                <a:solidFill>
                  <a:schemeClr val="dk1"/>
                </a:solidFill>
              </a:rPr>
              <a:t>Operadores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Relacionais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int x = 10, y = 5;</a:t>
            </a:r>
            <a:endParaRPr sz="2600"/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int comparacao 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pt-BR" sz="2600"/>
              <a:t>x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lang="pt-BR" sz="2600"/>
              <a:t>y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;		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1"/>
                </a:solidFill>
              </a:rPr>
              <a:t>comparacao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pt-BR" sz="2600"/>
              <a:t>x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&lt;= </a:t>
            </a:r>
            <a:r>
              <a:rPr lang="pt-BR" sz="2600"/>
              <a:t>y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;		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1"/>
                </a:solidFill>
              </a:rPr>
              <a:t>comparacao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pt-BR" sz="2600"/>
              <a:t>x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00"/>
              <a:t>=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pt-BR" sz="2600"/>
              <a:t>y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;	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1"/>
                </a:solidFill>
              </a:rPr>
              <a:t>comparacao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pt-BR" sz="2600"/>
              <a:t>x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00"/>
              <a:t>!=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00"/>
              <a:t>y;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1"/>
                </a:solidFill>
              </a:rPr>
              <a:t>comparacao = x = y;</a:t>
            </a:r>
            <a:r>
              <a:rPr lang="pt-BR" sz="2600"/>
              <a:t>  </a:t>
            </a:r>
            <a:r>
              <a:rPr lang="pt-BR" sz="2600">
                <a:solidFill>
                  <a:srgbClr val="FF0000"/>
                </a:solidFill>
              </a:rPr>
              <a:t>// isso é atribuição múltipla</a:t>
            </a:r>
            <a:endParaRPr sz="2600">
              <a:solidFill>
                <a:srgbClr val="FF0000"/>
              </a:solidFill>
            </a:endParaRPr>
          </a:p>
        </p:txBody>
      </p:sp>
      <p:sp>
        <p:nvSpPr>
          <p:cNvPr id="373" name="Google Shape;373;p5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74" name="Google Shape;374;p5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39</a:t>
            </a:fld>
            <a:r>
              <a:rPr sz="1200"/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Operadores Lógicos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81" name="Google Shape;381;p5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40</a:t>
            </a:fld>
            <a:r>
              <a:rPr sz="1200"/>
              <a:t>17</a:t>
            </a:r>
            <a:endParaRPr/>
          </a:p>
        </p:txBody>
      </p:sp>
      <p:sp>
        <p:nvSpPr>
          <p:cNvPr id="382" name="Google Shape;382;p5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Operadores da álgebra booleana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Combinam valores lógicos para criar expressões lógicas.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Toda expressão lógica retorna 0 ou 1.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Tabela de Operadores Lógicos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8" name="Google Shape;388;p54"/>
          <p:cNvGraphicFramePr/>
          <p:nvPr/>
        </p:nvGraphicFramePr>
        <p:xfrm>
          <a:off x="354450" y="1584000"/>
          <a:ext cx="9260175" cy="2072680"/>
        </p:xfrm>
        <a:graphic>
          <a:graphicData uri="http://schemas.openxmlformats.org/drawingml/2006/table">
            <a:tbl>
              <a:tblPr>
                <a:noFill/>
                <a:tableStyleId>{1D256A9D-A1DA-4847-989C-4C4989DC4989}</a:tableStyleId>
              </a:tblPr>
              <a:tblGrid>
                <a:gridCol w="235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/>
                        <a:t>Operador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/>
                        <a:t>Ação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!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/>
                        <a:t>NÃO (</a:t>
                      </a:r>
                      <a:r>
                        <a:rPr lang="pt-BR" sz="2800">
                          <a:solidFill>
                            <a:schemeClr val="dk1"/>
                          </a:solidFill>
                        </a:rPr>
                        <a:t>inverte o valor lógico)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&amp;&amp;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/>
                        <a:t>E (é verdade se ambos são verdade)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||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/>
                        <a:t>OU (é verdade se um é verdade)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9" name="Google Shape;389;p5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90" name="Google Shape;390;p5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41</a:t>
            </a:fld>
            <a:r>
              <a:rPr sz="1200"/>
              <a:t>18</a:t>
            </a:r>
            <a:endParaRPr/>
          </a:p>
        </p:txBody>
      </p:sp>
      <p:sp>
        <p:nvSpPr>
          <p:cNvPr id="391" name="Google Shape;391;p54"/>
          <p:cNvSpPr txBox="1"/>
          <p:nvPr/>
        </p:nvSpPr>
        <p:spPr>
          <a:xfrm>
            <a:off x="283300" y="5604900"/>
            <a:ext cx="96525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Obs.: Não confundir com &amp; e | que são operadores de bit.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>
                <a:solidFill>
                  <a:schemeClr val="dk1"/>
                </a:solidFill>
              </a:rPr>
              <a:t>Operadores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Lógicos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lang="pt-BR" sz="2600"/>
              <a:t>condicao1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= !(10 &gt; 9);	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lang="pt-BR" sz="2600">
                <a:solidFill>
                  <a:schemeClr val="dk1"/>
                </a:solidFill>
              </a:rPr>
              <a:t>condicao</a:t>
            </a:r>
            <a:r>
              <a:rPr lang="pt-BR" sz="2600"/>
              <a:t>2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= (9 &gt; 3 &amp;&amp; 0) || 1;		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lang="pt-BR" sz="2600">
                <a:solidFill>
                  <a:schemeClr val="dk1"/>
                </a:solidFill>
              </a:rPr>
              <a:t>condicao</a:t>
            </a:r>
            <a:r>
              <a:rPr lang="pt-BR" sz="2600"/>
              <a:t>3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lang="pt-BR" sz="2600">
                <a:solidFill>
                  <a:schemeClr val="dk1"/>
                </a:solidFill>
              </a:rPr>
              <a:t>condicao1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|| </a:t>
            </a:r>
            <a:r>
              <a:rPr lang="pt-BR" sz="2600">
                <a:solidFill>
                  <a:schemeClr val="dk1"/>
                </a:solidFill>
              </a:rPr>
              <a:t>condicao2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) &amp;&amp; </a:t>
            </a:r>
            <a:br>
              <a:rPr lang="pt-BR" sz="2600" b="0" strike="noStrike">
                <a:latin typeface="Arial"/>
                <a:ea typeface="Arial"/>
                <a:cs typeface="Arial"/>
                <a:sym typeface="Arial"/>
              </a:rPr>
            </a:b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                          !(</a:t>
            </a:r>
            <a:r>
              <a:rPr lang="pt-BR" sz="2600">
                <a:solidFill>
                  <a:schemeClr val="dk1"/>
                </a:solidFill>
              </a:rPr>
              <a:t>condicao1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&amp;&amp; </a:t>
            </a:r>
            <a:r>
              <a:rPr lang="pt-BR" sz="2600">
                <a:solidFill>
                  <a:schemeClr val="dk1"/>
                </a:solidFill>
              </a:rPr>
              <a:t>condicao2</a:t>
            </a: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);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99" name="Google Shape;399;p5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42</a:t>
            </a:fld>
            <a:r>
              <a:rPr sz="1200"/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Operador </a:t>
            </a:r>
            <a:r>
              <a:rPr lang="pt-BR" sz="4400"/>
              <a:t>sizeof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Operador em tempo de compilação.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Retorna o tamanho em bytes da variável ou tipo.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Exemplo:</a:t>
            </a:r>
            <a:endParaRPr sz="3200"/>
          </a:p>
          <a:p>
            <a:pPr marL="9144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sizeof(float);</a:t>
            </a:r>
            <a:endParaRPr sz="2600"/>
          </a:p>
          <a:p>
            <a:pPr marL="9144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int numero;</a:t>
            </a:r>
            <a:endParaRPr sz="2600"/>
          </a:p>
          <a:p>
            <a:pPr marL="9144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sizeof(numero);</a:t>
            </a:r>
            <a:endParaRPr sz="2600"/>
          </a:p>
        </p:txBody>
      </p:sp>
      <p:sp>
        <p:nvSpPr>
          <p:cNvPr id="406" name="Google Shape;406;p5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407" name="Google Shape;407;p5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43</a:t>
            </a:fld>
            <a:r>
              <a:rPr sz="1200"/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Precedência dos Operadores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 define uma hierarquia de precedência que indica qual operador deve ser executado primeiro.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Operadores do mesmo nível de precedência são avaliados da esquerda para direita.</a:t>
            </a:r>
            <a:endParaRPr sz="2600"/>
          </a:p>
        </p:txBody>
      </p:sp>
      <p:sp>
        <p:nvSpPr>
          <p:cNvPr id="414" name="Google Shape;414;p5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415" name="Google Shape;415;p5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44</a:t>
            </a:fld>
            <a:r>
              <a:rPr sz="1200"/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Tabela de Precedência no C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1" name="Google Shape;421;p58"/>
          <p:cNvGraphicFramePr/>
          <p:nvPr/>
        </p:nvGraphicFramePr>
        <p:xfrm>
          <a:off x="144000" y="1584000"/>
          <a:ext cx="9792000" cy="4572080"/>
        </p:xfrm>
        <a:graphic>
          <a:graphicData uri="http://schemas.openxmlformats.org/drawingml/2006/table">
            <a:tbl>
              <a:tblPr>
                <a:noFill/>
                <a:tableStyleId>{1D256A9D-A1DA-4847-989C-4C4989DC4989}</a:tableStyleId>
              </a:tblPr>
              <a:tblGrid>
                <a:gridCol w="302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325">
                <a:tc>
                  <a:txBody>
                    <a:bodyPr/>
                    <a:lstStyle/>
                    <a:p>
                      <a:pPr marL="90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Maior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 )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/>
                        <a:t>! </a:t>
                      </a:r>
                      <a:r>
                        <a:rPr lang="pt-BR" sz="28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 -- sizeof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 / %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 -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>
                          <a:solidFill>
                            <a:schemeClr val="dk1"/>
                          </a:solidFill>
                        </a:rPr>
                        <a:t>&lt; &lt;= &gt; &gt;=</a:t>
                      </a:r>
                      <a:br>
                        <a:rPr lang="pt-BR" sz="1800"/>
                      </a:br>
                      <a:r>
                        <a:rPr lang="pt-BR" sz="2800">
                          <a:solidFill>
                            <a:schemeClr val="dk1"/>
                          </a:solidFill>
                        </a:rPr>
                        <a:t>== !=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pt-BR" sz="2800">
                          <a:solidFill>
                            <a:schemeClr val="dk1"/>
                          </a:solidFill>
                        </a:rPr>
                        <a:t>&amp;&amp;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||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325">
                <a:tc>
                  <a:txBody>
                    <a:bodyPr/>
                    <a:lstStyle/>
                    <a:p>
                      <a:pPr marL="90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Menor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 += -= *= /= %=</a:t>
                      </a:r>
                      <a:endParaRPr sz="2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22" name="Google Shape;422;p5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423" name="Google Shape;423;p5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45</a:t>
            </a:fld>
            <a:r>
              <a:rPr sz="1200"/>
              <a:t>22</a:t>
            </a:r>
            <a:endParaRPr/>
          </a:p>
        </p:txBody>
      </p:sp>
      <p:sp>
        <p:nvSpPr>
          <p:cNvPr id="424" name="Google Shape;424;p58"/>
          <p:cNvSpPr/>
          <p:nvPr/>
        </p:nvSpPr>
        <p:spPr>
          <a:xfrm>
            <a:off x="517050" y="2285875"/>
            <a:ext cx="473400" cy="32817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9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Referências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71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SCHILDT, Herbert. C: Completo e Total. 3. ed. Pearson Makron Books, 1997.</a:t>
            </a:r>
            <a:endParaRPr sz="2400">
              <a:solidFill>
                <a:schemeClr val="dk1"/>
              </a:solidFill>
            </a:endParaRPr>
          </a:p>
          <a:p>
            <a:pPr marL="457200" lvl="0" indent="-29718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ANTONELLO, Ricardo. Linguagem C. 1. ed. Livro Digital, 2020.</a:t>
            </a:r>
            <a:endParaRPr sz="2400"/>
          </a:p>
        </p:txBody>
      </p:sp>
      <p:sp>
        <p:nvSpPr>
          <p:cNvPr id="431" name="Google Shape;431;p5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432" name="Google Shape;432;p5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46</a:t>
            </a:fld>
            <a:r>
              <a:rPr sz="1200"/>
              <a:t>27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Mapa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Aula (teoria): Aula05 — Operadores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Laboratório guiado: Pratica03 / Pratica04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Atividade avaliativa: Atividade01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Sugestão de ritmo: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Conceitos nos slides   2) Prática no lab   3) Atividade sem 'receita'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Para estudar no livro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Livro-base: ANTONELLO, Ricardo. Linguagem C. 1. ed.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Leitura indicada: Cap. 4.9–4.12 (p. 38–41)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Exercícios do livro: Exercícios 4.13 (operadores)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Revise o capítulo após a aula e antes da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Desafio (8 min)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Calcule e confira no código: int x=5/2; int y=x++; int z=x%2; Quais os valores finais de x, y e z?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Trabalhe em dupla (instrução por pares).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Ao final, uma dupla compartilha a solução com a turma.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Quiz rápido (3 perguntas)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Qual a diferença entre = e == 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2) O que retorna uma expressão relacional em C?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3) Por que 2/100 pode dar 0 com int?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Respostas no quadro / Mentimeter / Kahoot.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2422</Words>
  <Application>Microsoft Office PowerPoint</Application>
  <PresentationFormat>Personalizar</PresentationFormat>
  <Paragraphs>482</Paragraphs>
  <Slides>46</Slides>
  <Notes>46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49" baseType="lpstr">
      <vt:lpstr>Arial</vt:lpstr>
      <vt:lpstr>Noto Sans Symbols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marcelo alves farias</cp:lastModifiedBy>
  <cp:revision>2</cp:revision>
  <dcterms:modified xsi:type="dcterms:W3CDTF">2026-07-20T18:26:15Z</dcterms:modified>
</cp:coreProperties>
</file>