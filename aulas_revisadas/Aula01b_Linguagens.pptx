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5"/>
  </p:notesMasterIdLst>
  <p:sldIdLst>
    <p:sldId id="256" r:id="rId2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30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29"/>
    <p:sldId id="300" r:id="rId31"/>
    <p:sldId id="301" r:id="rId20"/>
    <p:sldId id="302" r:id="rId19"/>
    <p:sldId id="298" r:id="rId44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6095A-88EA-4102-AC07-4C38B9936386}">
  <a:tblStyle styleId="{E6E6095A-88EA-4102-AC07-4C38B99363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5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9" Type="http://schemas.openxmlformats.org/officeDocument/2006/relationships/slide" Target="slides/slide27.xml"/><Relationship Id="rId20" Type="http://schemas.openxmlformats.org/officeDocument/2006/relationships/slide" Target="slides/slide26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24.xml"/><Relationship Id="rId30" Type="http://schemas.openxmlformats.org/officeDocument/2006/relationships/slide" Target="slides/slide10.xml"/><Relationship Id="rId31" Type="http://schemas.openxmlformats.org/officeDocument/2006/relationships/slide" Target="slides/slide25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c2692ac7df_0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c2692ac7d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c2692ac7df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c2692ac7d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79b9faa152_0_1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79b9faa152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c17e1b26e8_0_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c17e1b26e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68fba110c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1368fba11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368fba110c_0_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1368fba110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368fba110c_0_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1368fba110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68fba110c_0_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1368fba110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79b9faa152_0_1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79b9faa152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c2692ac7df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c2692ac7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c2692ac7df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c2692ac7d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30e7aa6ed_0_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630e7aa6e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c17e1b26e8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c17e1b26e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c17e1b26e8_0_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c17e1b26e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c2692ac7df_0_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c2692ac7d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79b9faa152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79b9faa15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e21df00b8c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e21df00b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c17e1b26e8_0_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c17e1b26e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e21df00b8c_0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e21df00b8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79b9faa152_0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79b9faa15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21df00b8c_0_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e21df00b8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3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4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2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3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4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5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6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0" i="0" u="none" strike="noStrike" cap="non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/>
              <a:t>Linguagens e Tradução</a:t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r>
              <a:t/>
            </a:r>
          </a:p>
          <a:p>
            <a:r>
              <a:t/>
            </a:r>
          </a:p>
          <a:p>
            <a: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Diferença entre Algoritmo e Programa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r>
              <a:rPr sz="1200"/>
              <a:t>2</a:t>
            </a:r>
            <a:endParaRPr/>
          </a:p>
        </p:txBody>
      </p:sp>
      <p:pic>
        <p:nvPicPr>
          <p:cNvPr id="232" name="Google Shape;232;p33"/>
          <p:cNvPicPr preferRelativeResize="0"/>
          <p:nvPr/>
        </p:nvPicPr>
        <p:blipFill rotWithShape="1">
          <a:blip r:embed="rId3">
            <a:alphaModFix/>
          </a:blip>
          <a:srcRect l="6506" t="23202" r="8119" b="16814"/>
          <a:stretch/>
        </p:blipFill>
        <p:spPr>
          <a:xfrm>
            <a:off x="144000" y="1627850"/>
            <a:ext cx="9792001" cy="4303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Linguagem Natural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Forma dos seres humanos expressarem um raciocínio e trocarem informações.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Composta por um conjunto símbolos e significados.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Repleta de regras e ambiguidades que variam conforme idioma e região.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Linguagem de Máquina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Representa os estados da máquina: ligado (1) ou desligado (0).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Composta somente de números binários, que são sequências de </a:t>
            </a:r>
            <a:r>
              <a:rPr lang="pt-BR" sz="3200" b="1">
                <a:solidFill>
                  <a:schemeClr val="dk1"/>
                </a:solidFill>
              </a:rPr>
              <a:t>bits</a:t>
            </a:r>
            <a:r>
              <a:rPr lang="pt-BR" sz="3200">
                <a:solidFill>
                  <a:schemeClr val="dk1"/>
                </a:solidFill>
              </a:rPr>
              <a:t> (0s e 1s).</a:t>
            </a:r>
            <a:endParaRPr sz="3200">
              <a:solidFill>
                <a:schemeClr val="dk1"/>
              </a:solidFill>
            </a:endParaRPr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Não é compreendida diretamente pelo ser humano.</a:t>
            </a:r>
            <a:endParaRPr sz="32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200"/>
          </a:p>
          <a:p>
            <a:pPr marL="45720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/>
              <a:t>Nota: O termo bit vem de binary digit (dígito binário) e é a menor unidade de informação em computação. Tudo que o computador processa - números, letras, imagens - é, em última instância, representado por sequências de bits.</a:t>
            </a:r>
            <a:endParaRPr sz="2400"/>
          </a:p>
        </p:txBody>
      </p:sp>
      <p:sp>
        <p:nvSpPr>
          <p:cNvPr id="247" name="Google Shape;247;p3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Comunicação entre Humano/Máquina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r>
              <a:rPr sz="1200"/>
              <a:t>5</a:t>
            </a:r>
            <a:endParaRPr/>
          </a:p>
        </p:txBody>
      </p:sp>
      <p:pic>
        <p:nvPicPr>
          <p:cNvPr id="256" name="Google Shape;25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1571820"/>
            <a:ext cx="9775824" cy="335333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 txBox="1"/>
          <p:nvPr/>
        </p:nvSpPr>
        <p:spPr>
          <a:xfrm>
            <a:off x="1663450" y="5077550"/>
            <a:ext cx="1975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LINGUAGEM NATURAL</a:t>
            </a:r>
            <a:endParaRPr sz="2200"/>
          </a:p>
        </p:txBody>
      </p:sp>
      <p:sp>
        <p:nvSpPr>
          <p:cNvPr id="258" name="Google Shape;258;p36"/>
          <p:cNvSpPr txBox="1"/>
          <p:nvPr/>
        </p:nvSpPr>
        <p:spPr>
          <a:xfrm>
            <a:off x="5792275" y="5077550"/>
            <a:ext cx="3148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LINGUAGEM DE MÁQUINA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Sistemas de Numeração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r>
              <a:rPr sz="1200"/>
              <a:t>6</a:t>
            </a:r>
            <a:endParaRPr/>
          </a:p>
        </p:txBody>
      </p:sp>
      <p:sp>
        <p:nvSpPr>
          <p:cNvPr id="266" name="Google Shape;266;p3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Decimal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298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−"/>
            </a:pPr>
            <a:r>
              <a:rPr lang="pt-BR" sz="2800"/>
              <a:t>10 símbolos para representar os números (0 a 9).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Binário</a:t>
            </a:r>
            <a:endParaRPr sz="320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</a:pPr>
            <a:r>
              <a:rPr lang="pt-BR" sz="2800">
                <a:solidFill>
                  <a:schemeClr val="dk1"/>
                </a:solidFill>
              </a:rPr>
              <a:t>2 símbolos para representar os números (0 ou 1).</a:t>
            </a:r>
            <a:endParaRPr sz="2800">
              <a:solidFill>
                <a:schemeClr val="dk1"/>
              </a:solidFill>
            </a:endParaRPr>
          </a:p>
          <a:p>
            <a:pPr marL="45720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Hexadecimal</a:t>
            </a:r>
            <a:endParaRPr sz="320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−"/>
            </a:pPr>
            <a:r>
              <a:rPr lang="pt-BR" sz="2800">
                <a:solidFill>
                  <a:schemeClr val="dk1"/>
                </a:solidFill>
              </a:rPr>
              <a:t>16 símbolos para representar os números (0 a 9, A a F).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Conversão de Base 10 para Base 2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73" name="Google Shape;273;p3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r>
              <a:rPr sz="1200"/>
              <a:t>7</a:t>
            </a:r>
            <a:endParaRPr/>
          </a:p>
        </p:txBody>
      </p:sp>
      <p:pic>
        <p:nvPicPr>
          <p:cNvPr id="274" name="Google Shape;27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3209"/>
            <a:ext cx="9792000" cy="549211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8"/>
          <p:cNvSpPr txBox="1"/>
          <p:nvPr/>
        </p:nvSpPr>
        <p:spPr>
          <a:xfrm>
            <a:off x="6580400" y="2183250"/>
            <a:ext cx="2852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95</a:t>
            </a:r>
            <a:r>
              <a:rPr lang="pt-BR" sz="2800" baseline="-25000"/>
              <a:t>10</a:t>
            </a:r>
            <a:r>
              <a:rPr lang="pt-BR" sz="2800"/>
              <a:t> = 1011111</a:t>
            </a:r>
            <a:r>
              <a:rPr lang="pt-BR" sz="2800" baseline="-25000"/>
              <a:t>2</a:t>
            </a:r>
            <a:endParaRPr sz="2800" baseline="-25000"/>
          </a:p>
        </p:txBody>
      </p:sp>
      <p:sp>
        <p:nvSpPr>
          <p:cNvPr id="276" name="Google Shape;276;p38"/>
          <p:cNvSpPr txBox="1"/>
          <p:nvPr/>
        </p:nvSpPr>
        <p:spPr>
          <a:xfrm>
            <a:off x="4416581" y="4225700"/>
            <a:ext cx="4725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chemeClr val="lt1"/>
                </a:highlight>
              </a:rPr>
              <a:t>7</a:t>
            </a:r>
            <a:endParaRPr sz="1800">
              <a:highlight>
                <a:schemeClr val="lt1"/>
              </a:highlight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4416581" y="4837925"/>
            <a:ext cx="4725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000FF"/>
                </a:solidFill>
                <a:highlight>
                  <a:schemeClr val="lt1"/>
                </a:highlight>
              </a:rPr>
              <a:t>7</a:t>
            </a:r>
            <a:endParaRPr sz="1800" b="1">
              <a:solidFill>
                <a:srgbClr val="0000FF"/>
              </a:solidFill>
              <a:highlight>
                <a:schemeClr val="lt1"/>
              </a:highlight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5197381" y="4837925"/>
            <a:ext cx="4725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chemeClr val="lt1"/>
                </a:highlight>
              </a:rPr>
              <a:t>7</a:t>
            </a:r>
            <a:endParaRPr sz="1800">
              <a:highlight>
                <a:schemeClr val="lt1"/>
              </a:highlight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5197381" y="5373975"/>
            <a:ext cx="4725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000FF"/>
                </a:solidFill>
                <a:highlight>
                  <a:schemeClr val="lt1"/>
                </a:highlight>
              </a:rPr>
              <a:t>7</a:t>
            </a:r>
            <a:endParaRPr sz="1800" b="1">
              <a:solidFill>
                <a:srgbClr val="0000FF"/>
              </a:solidFill>
              <a:highlight>
                <a:schemeClr val="lt1"/>
              </a:highlight>
            </a:endParaRPr>
          </a:p>
        </p:txBody>
      </p:sp>
      <p:sp>
        <p:nvSpPr>
          <p:cNvPr id="280" name="Google Shape;280;p38"/>
          <p:cNvSpPr txBox="1"/>
          <p:nvPr/>
        </p:nvSpPr>
        <p:spPr>
          <a:xfrm>
            <a:off x="5971556" y="5407046"/>
            <a:ext cx="4725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chemeClr val="lt1"/>
                </a:highlight>
              </a:rPr>
              <a:t>7</a:t>
            </a:r>
            <a:endParaRPr sz="1800">
              <a:highlight>
                <a:schemeClr val="lt1"/>
              </a:highlight>
            </a:endParaRPr>
          </a:p>
        </p:txBody>
      </p:sp>
      <p:sp>
        <p:nvSpPr>
          <p:cNvPr id="281" name="Google Shape;281;p38"/>
          <p:cNvSpPr txBox="1"/>
          <p:nvPr/>
        </p:nvSpPr>
        <p:spPr>
          <a:xfrm>
            <a:off x="5971556" y="5996021"/>
            <a:ext cx="4725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000FF"/>
                </a:solidFill>
                <a:highlight>
                  <a:schemeClr val="lt1"/>
                </a:highlight>
              </a:rPr>
              <a:t>7</a:t>
            </a:r>
            <a:endParaRPr sz="1800" b="1">
              <a:solidFill>
                <a:srgbClr val="0000FF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Conversão de Base 2 para Base 10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r>
              <a:rPr sz="1200"/>
              <a:t>8</a:t>
            </a:r>
            <a:endParaRPr/>
          </a:p>
        </p:txBody>
      </p:sp>
      <p:pic>
        <p:nvPicPr>
          <p:cNvPr id="289" name="Google Shape;2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3203"/>
            <a:ext cx="9775826" cy="410846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/>
        </p:nvSpPr>
        <p:spPr>
          <a:xfrm>
            <a:off x="5946100" y="5895700"/>
            <a:ext cx="3195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10110000</a:t>
            </a:r>
            <a:r>
              <a:rPr lang="pt-BR" sz="2800" baseline="-25000"/>
              <a:t>2</a:t>
            </a:r>
            <a:r>
              <a:rPr lang="pt-BR" sz="2800"/>
              <a:t> = 176</a:t>
            </a:r>
            <a:r>
              <a:rPr lang="pt-BR" sz="2800" baseline="-25000"/>
              <a:t>10</a:t>
            </a:r>
            <a:endParaRPr sz="2800" baseline="-2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Codificação de Caracteres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r>
              <a:rPr sz="1200"/>
              <a:t>9</a:t>
            </a:r>
            <a:endParaRPr/>
          </a:p>
        </p:txBody>
      </p:sp>
      <p:sp>
        <p:nvSpPr>
          <p:cNvPr id="298" name="Google Shape;298;p4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Há codificações padronizadas que representam caracteres da linguagem natural em números.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i="1"/>
              <a:t>American Standard Code for Information Interchange</a:t>
            </a:r>
            <a:r>
              <a:rPr lang="pt-BR" sz="3200"/>
              <a:t> ou ASCII é o mais conhecido.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padrão original utiliza 7 bits podendo representar 128 caracteres, e o padrão estendido utiliza 8 bits podendo representar 256 caracteres.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Linguagem de Programação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Forma padronizada de escrever instruções para um computador.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Possui sintaxe e semântica bem definidas.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Classificada em baixo nível (ex.: Assembly) ou alto nível (ex.: Pascal, Java e JavaScript)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 programa escrito em uma linguagem de programação é chamado de</a:t>
            </a:r>
            <a:r>
              <a:rPr lang="pt-BR" sz="3200" b="1"/>
              <a:t> código fonte</a:t>
            </a:r>
            <a:r>
              <a:rPr lang="pt-BR" sz="3200"/>
              <a:t>.</a:t>
            </a:r>
            <a:endParaRPr sz="3200" strike="noStrike"/>
          </a:p>
        </p:txBody>
      </p:sp>
      <p:sp>
        <p:nvSpPr>
          <p:cNvPr id="312" name="Google Shape;312;p4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13" name="Google Shape;313;p4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Linguagem de Montagem (</a:t>
            </a:r>
            <a:r>
              <a:rPr lang="pt-BR" sz="4400" i="1"/>
              <a:t>Assembly</a:t>
            </a:r>
            <a:r>
              <a:rPr lang="pt-BR" sz="4400"/>
              <a:t>)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Representação simbólica da linguagem de máquina.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Operações e operandos são substituídos respectivamente por mnemônicos (ex.: ADD, MOV) e rótulos (ex.: A, B).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Gera instruções binárias específicas para cada arquitetura de CPU.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29" name="Google Shape;329;p4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Linguagem </a:t>
            </a:r>
            <a:r>
              <a:rPr lang="pt-BR" sz="4400"/>
              <a:t>Assembly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36" name="Google Shape;336;p4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r>
              <a:rPr sz="1200"/>
              <a:t>12</a:t>
            </a:r>
            <a:endParaRPr/>
          </a:p>
        </p:txBody>
      </p:sp>
      <p:sp>
        <p:nvSpPr>
          <p:cNvPr id="337" name="Google Shape;337;p45"/>
          <p:cNvSpPr txBox="1"/>
          <p:nvPr/>
        </p:nvSpPr>
        <p:spPr>
          <a:xfrm>
            <a:off x="144313" y="1628575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77500" lnSpcReduction="20000"/>
          </a:bodyPr>
          <a:lstStyle/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section .data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msg db 'Olá Turma'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section .text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global _start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mov eax, 4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mov ebx, 1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mov ecx, msg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mov edx, 9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int 0x80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mov eax, 1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xor ebx, ebx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int 0x80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Explicando o Código em Assembly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6"/>
          <p:cNvSpPr txBox="1"/>
          <p:nvPr/>
        </p:nvSpPr>
        <p:spPr>
          <a:xfrm>
            <a:off x="-50" y="1584000"/>
            <a:ext cx="100806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section .data             ; Seção de dados, onde são declaradas as variáveis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msg db 'Olá Turma'    ; Define a mensagem a ser exibida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section .text             ; Seção de código, onde ficam as instruções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global _start         ; Indica o ponto de entrada do programa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_start:                   ; Rótulo de início da execução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mov eax, 4            ; 4 = código da chamada 'write' no sistema operacional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mov ebx, 1            ; 1 = descritor de arquivo da saída padrão (tela)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mov ecx, msg          ; Endereço da mensagem a ser exibida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mov edx, 9            ; 9 = tamanho da mensagem em bytes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int 0x80              ; Interrupção para exibir a mensagem na tela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mov eax, 1            ; 1 = código da chamada 'exit' no sistema operacional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xor ebx, ebx          ; 0 = código de saída do programa (padrão)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    int 0x80              ; Interrupção para finalizar o programa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4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45" name="Google Shape;345;p4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33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Linguagem de Alto Nível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Mais próxima da linguagem natural.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 palavras-chave extraídas do vocabulário humano.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Requer que um código seja traduzido para linguagem de máquina.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53" name="Google Shape;353;p4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34</a:t>
            </a:fld>
            <a:r>
              <a:rPr sz="1200"/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Linguagem Pascal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program ola_turma;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    writeln("Olá Turma");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latin typeface="Courier New"/>
                <a:ea typeface="Courier New"/>
                <a:cs typeface="Courier New"/>
                <a:sym typeface="Courier New"/>
              </a:rPr>
              <a:t>end.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0" name="Google Shape;360;p4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61" name="Google Shape;361;p4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Formas de Traduzir da LP para LM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68" name="Google Shape;368;p4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36</a:t>
            </a:fld>
            <a:r>
              <a:rPr sz="1200"/>
              <a:t>16</a:t>
            </a:r>
            <a:endParaRPr/>
          </a:p>
        </p:txBody>
      </p:sp>
      <p:pic>
        <p:nvPicPr>
          <p:cNvPr id="369" name="Google Shape;369;p49"/>
          <p:cNvPicPr preferRelativeResize="0"/>
          <p:nvPr/>
        </p:nvPicPr>
        <p:blipFill rotWithShape="1">
          <a:blip r:embed="rId3">
            <a:alphaModFix/>
          </a:blip>
          <a:srcRect l="5634" t="16129" b="15293"/>
          <a:stretch/>
        </p:blipFill>
        <p:spPr>
          <a:xfrm>
            <a:off x="144000" y="1419425"/>
            <a:ext cx="9791998" cy="498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Montagem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Cada instrução é convertida diretamente para código de máquina.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 montador (</a:t>
            </a:r>
            <a:r>
              <a:rPr lang="pt-BR" sz="3200" i="1"/>
              <a:t>assembler</a:t>
            </a:r>
            <a:r>
              <a:rPr lang="pt-BR" sz="3200"/>
              <a:t>) é quem faz a tradução.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resultado é um arquivo executável, pronto para ser entendido e executado pela CPU.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77" name="Google Shape;377;p5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37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Fluxo da </a:t>
            </a:r>
            <a:r>
              <a:rPr lang="pt-BR" sz="4400"/>
              <a:t>Montagem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84" name="Google Shape;384;p5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38</a:t>
            </a:fld>
            <a:r>
              <a:rPr sz="1200"/>
              <a:t>18</a:t>
            </a:r>
            <a:endParaRPr/>
          </a:p>
        </p:txBody>
      </p:sp>
      <p:pic>
        <p:nvPicPr>
          <p:cNvPr id="385" name="Google Shape;3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000" y="2280425"/>
            <a:ext cx="6497999" cy="29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Compilação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Código fonte é traduzido para código de máquina gerando um arquivo executável (</a:t>
            </a:r>
            <a:r>
              <a:rPr lang="pt-BR" sz="3200" i="1"/>
              <a:t>Ahead-Of-Time</a:t>
            </a:r>
            <a:r>
              <a:rPr lang="pt-BR" sz="3200"/>
              <a:t>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 compilador é encarregado da tradução, e contém um montador embutido.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93" name="Google Shape;393;p5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39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Fluxo da </a:t>
            </a:r>
            <a:r>
              <a:rPr lang="pt-BR" sz="4400"/>
              <a:t>Compilação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00" name="Google Shape;400;p5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40</a:t>
            </a:fld>
            <a:r>
              <a:rPr sz="1200"/>
              <a:t>20</a:t>
            </a:r>
            <a:endParaRPr/>
          </a:p>
        </p:txBody>
      </p:sp>
      <p:pic>
        <p:nvPicPr>
          <p:cNvPr id="401" name="Google Shape;40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10720"/>
            <a:ext cx="9775823" cy="2738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Interpretação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Código fonte é traduzido em código de máquina em tempo de execução (</a:t>
            </a:r>
            <a:r>
              <a:rPr lang="pt-BR" sz="3200" i="1"/>
              <a:t>Just-In-Time</a:t>
            </a:r>
            <a:r>
              <a:rPr lang="pt-BR" sz="3200"/>
              <a:t>).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 interpretador é responsável pela tradução.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Não é gerado um arquivo executável independente.</a:t>
            </a:r>
            <a:endParaRPr sz="3200"/>
          </a:p>
          <a:p>
            <a:pPr marL="431999" marR="0" lvl="0" indent="-324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código é executado diretamente pelo interpretador, instrução por instrução.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09" name="Google Shape;409;p5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41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Flu</a:t>
            </a:r>
            <a:r>
              <a:rPr lang="pt-BR" sz="4400"/>
              <a:t>xo da Interpretação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16" name="Google Shape;416;p5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42</a:t>
            </a:fld>
            <a:r>
              <a:rPr sz="1200"/>
              <a:t>22</a:t>
            </a:r>
            <a:endParaRPr/>
          </a:p>
        </p:txBody>
      </p:sp>
      <p:sp>
        <p:nvSpPr>
          <p:cNvPr id="417" name="Google Shape;417;p55"/>
          <p:cNvSpPr/>
          <p:nvPr/>
        </p:nvSpPr>
        <p:spPr>
          <a:xfrm>
            <a:off x="6803850" y="4050450"/>
            <a:ext cx="2048100" cy="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55"/>
          <p:cNvSpPr/>
          <p:nvPr/>
        </p:nvSpPr>
        <p:spPr>
          <a:xfrm>
            <a:off x="732650" y="2924125"/>
            <a:ext cx="2048100" cy="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9" name="Google Shape;41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475" y="2281138"/>
            <a:ext cx="6499051" cy="2997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IFRN. Programa de Computador - Portal IFRN. Disponível em &lt;https://portal.ifrn.edu.br/pesquisa/nit/software&gt;.</a:t>
            </a:r>
            <a:endParaRPr sz="2400"/>
          </a:p>
        </p:txBody>
      </p:sp>
      <p:sp>
        <p:nvSpPr>
          <p:cNvPr id="426" name="Google Shape;426;p5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27" name="Google Shape;427;p5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43</a:t>
            </a:fld>
            <a:r>
              <a:rPr sz="1200"/>
              <a:t>27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Aula01b — Linguagens e tradução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Pratica01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Atividade01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1 (binário) e Cap. 3.3 (compilador), p. 6–14 e 23–24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1.4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Classifique Python, C e Assembly quanto à tradução. Cite uma vantagem de cada abordagem.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O que faz um compilador?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Diferença entre linguagem de alto e baixo nível?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Montagem, compilação e interpretação: qual gera executável antecipadamente?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1809</Words>
  <Application>Microsoft Office PowerPoint</Application>
  <PresentationFormat>Personalizar</PresentationFormat>
  <Paragraphs>295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7" baseType="lpstr">
      <vt:lpstr>Arial</vt:lpstr>
      <vt:lpstr>Courier New</vt:lpstr>
      <vt:lpstr>Noto Sans Symbols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Alves Farias</cp:lastModifiedBy>
  <cp:revision>1</cp:revision>
  <dcterms:modified xsi:type="dcterms:W3CDTF">2026-06-26T14:07:59Z</dcterms:modified>
</cp:coreProperties>
</file>