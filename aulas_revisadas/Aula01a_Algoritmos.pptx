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6"/>
    <p:sldId id="276" r:id="rId27"/>
    <p:sldId id="277" r:id="rId28"/>
    <p:sldId id="278" r:id="rId29"/>
    <p:sldId id="279" r:id="rId30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6095A-88EA-4102-AC07-4C38B9936386}">
  <a:tblStyle styleId="{E6E6095A-88EA-4102-AC07-4C38B99363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5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79b9faa152_0_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79b9faa15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30e7aa6ed_0_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30e7aa6e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79b9faa152_0_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79b9faa152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9b9faa152_0_7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79b9faa152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9b9faa152_0_8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79b9faa15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79b9faa152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79b9faa1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9b9faa152_0_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79b9faa15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9b9faa152_0_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79b9faa15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9b9faa152_0_1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79b9faa15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9b9faa152_0_9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79b9faa152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79b9faa152_0_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79b9faa152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9b9faa152_0_6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79b9faa152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30e7aa6ed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630e7aa6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c2692ac7df_0_3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c2692ac7d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2692ac7df_0_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c2692ac7df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30e7aa6ed_0_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630e7aa6e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9b9faa152_0_10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79b9faa152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3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4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2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3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4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5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6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b="0" i="0" u="none" strike="noStrike" cap="non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sz="4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dirty="0"/>
              <a:t>Introdução aos Algoritmos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r>
              <a:t/>
            </a:r>
          </a:p>
          <a:p>
            <a:r>
              <a:t/>
            </a:r>
          </a:p>
          <a:p>
            <a:r>
              <a:t>Prof. Marcelo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Objetivos da Aula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Compreender os conceitos fundamentais de algoritmo, programa e linguagem de programação.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Identificar e utilizar diferentes formas de representação de algoritmos.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Diferenciar linguagens de programação de baixo e alto nível.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Conhecer as principais formas de tradução de uma linguagem de programação para linguagem de máquina.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r>
              <a:rPr sz="1200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Computador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Uma máquina que manipula dados a partir de uma sequência de instruções.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Pode ser mecânico (ex.: um ábaco) ou eletrônico (ex.: um PC).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Todo computador moderno contém CPU, memória e dispositivos de entrada e saída (Von Neumann).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Arquitetura de Von Neumann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r>
              <a:rPr sz="1200"/>
              <a:t>4</a:t>
            </a:r>
            <a:endParaRPr/>
          </a:p>
        </p:txBody>
      </p:sp>
      <p:grpSp>
        <p:nvGrpSpPr>
          <p:cNvPr id="101" name="Google Shape;101;p17"/>
          <p:cNvGrpSpPr/>
          <p:nvPr/>
        </p:nvGrpSpPr>
        <p:grpSpPr>
          <a:xfrm>
            <a:off x="1842850" y="1267075"/>
            <a:ext cx="6103044" cy="5534450"/>
            <a:chOff x="1842850" y="1267075"/>
            <a:chExt cx="6103044" cy="5534450"/>
          </a:xfrm>
        </p:grpSpPr>
        <p:pic>
          <p:nvPicPr>
            <p:cNvPr id="102" name="Google Shape;102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34731" y="1267075"/>
              <a:ext cx="5811163" cy="5534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7"/>
            <p:cNvSpPr txBox="1"/>
            <p:nvPr/>
          </p:nvSpPr>
          <p:spPr>
            <a:xfrm>
              <a:off x="1842850" y="2475050"/>
              <a:ext cx="5703300" cy="3174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700"/>
                <a:t>CPU</a:t>
              </a:r>
              <a:endParaRPr sz="27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Unidade Central de Processamento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Responsável pela execução de cálculos lógicos e matemáticos e pelo controle das outras partes do computador.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Uma CPU é composta por Unidade Lógica e Aritmética (ULA), Unidade de Controle (UC), acumuladores (</a:t>
            </a:r>
            <a:r>
              <a:rPr lang="pt-BR" sz="3200">
                <a:solidFill>
                  <a:schemeClr val="dk1"/>
                </a:solidFill>
              </a:rPr>
              <a:t>registradores</a:t>
            </a:r>
            <a:r>
              <a:rPr lang="pt-BR" sz="3200"/>
              <a:t>) e relógio.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r>
              <a:rPr sz="1200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Memória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Responsável por armazenar dados.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Dividida em principal (ex.: RAM e ROM) e secundária (ex.: SSD e HDD).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Memória principal é mais rápida e volátil enquanto que memória secundária é mais lenta e não volátil.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r>
              <a:rPr sz="1200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Dispositivos de Entrada e de Saída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Responsável pela entrada e saída de dados do computador.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Comunicam-se com o computador através de portas específicas (ex. USB).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Teclado é o dispositivo de entrada padrão e Monitor é o dispositivo de saída padrão.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r>
              <a:rPr sz="1200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O que </a:t>
            </a:r>
            <a:r>
              <a:rPr lang="pt-BR" sz="4400"/>
              <a:t>é Algoritmo?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720000" marR="792604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Conjunto não ambíguo e ordenado de passos executáveis que definem um processo finito.</a:t>
            </a:r>
            <a:endParaRPr sz="3200"/>
          </a:p>
          <a:p>
            <a:pPr marL="720000" marR="792604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720000" marR="792604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[TURING, 1936]</a:t>
            </a:r>
            <a:endParaRPr sz="3200"/>
          </a:p>
        </p:txBody>
      </p:sp>
      <p:sp>
        <p:nvSpPr>
          <p:cNvPr id="134" name="Google Shape;134;p2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r>
              <a:rPr sz="1200"/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pt-BR" sz="4400"/>
              <a:t>Algoritmo para Fazer um Bolo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0000" marR="0" lvl="0" indent="-1778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pt-BR" sz="2800"/>
              <a:t> Aqueça o forno a 180 ºC</a:t>
            </a:r>
            <a:endParaRPr sz="2800"/>
          </a:p>
          <a:p>
            <a:pPr marL="450000" marR="0" lvl="0" indent="-177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pt-BR" sz="2800"/>
              <a:t> Unte uma forma redonda</a:t>
            </a:r>
            <a:endParaRPr sz="2800"/>
          </a:p>
          <a:p>
            <a:pPr marL="450000" marR="0" lvl="0" indent="-177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pt-BR" sz="2800"/>
              <a:t> Bata 50g de manteiga junto com 200g de açúcar até ficar cremoso</a:t>
            </a:r>
            <a:endParaRPr sz="2800"/>
          </a:p>
          <a:p>
            <a:pPr marL="450000" marR="0" lvl="0" indent="-177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pt-BR" sz="2800"/>
              <a:t> Junte 3 ovos, um a um</a:t>
            </a:r>
            <a:endParaRPr sz="2800"/>
          </a:p>
          <a:p>
            <a:pPr marL="450000" marR="0" lvl="0" indent="-177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pt-BR" sz="2800"/>
              <a:t> Junte 80g de chocolate derretido</a:t>
            </a:r>
            <a:endParaRPr sz="2800"/>
          </a:p>
          <a:p>
            <a:pPr marL="450000" marR="0" lvl="0" indent="-177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pt-BR" sz="2800"/>
              <a:t> Adicione aos poucos 220g de farinha peneirada</a:t>
            </a:r>
            <a:endParaRPr sz="2800"/>
          </a:p>
          <a:p>
            <a:pPr marL="450000" marR="0" lvl="0" indent="-177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pt-BR" sz="2800"/>
              <a:t> Ponha a massa na forma</a:t>
            </a:r>
            <a:endParaRPr sz="2800"/>
          </a:p>
          <a:p>
            <a:pPr marL="450000" marR="0" lvl="0" indent="-177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pt-BR" sz="2800"/>
              <a:t> Leve ao forno durante 30 minutos</a:t>
            </a:r>
            <a:endParaRPr sz="2800"/>
          </a:p>
        </p:txBody>
      </p:sp>
      <p:sp>
        <p:nvSpPr>
          <p:cNvPr id="142" name="Google Shape;142;p2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r>
              <a:rPr sz="1200"/>
              <a:t>9</a:t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6963300" y="6183125"/>
            <a:ext cx="304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[ANTONELLO, 2020]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Pa</a:t>
            </a:r>
            <a:r>
              <a:rPr lang="pt-BR" sz="4400"/>
              <a:t>rtes de um Algoritmo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r>
              <a:rPr sz="1200"/>
              <a:t>10</a:t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Entrada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986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−"/>
            </a:pPr>
            <a:r>
              <a:rPr lang="pt-BR" sz="2800"/>
              <a:t>Fornecimento de dados para poder executar um algoritmo.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Processamento</a:t>
            </a:r>
            <a:endParaRPr sz="320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−"/>
            </a:pPr>
            <a:r>
              <a:rPr lang="pt-BR" sz="2800">
                <a:solidFill>
                  <a:schemeClr val="dk1"/>
                </a:solidFill>
              </a:rPr>
              <a:t>Avaliação de expressões (aritméticas, relacionais e lógicas) e estruturas de controle (condição e repetição).</a:t>
            </a:r>
            <a:endParaRPr sz="2800">
              <a:solidFill>
                <a:schemeClr val="dk1"/>
              </a:solidFill>
            </a:endParaRPr>
          </a:p>
          <a:p>
            <a:pPr marL="45720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Saída</a:t>
            </a:r>
            <a:endParaRPr sz="320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−"/>
            </a:pPr>
            <a:r>
              <a:rPr lang="pt-BR" sz="2800">
                <a:solidFill>
                  <a:schemeClr val="dk1"/>
                </a:solidFill>
              </a:rPr>
              <a:t>Apresentação do resultado do processamento.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</a:t>
            </a:r>
            <a:r>
              <a:rPr lang="pt-BR" sz="4400"/>
              <a:t>o de Partes do Algoritmo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0000" marR="0" lvl="0" indent="-2032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pt-BR" sz="3200"/>
              <a:t> PI = 3.14				 	{ entrada }</a:t>
            </a:r>
            <a:endParaRPr sz="3200"/>
          </a:p>
          <a:p>
            <a:pPr marL="450000" marR="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AutoNum type="arabicPeriod"/>
            </a:pPr>
            <a:r>
              <a:rPr lang="pt-BR" sz="3200"/>
              <a:t> leia (raio)				 	{ entrada }</a:t>
            </a:r>
            <a:endParaRPr sz="3200"/>
          </a:p>
          <a:p>
            <a:pPr marL="450000" marR="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AutoNum type="arabicPeriod"/>
            </a:pPr>
            <a:r>
              <a:rPr lang="pt-BR" sz="3200"/>
              <a:t> area = PI * raio^2	{ processamento }</a:t>
            </a:r>
            <a:endParaRPr sz="3200"/>
          </a:p>
          <a:p>
            <a:pPr marL="450000" marR="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AutoNum type="arabicPeriod"/>
            </a:pPr>
            <a:r>
              <a:rPr lang="pt-BR" sz="3200"/>
              <a:t> imprima (area)	 	{ saída }</a:t>
            </a:r>
            <a:endParaRPr sz="3200"/>
          </a:p>
        </p:txBody>
      </p:sp>
      <p:sp>
        <p:nvSpPr>
          <p:cNvPr id="159" name="Google Shape;159;p2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r>
              <a:rPr sz="1200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Formas de Especificar um Algoritmo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r>
              <a:rPr sz="1200"/>
              <a:t>12</a:t>
            </a: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 rotWithShape="1">
          <a:blip r:embed="rId3">
            <a:alphaModFix/>
          </a:blip>
          <a:srcRect b="14303"/>
          <a:stretch/>
        </p:blipFill>
        <p:spPr>
          <a:xfrm>
            <a:off x="152400" y="1571824"/>
            <a:ext cx="9775826" cy="42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Fluxograma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Diagrama que descreve um processo, sistema ou algoritmo de computador.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Permite compreender de forma rápida e fácil a lógica de um algoritmo.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Possui notação simplificada definida pela norma IEC 5807:1985</a:t>
            </a:r>
            <a:r>
              <a:rPr lang="pt-BR" sz="3200"/>
              <a:t>.</a:t>
            </a:r>
            <a:endParaRPr sz="3200"/>
          </a:p>
        </p:txBody>
      </p:sp>
      <p:sp>
        <p:nvSpPr>
          <p:cNvPr id="175" name="Google Shape;175;p2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Notação do Fluxograma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r>
              <a:rPr sz="1200"/>
              <a:t>14</a:t>
            </a:r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425" y="1571825"/>
            <a:ext cx="7509775" cy="475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Exemplo de um Fluxograma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1" name="Google Shape;191;p2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r>
              <a:rPr sz="1200"/>
              <a:t>15</a:t>
            </a:r>
            <a:endParaRPr/>
          </a:p>
        </p:txBody>
      </p:sp>
      <p:pic>
        <p:nvPicPr>
          <p:cNvPr id="192" name="Google Shape;1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800" y="1257425"/>
            <a:ext cx="5349025" cy="54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Pseudocódigo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Forma textual de representar um algoritmo.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Utiliza um conjunto restrito de palavras-chave na linguagem nativa do programador (ex.: Portugol).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Permite ao programador focar no problema em si e não no equipamento que irá executar o algoritmo.</a:t>
            </a:r>
            <a:endParaRPr sz="3200"/>
          </a:p>
        </p:txBody>
      </p:sp>
      <p:sp>
        <p:nvSpPr>
          <p:cNvPr id="199" name="Google Shape;199;p2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r>
              <a:rPr sz="1200"/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Palavras-chave do Portugol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r>
              <a:rPr sz="1200"/>
              <a:t>17</a:t>
            </a:r>
            <a:endParaRPr/>
          </a:p>
        </p:txBody>
      </p:sp>
      <p:graphicFrame>
        <p:nvGraphicFramePr>
          <p:cNvPr id="208" name="Google Shape;208;p30"/>
          <p:cNvGraphicFramePr/>
          <p:nvPr/>
        </p:nvGraphicFramePr>
        <p:xfrm>
          <a:off x="342738" y="1584000"/>
          <a:ext cx="9408050" cy="4633040"/>
        </p:xfrm>
        <a:graphic>
          <a:graphicData uri="http://schemas.openxmlformats.org/drawingml/2006/table">
            <a:tbl>
              <a:tblPr>
                <a:noFill/>
                <a:tableStyleId>{E6E6095A-88EA-4102-AC07-4C38B9936386}</a:tableStyleId>
              </a:tblPr>
              <a:tblGrid>
                <a:gridCol w="31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algoritmo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fim-se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repita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início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para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caso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fim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de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fim-caso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ler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até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pt-BR" sz="3200">
                          <a:solidFill>
                            <a:schemeClr val="dk1"/>
                          </a:solidFill>
                        </a:rPr>
                        <a:t>inteiro</a:t>
                      </a:r>
                      <a:endParaRPr/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mostrar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faça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pt-BR" sz="3200">
                          <a:solidFill>
                            <a:schemeClr val="dk1"/>
                          </a:solidFill>
                        </a:rPr>
                        <a:t>real</a:t>
                      </a:r>
                      <a:endParaRPr/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se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fim-para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pt-BR" sz="3200">
                          <a:solidFill>
                            <a:schemeClr val="dk1"/>
                          </a:solidFill>
                        </a:rPr>
                        <a:t>caractere</a:t>
                      </a:r>
                      <a:endParaRPr/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então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enquanto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pt-BR" sz="3200">
                          <a:solidFill>
                            <a:schemeClr val="dk1"/>
                          </a:solidFill>
                        </a:rPr>
                        <a:t>lógico</a:t>
                      </a:r>
                      <a:endParaRPr/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 senão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/>
                        <a:t>fim-enquanto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0000" marR="9000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Exemplo de um Pseudocódigo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r>
              <a:rPr sz="1200"/>
              <a:t>18</a:t>
            </a: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2"/>
          </p:nvPr>
        </p:nvSpPr>
        <p:spPr>
          <a:xfrm>
            <a:off x="1959475" y="1419425"/>
            <a:ext cx="6161700" cy="528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dk1"/>
                </a:solidFill>
              </a:rPr>
              <a:t>início</a:t>
            </a:r>
            <a:endParaRPr sz="3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	ler (a, b)</a:t>
            </a: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	</a:t>
            </a:r>
            <a:r>
              <a:rPr lang="pt-BR" sz="3200" b="1">
                <a:solidFill>
                  <a:schemeClr val="dk1"/>
                </a:solidFill>
              </a:rPr>
              <a:t>se</a:t>
            </a:r>
            <a:r>
              <a:rPr lang="pt-BR" sz="3200">
                <a:solidFill>
                  <a:schemeClr val="dk1"/>
                </a:solidFill>
              </a:rPr>
              <a:t> b &lt;&gt; 0 </a:t>
            </a:r>
            <a:r>
              <a:rPr lang="pt-BR" sz="3200" b="1">
                <a:solidFill>
                  <a:schemeClr val="dk1"/>
                </a:solidFill>
              </a:rPr>
              <a:t>então</a:t>
            </a:r>
            <a:endParaRPr sz="3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		c = a / b</a:t>
            </a: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		mostrar (c)</a:t>
            </a: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	</a:t>
            </a:r>
            <a:r>
              <a:rPr lang="pt-BR" sz="3200" b="1">
                <a:solidFill>
                  <a:schemeClr val="dk1"/>
                </a:solidFill>
              </a:rPr>
              <a:t>senão</a:t>
            </a:r>
            <a:endParaRPr sz="3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		mostrar ("divisão por zero")</a:t>
            </a: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dk1"/>
                </a:solidFill>
              </a:rPr>
              <a:t>	fim-se</a:t>
            </a:r>
            <a:endParaRPr sz="3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dk1"/>
                </a:solidFill>
              </a:rPr>
              <a:t>fim</a:t>
            </a:r>
            <a:endParaRPr sz="32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O que </a:t>
            </a:r>
            <a:r>
              <a:rPr lang="pt-BR" sz="4400"/>
              <a:t>é Programa de Computador?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720000" marR="792604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Conjunto organizado de instruções em linguagem codificada, que permite aos computadores a realização das mais diversas tarefas ou aplicações.</a:t>
            </a:r>
            <a:endParaRPr sz="3200"/>
          </a:p>
          <a:p>
            <a:pPr marL="720000" marR="792604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720000" marR="792604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[IFRN, 2011]</a:t>
            </a:r>
            <a:endParaRPr sz="3200"/>
          </a:p>
        </p:txBody>
      </p:sp>
      <p:sp>
        <p:nvSpPr>
          <p:cNvPr id="223" name="Google Shape;223;p3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4" name="Google Shape;224;p3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Aula01a — Algoritmos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Pratica01 / Pratica02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Atividade01 (algoritmo)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2 — Algoritmos e fluxogramas (p. 15–21)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2.3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Escreva pseudocódigo e fluxograma para a média de 3 notas e informe se passou (média ≥ 5).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Quais são as três partes de um algoritmo?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Qual a diferença entre pseudocódigo e fluxograma?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Algoritmo e programa são a mesma coisa? Por quê?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Referências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SCHILDT, Herbert. C: Completo e Total. 3. ed. Pearson Makron Books, 1997.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ANTONELLO, Ricardo. Linguagem C. 1. ed. Livro Digital, 2020.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ASCENCIO, Ana Fernanda Gomes; CAMPOS, Edilene. Fundamentos da Programação de Computadores. 3. ed. Pearson, 2012.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1809</Words>
  <Application>Microsoft Office PowerPoint</Application>
  <PresentationFormat>Personalizar</PresentationFormat>
  <Paragraphs>295</Paragraphs>
  <Slides>43</Slides>
  <Notes>43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7" baseType="lpstr">
      <vt:lpstr>Arial</vt:lpstr>
      <vt:lpstr>Courier New</vt:lpstr>
      <vt:lpstr>Noto Sans Symbols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Alves Farias</cp:lastModifiedBy>
  <cp:revision>1</cp:revision>
  <dcterms:modified xsi:type="dcterms:W3CDTF">2026-06-26T14:07:59Z</dcterms:modified>
</cp:coreProperties>
</file>