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2" r:id="rId8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9"/>
    <p:sldId id="293" r:id="rId7"/>
    <p:sldId id="294" r:id="rId43"/>
    <p:sldId id="295" r:id="rId44"/>
    <p:sldId id="291" r:id="rId37"/>
  </p:sldIdLst>
  <p:sldSz cx="10080625" cy="7559675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6C8735-DF36-4E59-A264-8BE38E92267C}">
  <a:tblStyle styleId="{C46C8735-DF36-4E59-A264-8BE38E9226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7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36.xml"/><Relationship Id="rId8" Type="http://schemas.openxmlformats.org/officeDocument/2006/relationships/slide" Target="slides/slide6.xml"/><Relationship Id="rId9" Type="http://schemas.openxmlformats.org/officeDocument/2006/relationships/slide" Target="slides/slide35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3107059a7_0_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363107059a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b49e55e31b_0_7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b49e55e31b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b49e55e31b_0_9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b49e55e31b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b49e55e31b_0_10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b49e55e31b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b49e55e31b_0_12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b49e55e31b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b49e55e31b_0_12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b49e55e31b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b49e55e31b_0_13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b49e55e31b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b49e55e31b_0_13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b49e55e31b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b49e55e31b_0_14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b49e55e31b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b49e55e31b_0_15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b49e55e31b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b49e55e31b_0_15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b49e55e31b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c9b0b64147_0_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1c9b0b6414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c9b0b64147_0_2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1c9b0b6414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c9b0b64147_0_2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1c9b0b64147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c9b0b64147_0_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1c9b0b6414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b49e55e31b_0_16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b49e55e31b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3107059a7_0_6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63107059a7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b49e55e31b_0_3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b49e55e31b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b49e55e31b_0_3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b49e55e31b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3107059a7_0_5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363107059a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b49e55e31b_0_4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b49e55e31b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b49e55e31b_0_4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b49e55e31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b49e55e31b_0_5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gb49e55e31b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b49e55e31b_0_6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b49e55e31b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b49e55e31b_0_6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b49e55e31b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b49e55e31b_0_7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b49e55e31b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b49f5edc01_0_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b49f5edc0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63107059a7_0_7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363107059a7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ubTitle" idx="1"/>
          </p:nvPr>
        </p:nvSpPr>
        <p:spPr>
          <a:xfrm>
            <a:off x="144000" y="157320"/>
            <a:ext cx="9792000" cy="58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3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2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4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345492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3"/>
          </p:nvPr>
        </p:nvSpPr>
        <p:spPr>
          <a:xfrm>
            <a:off x="676584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4"/>
          </p:nvPr>
        </p:nvSpPr>
        <p:spPr>
          <a:xfrm>
            <a:off x="14400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5"/>
          </p:nvPr>
        </p:nvSpPr>
        <p:spPr>
          <a:xfrm>
            <a:off x="345492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6"/>
          </p:nvPr>
        </p:nvSpPr>
        <p:spPr>
          <a:xfrm>
            <a:off x="676584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2520000" y="6887160"/>
            <a:ext cx="144000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04000" y="6887160"/>
            <a:ext cx="460800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856000" y="6887160"/>
            <a:ext cx="107964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44000" y="6769080"/>
            <a:ext cx="2275560" cy="64692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b="0" i="0" u="none" strike="noStrike" cap="none">
                <a:latin typeface="Arial"/>
                <a:ea typeface="Arial"/>
                <a:cs typeface="Arial"/>
                <a:sym typeface="Arial"/>
              </a:rPr>
              <a:t>Algoritmos e Programação de Computadores I</a:t>
            </a:r>
            <a:endParaRPr sz="4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i="0" u="none" strike="noStrike" cap="none" dirty="0">
                <a:latin typeface="Arial"/>
                <a:ea typeface="Arial"/>
                <a:cs typeface="Arial"/>
                <a:sym typeface="Arial"/>
              </a:rPr>
              <a:t>Entrada e Saída </a:t>
            </a:r>
            <a:r>
              <a:rPr lang="pt-BR" sz="4400" b="1" dirty="0"/>
              <a:t>pelo Console em C</a:t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0" i="0" u="none" strike="noStrike" cap="none" dirty="0">
                <a:latin typeface="Arial"/>
                <a:ea typeface="Arial"/>
                <a:cs typeface="Arial"/>
                <a:sym typeface="Arial"/>
              </a:rPr>
              <a:t>Prof. </a:t>
            </a:r>
            <a:r>
              <a:rPr lang="pt-BR" sz="3200" b="0" i="0" u="none" strike="noStrike" cap="none">
                <a:latin typeface="Arial"/>
                <a:ea typeface="Arial"/>
                <a:cs typeface="Arial"/>
                <a:sym typeface="Arial"/>
              </a:rPr>
              <a:t>Marcelo Farias</a:t>
            </a:r>
            <a:endParaRPr sz="3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i="0" u="none" strike="noStrike" cap="non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Objetivos da Aula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Compreender as funções básicas de entrada e saída pelo console na linguagem C.</a:t>
            </a:r>
            <a:endParaRPr sz="3200"/>
          </a:p>
          <a:p>
            <a:pPr marL="431999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Utilizar especificadores de formato para formatar corretamente a saída de dados.</a:t>
            </a:r>
            <a:endParaRPr sz="3200"/>
          </a:p>
          <a:p>
            <a:pPr marL="431999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Realizar a leitura de diferentes tipos de dados fornecidos pelo usuário via teclado.</a:t>
            </a:r>
            <a:endParaRPr sz="3200"/>
          </a:p>
          <a:p>
            <a:pPr marL="431999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Identificar limitações e cuidados ao usar funções de entrada, evitando erros comuns.</a:t>
            </a:r>
            <a:endParaRPr sz="3200"/>
          </a:p>
        </p:txBody>
      </p:sp>
      <p:sp>
        <p:nvSpPr>
          <p:cNvPr id="74" name="Google Shape;74;p1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r>
              <a:rPr sz="1200"/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i="0" u="none" strike="noStrike" cap="none">
                <a:latin typeface="Arial"/>
                <a:ea typeface="Arial"/>
                <a:cs typeface="Arial"/>
                <a:sym typeface="Arial"/>
              </a:rPr>
              <a:t> Entrada e Saída pel</a:t>
            </a:r>
            <a:r>
              <a:rPr lang="pt-BR" sz="4400"/>
              <a:t>o</a:t>
            </a:r>
            <a:r>
              <a:rPr lang="pt-BR" sz="4400" b="0" i="0" u="none" strike="noStrike" cap="none">
                <a:latin typeface="Arial"/>
                <a:ea typeface="Arial"/>
                <a:cs typeface="Arial"/>
                <a:sym typeface="Arial"/>
              </a:rPr>
              <a:t> Console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 console é a interface de texto do computador que permite a troca de dados com o usuário.</a:t>
            </a:r>
            <a:endParaRPr sz="3200"/>
          </a:p>
          <a:p>
            <a:pPr marL="431999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A entrada é feita pelo teclado e a saída pela tela.</a:t>
            </a:r>
            <a:endParaRPr sz="3200"/>
          </a:p>
          <a:p>
            <a:pPr marL="431999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C provê funções de E/S pelo console através da biblioteca "stdio.h".</a:t>
            </a:r>
            <a:endParaRPr sz="3200"/>
          </a:p>
        </p:txBody>
      </p:sp>
      <p:sp>
        <p:nvSpPr>
          <p:cNvPr id="82" name="Google Shape;82;p1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r>
              <a:rPr sz="1200"/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Funções de </a:t>
            </a:r>
            <a:r>
              <a:rPr lang="pt-BR" sz="4400"/>
              <a:t>Saída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putchar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lvl="0" indent="-324000" algn="l" rtl="0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puts</a:t>
            </a:r>
            <a:endParaRPr sz="3200">
              <a:solidFill>
                <a:schemeClr val="dk1"/>
              </a:solidFill>
            </a:endParaRPr>
          </a:p>
          <a:p>
            <a:pPr marL="431999" lvl="0" indent="-324000" algn="l" rtl="0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printf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r>
              <a:rPr sz="1200"/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putchar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Declaração: </a:t>
            </a:r>
            <a:r>
              <a:rPr lang="pt-BR" sz="3200" b="0" i="1" strike="noStrike">
                <a:latin typeface="Arial"/>
                <a:ea typeface="Arial"/>
                <a:cs typeface="Arial"/>
                <a:sym typeface="Arial"/>
              </a:rPr>
              <a:t>int putchar(int ch)</a:t>
            </a:r>
            <a:endParaRPr sz="3200" b="0" i="1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Exibe um único caractere na tela do console.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Recebe um número inteiro que representa o caractere. 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Retorna esse mesmo número em caso de sucesso ou um valor negativo se ocorrer algum erro.</a:t>
            </a:r>
            <a:endParaRPr sz="3200"/>
          </a:p>
        </p:txBody>
      </p:sp>
      <p:sp>
        <p:nvSpPr>
          <p:cNvPr id="98" name="Google Shape;98;p1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r>
              <a:rPr sz="1200"/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Declaração: </a:t>
            </a:r>
            <a:r>
              <a:rPr lang="pt-BR" sz="3200" b="0" i="1" strike="noStrike">
                <a:latin typeface="Arial"/>
                <a:ea typeface="Arial"/>
                <a:cs typeface="Arial"/>
                <a:sym typeface="Arial"/>
              </a:rPr>
              <a:t>int puts(const char *str)</a:t>
            </a:r>
            <a:endParaRPr sz="3200" b="0" i="1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Exibe uma string na tela do console e adiciona automaticamente uma quebra de linha ao final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Recebe uma string a ser exibida.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R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etorna um número positivo em caso de sucesso ou</a:t>
            </a:r>
            <a:r>
              <a:rPr lang="pt-BR" sz="3200"/>
              <a:t> um valor negativo se ocorrer algum erro.</a:t>
            </a:r>
            <a:endParaRPr sz="3200"/>
          </a:p>
        </p:txBody>
      </p:sp>
      <p:sp>
        <p:nvSpPr>
          <p:cNvPr id="113" name="Google Shape;113;p2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puts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r>
              <a:rPr sz="1200"/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printf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Declaração: </a:t>
            </a:r>
            <a:r>
              <a:rPr lang="pt-BR" sz="3200" b="0" i="1" strike="noStrike">
                <a:latin typeface="Arial"/>
                <a:ea typeface="Arial"/>
                <a:cs typeface="Arial"/>
                <a:sym typeface="Arial"/>
              </a:rPr>
              <a:t>int printf(const char *format, ...)</a:t>
            </a:r>
            <a:endParaRPr sz="3200" b="0" i="1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Exibe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200"/>
              <a:t>valores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de variáveis formatados na tela do console.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Recebe um especificador de formato, que indica o tipo do dado a ser exibido, e uma variável.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Retorna o </a:t>
            </a:r>
            <a:r>
              <a:rPr lang="pt-BR" sz="3200"/>
              <a:t>tamanho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da</a:t>
            </a:r>
            <a:r>
              <a:rPr lang="pt-BR" sz="3200"/>
              <a:t> saída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em caso de sucesso ou um valor negativo </a:t>
            </a:r>
            <a:r>
              <a:rPr lang="pt-BR" sz="3200"/>
              <a:t>se ocorrer algum erro.</a:t>
            </a:r>
            <a:endParaRPr sz="3200"/>
          </a:p>
        </p:txBody>
      </p:sp>
      <p:sp>
        <p:nvSpPr>
          <p:cNvPr id="131" name="Google Shape;131;p2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r>
              <a:rPr sz="1200"/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Especificador de Formato </a:t>
            </a:r>
            <a:r>
              <a:rPr lang="pt-BR" sz="4400"/>
              <a:t>do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p</a:t>
            </a:r>
            <a:r>
              <a:rPr lang="pt-BR" sz="4400"/>
              <a:t>rintf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8" name="Google Shape;138;p23"/>
          <p:cNvGraphicFramePr/>
          <p:nvPr/>
        </p:nvGraphicFramePr>
        <p:xfrm>
          <a:off x="361650" y="143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{C46C8735-DF36-4E59-A264-8BE38E92267C}</a:tableStyleId>
              </a:tblPr>
              <a:tblGrid>
                <a:gridCol w="319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%c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caractere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%s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 de caracteres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%d ou</a:t>
                      </a:r>
                      <a:r>
                        <a:rPr lang="pt-BR" sz="2400"/>
                        <a:t> %i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inteiro com sinal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/>
                        <a:t>%ld ou %li  </a:t>
                      </a:r>
                      <a:br>
                        <a:rPr lang="pt-BR" sz="2400"/>
                      </a:br>
                      <a:r>
                        <a:rPr lang="pt-BR" sz="2400"/>
                        <a:t>%lld ou %lli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/>
                        <a:t>inteiro longo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%f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ponto flutuante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/>
                        <a:t>%e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/>
                        <a:t>ponto flutuante em notação científica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pt-BR" sz="2400">
                          <a:solidFill>
                            <a:schemeClr val="dk1"/>
                          </a:solidFill>
                        </a:rPr>
                        <a:t>%u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>
                          <a:solidFill>
                            <a:schemeClr val="dk1"/>
                          </a:solidFill>
                        </a:rPr>
                        <a:t>inteiro sem sinal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%o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octal sem sinal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%x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hexadecimal sem sinal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%%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caractere %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9" name="Google Shape;139;p2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10</a:t>
            </a:fld>
            <a:r>
              <a:rPr sz="1200"/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Exibindo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Caracteres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Utilizar </a:t>
            </a:r>
            <a:r>
              <a:rPr lang="pt-BR" sz="3200" b="1" strike="noStrike"/>
              <a:t>%c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pt-BR" sz="3200"/>
              <a:t>exibir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um caractere </a:t>
            </a:r>
            <a:r>
              <a:rPr lang="pt-BR" sz="3200"/>
              <a:t>ASCII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Utilizar </a:t>
            </a:r>
            <a:r>
              <a:rPr lang="pt-BR" sz="3200" b="1" strike="noStrike"/>
              <a:t>%s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pt-BR" sz="3200"/>
              <a:t>exibir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uma string.</a:t>
            </a:r>
            <a:endParaRPr sz="2800"/>
          </a:p>
        </p:txBody>
      </p:sp>
      <p:sp>
        <p:nvSpPr>
          <p:cNvPr id="147" name="Google Shape;147;p2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48" name="Google Shape;148;p24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11</a:t>
            </a:fld>
            <a:r>
              <a:rPr sz="1200"/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Exibição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de Caracteres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12</a:t>
            </a:fld>
            <a:r>
              <a:rPr sz="1200"/>
              <a:t>10</a:t>
            </a:r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body" idx="4294967295"/>
          </p:nvPr>
        </p:nvSpPr>
        <p:spPr>
          <a:xfrm>
            <a:off x="5161680" y="1584000"/>
            <a:ext cx="4778400" cy="504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Saída no console:</a:t>
            </a:r>
            <a:endParaRPr sz="2400">
              <a:solidFill>
                <a:schemeClr val="dk1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b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uma string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7" name="Google Shape;157;p25"/>
          <p:cNvSpPr txBox="1">
            <a:spLocks noGrp="1"/>
          </p:cNvSpPr>
          <p:nvPr>
            <p:ph type="body" idx="4294967295"/>
          </p:nvPr>
        </p:nvSpPr>
        <p:spPr>
          <a:xfrm>
            <a:off x="144000" y="1584000"/>
            <a:ext cx="4778400" cy="504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#include &lt;stdio.h&gt;</a:t>
            </a:r>
            <a:endParaRPr sz="2400">
              <a:solidFill>
                <a:schemeClr val="dk1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400">
              <a:solidFill>
                <a:schemeClr val="dk1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int main() {</a:t>
            </a:r>
            <a:endParaRPr sz="2400">
              <a:solidFill>
                <a:schemeClr val="dk1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char ch = 'a';</a:t>
            </a:r>
            <a:endParaRPr sz="2400">
              <a:solidFill>
                <a:schemeClr val="dk1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char str[31] = "uma string";</a:t>
            </a:r>
            <a:endParaRPr sz="2400">
              <a:solidFill>
                <a:schemeClr val="dk1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400">
              <a:solidFill>
                <a:schemeClr val="dk1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printf("%c\n", ch);</a:t>
            </a:r>
            <a:endParaRPr sz="2400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printf("%s\n", str);</a:t>
            </a:r>
            <a:endParaRPr sz="2400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400">
              <a:solidFill>
                <a:schemeClr val="hlink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return 0;</a:t>
            </a:r>
            <a:endParaRPr sz="2400">
              <a:solidFill>
                <a:schemeClr val="dk1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}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Exibindo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N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úmeros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Utilizar </a:t>
            </a:r>
            <a:r>
              <a:rPr lang="pt-BR" sz="3200" b="1" strike="noStrike"/>
              <a:t>%d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lang="pt-BR" sz="3200" b="1" strike="noStrike"/>
              <a:t>%i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pt-BR" sz="3200"/>
              <a:t>exibir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números inteiros.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Utilizar </a:t>
            </a:r>
            <a:r>
              <a:rPr lang="pt-BR" sz="3200" b="1" strike="noStrike"/>
              <a:t>%f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lang="pt-BR" sz="3200" b="1" strike="noStrike"/>
              <a:t>%e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pt-BR" sz="3200"/>
              <a:t>exibir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números</a:t>
            </a:r>
            <a:r>
              <a:rPr lang="pt-BR" sz="3200"/>
              <a:t> de ponto flutuante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/>
          </a:p>
        </p:txBody>
      </p:sp>
      <p:sp>
        <p:nvSpPr>
          <p:cNvPr id="164" name="Google Shape;164;p2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65" name="Google Shape;165;p2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13</a:t>
            </a:fld>
            <a:r>
              <a:rPr sz="1200"/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Exibição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de Números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144000" y="1584000"/>
            <a:ext cx="47772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18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#include &lt;stdio.h&gt;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int main() {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int numero = 100;</a:t>
            </a:r>
            <a:endParaRPr sz="2400"/>
          </a:p>
          <a:p>
            <a:pPr marL="0" marR="0" lvl="0" indent="1800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float moeda = 56.48;</a:t>
            </a:r>
            <a:endParaRPr sz="2400"/>
          </a:p>
          <a:p>
            <a:pPr marL="0" marR="0" lvl="0" indent="1800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/>
              <a:t>   double pi = 3.14159265359;</a:t>
            </a:r>
            <a:endParaRPr sz="2400"/>
          </a:p>
          <a:p>
            <a:pPr marL="0" marR="0" lvl="0" indent="1800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printf("%d\n", numero);</a:t>
            </a:r>
            <a:endParaRPr sz="24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1800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printf("%f\n</a:t>
            </a:r>
            <a:r>
              <a:rPr lang="pt-BR" sz="2400"/>
              <a:t>"</a:t>
            </a: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, moeda);</a:t>
            </a:r>
            <a:endParaRPr sz="24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1800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printf("%e\n", pi);</a:t>
            </a:r>
            <a:endParaRPr sz="2400">
              <a:solidFill>
                <a:schemeClr val="dk1"/>
              </a:solidFill>
            </a:endParaRPr>
          </a:p>
          <a:p>
            <a:pPr marL="0" lvl="0" indent="1800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400">
              <a:solidFill>
                <a:schemeClr val="dk1"/>
              </a:solidFill>
            </a:endParaRPr>
          </a:p>
          <a:p>
            <a:pPr marL="0" marR="0" lvl="0" indent="1800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return 0;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73" name="Google Shape;173;p2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14</a:t>
            </a:fld>
            <a:r>
              <a:rPr sz="1200"/>
              <a:t>12</a:t>
            </a:r>
            <a:endParaRPr/>
          </a:p>
        </p:txBody>
      </p:sp>
      <p:sp>
        <p:nvSpPr>
          <p:cNvPr id="174" name="Google Shape;174;p27"/>
          <p:cNvSpPr txBox="1">
            <a:spLocks noGrp="1"/>
          </p:cNvSpPr>
          <p:nvPr>
            <p:ph type="body" idx="4294967295"/>
          </p:nvPr>
        </p:nvSpPr>
        <p:spPr>
          <a:xfrm>
            <a:off x="5161680" y="1584000"/>
            <a:ext cx="4778400" cy="504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Saída no console:</a:t>
            </a:r>
            <a:endParaRPr sz="2400">
              <a:solidFill>
                <a:schemeClr val="dk1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b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56.480000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3.141593e+00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Es</a:t>
            </a:r>
            <a:r>
              <a:rPr lang="pt-BR" sz="4400"/>
              <a:t>pecificador de Tamanho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Pode-se especificar um tamanho mínimo entre % e o código de formato.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Caso o tamanho seja menor, a saída é preenchida com espaços até atingir o tamanho mínimo.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Espaços podem ser trocados por 0s se colocar 0 antes do tamanho mínimo.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82" name="Google Shape;182;p2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15</a:t>
            </a:fld>
            <a:r>
              <a:rPr sz="1200"/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/>
        </p:nvSpPr>
        <p:spPr>
          <a:xfrm>
            <a:off x="144000" y="157325"/>
            <a:ext cx="9894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Especificador de Tamanho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9"/>
          <p:cNvSpPr txBox="1"/>
          <p:nvPr/>
        </p:nvSpPr>
        <p:spPr>
          <a:xfrm>
            <a:off x="144000" y="1584000"/>
            <a:ext cx="47772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#include &lt;stdio.h&gt;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int main() {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char str[31] = "uma string";</a:t>
            </a:r>
            <a:endParaRPr sz="2400"/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int numero = 100;</a:t>
            </a:r>
            <a:endParaRPr sz="2400"/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float moeda = 56.48;</a:t>
            </a:r>
            <a:endParaRPr sz="2400"/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  </a:t>
            </a: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printf("%</a:t>
            </a:r>
            <a:r>
              <a:rPr lang="pt-BR" sz="2400"/>
              <a:t>15</a:t>
            </a: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s\</a:t>
            </a:r>
            <a:r>
              <a:rPr lang="pt-BR" sz="2400"/>
              <a:t>n</a:t>
            </a: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%</a:t>
            </a:r>
            <a:r>
              <a:rPr lang="pt-BR" sz="2400"/>
              <a:t>05d\n</a:t>
            </a: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%</a:t>
            </a:r>
            <a:r>
              <a:rPr lang="pt-BR" sz="2400"/>
              <a:t>12</a:t>
            </a: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f\n", str, numero, moeda); 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FF"/>
              </a:solidFill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  </a:t>
            </a: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return 0;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90" name="Google Shape;190;p2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16</a:t>
            </a:fld>
            <a:r>
              <a:rPr sz="1200"/>
              <a:t>14</a:t>
            </a:r>
            <a:endParaRPr/>
          </a:p>
        </p:txBody>
      </p:sp>
      <p:sp>
        <p:nvSpPr>
          <p:cNvPr id="191" name="Google Shape;191;p29"/>
          <p:cNvSpPr txBox="1">
            <a:spLocks noGrp="1"/>
          </p:cNvSpPr>
          <p:nvPr>
            <p:ph type="body" idx="4294967295"/>
          </p:nvPr>
        </p:nvSpPr>
        <p:spPr>
          <a:xfrm>
            <a:off x="5161680" y="1584000"/>
            <a:ext cx="4778400" cy="504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Saída no console:</a:t>
            </a:r>
            <a:endParaRPr sz="2400">
              <a:solidFill>
                <a:schemeClr val="dk1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uma string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00100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56.480000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Especifi</a:t>
            </a:r>
            <a:r>
              <a:rPr lang="pt-BR" sz="4400"/>
              <a:t>cador de Precisão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Pode-se especificar a precisão com um ponto seguido de um número após o tamanho mínimo.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Quando aplicado em ponto flutuante, determina o número de casas decimais exibido.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Quando aplicado em strings, determina o tamanho máximo exibido.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99" name="Google Shape;199;p30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17</a:t>
            </a:fld>
            <a:r>
              <a:rPr sz="1200"/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Especificador de </a:t>
            </a:r>
            <a:r>
              <a:rPr lang="pt-BR" sz="4400"/>
              <a:t>Precisão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144000" y="1584000"/>
            <a:ext cx="47772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/>
              <a:t>#include &lt;stdio.h&gt;</a:t>
            </a:r>
            <a:endParaRPr sz="2400"/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/>
              <a:t>int main() {</a:t>
            </a:r>
            <a:endParaRPr sz="2400"/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/>
              <a:t>   char str[31] = "uma string";</a:t>
            </a:r>
            <a:endParaRPr sz="2400"/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/>
              <a:t>   float moeda = 56.48;</a:t>
            </a:r>
            <a:endParaRPr sz="2400"/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/>
              <a:t>   printf("%5.10s, %10.1f\n", str, moeda);</a:t>
            </a:r>
            <a:endParaRPr sz="2400"/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/>
              <a:t>   return 0;</a:t>
            </a:r>
            <a:endParaRPr sz="2400"/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}</a:t>
            </a:r>
            <a:endParaRPr sz="2400"/>
          </a:p>
        </p:txBody>
      </p:sp>
      <p:sp>
        <p:nvSpPr>
          <p:cNvPr id="206" name="Google Shape;206;p3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07" name="Google Shape;207;p31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18</a:t>
            </a:fld>
            <a:r>
              <a:rPr sz="1200"/>
              <a:t>16</a:t>
            </a:r>
            <a:endParaRPr/>
          </a:p>
        </p:txBody>
      </p:sp>
      <p:sp>
        <p:nvSpPr>
          <p:cNvPr id="208" name="Google Shape;208;p31"/>
          <p:cNvSpPr txBox="1">
            <a:spLocks noGrp="1"/>
          </p:cNvSpPr>
          <p:nvPr>
            <p:ph type="body" idx="4294967295"/>
          </p:nvPr>
        </p:nvSpPr>
        <p:spPr>
          <a:xfrm>
            <a:off x="5161680" y="1584000"/>
            <a:ext cx="4778400" cy="504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Saída no console:</a:t>
            </a:r>
            <a:endParaRPr sz="2400">
              <a:solidFill>
                <a:schemeClr val="dk1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uma string, 56.5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Alinhamento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pt-BR" sz="4400"/>
              <a:t>S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aída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Por padrão, toda saída de printf é </a:t>
            </a:r>
            <a:r>
              <a:rPr lang="pt-BR" sz="3200"/>
              <a:t>alinhada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à direita</a:t>
            </a:r>
            <a:r>
              <a:rPr lang="pt-BR" sz="3200"/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lang="pt-BR" sz="3200"/>
              <a:t>alinhar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à esquerda </a:t>
            </a:r>
            <a:r>
              <a:rPr lang="pt-BR" sz="3200"/>
              <a:t>o valor do tamanho mínimo deve ser negativo.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16" name="Google Shape;216;p3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19</a:t>
            </a:fld>
            <a:r>
              <a:rPr sz="1200"/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S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aída </a:t>
            </a:r>
            <a:r>
              <a:rPr lang="pt-BR" sz="4400"/>
              <a:t>Alinhada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3"/>
          <p:cNvSpPr txBox="1"/>
          <p:nvPr/>
        </p:nvSpPr>
        <p:spPr>
          <a:xfrm>
            <a:off x="144000" y="1584000"/>
            <a:ext cx="47772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#include &lt;stdio.h&gt;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int main() {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char str[3</a:t>
            </a:r>
            <a:r>
              <a:rPr lang="pt-BR" sz="2400"/>
              <a:t>1</a:t>
            </a: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] = "uma string";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float moeda = 56.48;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printf("%</a:t>
            </a:r>
            <a:r>
              <a:rPr lang="pt-BR" sz="2400"/>
              <a:t>15</a:t>
            </a: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s, %</a:t>
            </a:r>
            <a:r>
              <a:rPr lang="pt-BR" sz="2400"/>
              <a:t>10</a:t>
            </a: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.2f\n", str, moeda); 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printf("%-</a:t>
            </a:r>
            <a:r>
              <a:rPr lang="pt-BR" sz="2400"/>
              <a:t>15</a:t>
            </a: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s, %-</a:t>
            </a:r>
            <a:r>
              <a:rPr lang="pt-BR" sz="2400"/>
              <a:t>10</a:t>
            </a: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.2f\n", str, moeda); 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return 0;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24" name="Google Shape;224;p3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20</a:t>
            </a:fld>
            <a:r>
              <a:rPr sz="1200"/>
              <a:t>18</a:t>
            </a:r>
            <a:endParaRPr/>
          </a:p>
        </p:txBody>
      </p:sp>
      <p:sp>
        <p:nvSpPr>
          <p:cNvPr id="225" name="Google Shape;225;p33"/>
          <p:cNvSpPr txBox="1">
            <a:spLocks noGrp="1"/>
          </p:cNvSpPr>
          <p:nvPr>
            <p:ph type="body" idx="4294967295"/>
          </p:nvPr>
        </p:nvSpPr>
        <p:spPr>
          <a:xfrm>
            <a:off x="5161680" y="1584000"/>
            <a:ext cx="4778400" cy="504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Saída no console:</a:t>
            </a:r>
            <a:endParaRPr sz="2400">
              <a:solidFill>
                <a:schemeClr val="dk1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uma string,    56.48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uma string     ,56.48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Funções de </a:t>
            </a:r>
            <a:r>
              <a:rPr lang="pt-BR" sz="4400"/>
              <a:t>Entrada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getchar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r>
              <a:rPr>
                <a:latin typeface="Arial"/>
              </a:rPr>
              <a:t>fgets</a:t>
            </a:r>
          </a:p>
          <a:p>
            <a:r>
              <a:rPr>
                <a:latin typeface="Arial"/>
              </a:rPr>
              <a:t>scanf</a:t>
            </a:r>
          </a:p>
        </p:txBody>
      </p:sp>
      <p:sp>
        <p:nvSpPr>
          <p:cNvPr id="232" name="Google Shape;232;p3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33" name="Google Shape;233;p34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21</a:t>
            </a:fld>
            <a:r>
              <a:rPr sz="1200"/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Funcionamento do Buffer de Entrada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40" name="Google Shape;240;p3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22</a:t>
            </a:fld>
            <a:r>
              <a:rPr sz="1200"/>
              <a:t>20</a:t>
            </a:r>
            <a:endParaRPr/>
          </a:p>
        </p:txBody>
      </p:sp>
      <p:pic>
        <p:nvPicPr>
          <p:cNvPr id="241" name="Google Shape;241;p35"/>
          <p:cNvPicPr preferRelativeResize="0"/>
          <p:nvPr/>
        </p:nvPicPr>
        <p:blipFill rotWithShape="1">
          <a:blip r:embed="rId3">
            <a:alphaModFix/>
          </a:blip>
          <a:srcRect r="6262"/>
          <a:stretch/>
        </p:blipFill>
        <p:spPr>
          <a:xfrm>
            <a:off x="652013" y="1419425"/>
            <a:ext cx="4236673" cy="12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5"/>
          <p:cNvPicPr preferRelativeResize="0"/>
          <p:nvPr/>
        </p:nvPicPr>
        <p:blipFill rotWithShape="1">
          <a:blip r:embed="rId4">
            <a:alphaModFix/>
          </a:blip>
          <a:srcRect r="14354"/>
          <a:stretch/>
        </p:blipFill>
        <p:spPr>
          <a:xfrm>
            <a:off x="4888688" y="2777450"/>
            <a:ext cx="4747901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5"/>
          <p:cNvSpPr/>
          <p:nvPr/>
        </p:nvSpPr>
        <p:spPr>
          <a:xfrm rot="5400000">
            <a:off x="4902188" y="1832450"/>
            <a:ext cx="931500" cy="9585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35"/>
          <p:cNvSpPr/>
          <p:nvPr/>
        </p:nvSpPr>
        <p:spPr>
          <a:xfrm rot="10800000">
            <a:off x="4888663" y="4426875"/>
            <a:ext cx="931500" cy="9585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5" name="Google Shape;24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400" y="4619800"/>
            <a:ext cx="4445289" cy="11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getchar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Declaração: </a:t>
            </a:r>
            <a:r>
              <a:rPr lang="pt-BR" sz="3200" b="0" i="1" strike="noStrike">
                <a:latin typeface="Arial"/>
                <a:ea typeface="Arial"/>
                <a:cs typeface="Arial"/>
                <a:sym typeface="Arial"/>
              </a:rPr>
              <a:t>int getchar(void)</a:t>
            </a:r>
            <a:endParaRPr sz="3200" b="0" i="1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Captura o próximo caractere digitado pelo usuário no console.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Retorna o caractere lido convertido para inteiro em caso de sucesso ou um valor negativo se ocorrer um erro.</a:t>
            </a:r>
            <a:endParaRPr sz="3200"/>
          </a:p>
          <a:p>
            <a:pPr marL="457200" lvl="0" indent="0" algn="l" rtl="0">
              <a:spcBef>
                <a:spcPts val="1417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Obs.: Ela só captura o caractere depois que o usuário pressiona a tecla ENTER.</a:t>
            </a:r>
            <a:endParaRPr sz="2400"/>
          </a:p>
          <a:p>
            <a:pPr marL="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52" name="Google Shape;252;p3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53" name="Google Shape;253;p3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23</a:t>
            </a:fld>
            <a:r>
              <a:rPr sz="1200"/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getchar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7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#include&lt;stdio.h&gt;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int main() {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char ch;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printf("</a:t>
            </a:r>
            <a:r>
              <a:rPr lang="pt-BR" sz="2400"/>
              <a:t>Digite</a:t>
            </a: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um caractere: ");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ch = getchar();</a:t>
            </a:r>
            <a:endParaRPr sz="2400" b="0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printf("Caractere lido: ");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putchar(ch);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return 0;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61" name="Google Shape;261;p3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24</a:t>
            </a:fld>
            <a:r>
              <a:rPr sz="1200"/>
              <a:t>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8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gets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gets (NÃO USE)</a:t>
            </a:r>
            <a:r>
              <a:rPr lang="pt-BR" sz="3200" b="0" i="1" strike="noStrike">
                <a:latin typeface="Arial"/>
                <a:ea typeface="Arial"/>
                <a:cs typeface="Arial"/>
                <a:sym typeface="Arial"/>
              </a:rPr>
              <a:t/>
            </a:r>
            <a:endParaRPr sz="3200" b="0" i="1" strike="noStrike">
              <a:latin typeface="Arial"/>
              <a:ea typeface="Arial"/>
              <a:cs typeface="Arial"/>
              <a:sym typeface="Arial"/>
            </a:endParaRPr>
          </a:p>
          <a:p>
            <a:r>
              <a:t>Função antiga e insegura (removida do C11).</a:t>
            </a:r>
          </a:p>
          <a:p>
            <a:r>
              <a:t>Causa risco de overflow de buffer.</a:t>
            </a:r>
          </a:p>
          <a:p>
            <a:r>
              <a:t/>
            </a:r>
          </a:p>
          <a:p>
            <a:r>
              <a:t>Prefira sempre:</a:t>
            </a:r>
          </a:p>
          <a:p>
            <a:r>
              <a:t>fgets(str, sizeof(str), stdin);</a:t>
            </a:r>
          </a:p>
        </p:txBody>
      </p:sp>
      <p:sp>
        <p:nvSpPr>
          <p:cNvPr id="268" name="Google Shape;268;p3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69" name="Google Shape;269;p3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25</a:t>
            </a:fld>
            <a:r>
              <a:rPr sz="1200"/>
              <a:t>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#include &lt;stdio.h&gt;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r>
              <a:rPr>
                <a:latin typeface="Arial"/>
              </a:rPr>
              <a:t/>
            </a:r>
          </a:p>
          <a:p>
            <a:r>
              <a:rPr>
                <a:latin typeface="Arial"/>
              </a:rPr>
              <a:t>int main() {</a:t>
            </a:r>
          </a:p>
          <a:p>
            <a:r>
              <a:rPr>
                <a:latin typeface="Arial"/>
              </a:rPr>
              <a:t>   char str[31];</a:t>
            </a:r>
          </a:p>
          <a:p>
            <a:r>
              <a:rPr>
                <a:latin typeface="Arial"/>
              </a:rPr>
              <a:t>   printf("Digite uma string: ");</a:t>
            </a:r>
          </a:p>
          <a:p>
            <a:r>
              <a:rPr>
                <a:latin typeface="Arial"/>
              </a:rPr>
              <a:t>   /* NÃO use gets(str); */</a:t>
            </a:r>
          </a:p>
          <a:p>
            <a:r>
              <a:rPr>
                <a:latin typeface="Arial"/>
              </a:rPr>
              <a:t>   fgets(str, sizeof(str), stdin);</a:t>
            </a:r>
          </a:p>
          <a:p>
            <a:r>
              <a:rPr>
                <a:latin typeface="Arial"/>
              </a:rPr>
              <a:t>   printf("%s", str);</a:t>
            </a:r>
          </a:p>
          <a:p>
            <a:r>
              <a:rPr>
                <a:latin typeface="Arial"/>
              </a:rPr>
              <a:t>   return 0;</a:t>
            </a:r>
          </a:p>
          <a:p>
            <a:r>
              <a:rPr>
                <a:latin typeface="Arial"/>
              </a:rPr>
              <a:t>}</a:t>
            </a:r>
          </a:p>
        </p:txBody>
      </p:sp>
      <p:sp>
        <p:nvSpPr>
          <p:cNvPr id="275" name="Google Shape;275;p39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gets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77" name="Google Shape;277;p3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26</a:t>
            </a:fld>
            <a:r>
              <a:rPr sz="1200"/>
              <a:t>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#include&lt;stdio.h&gt;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int main() {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char str[</a:t>
            </a:r>
            <a:r>
              <a:rPr lang="pt-BR" sz="2400"/>
              <a:t>31</a:t>
            </a: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];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printf("</a:t>
            </a:r>
            <a:r>
              <a:rPr lang="pt-BR" sz="2400"/>
              <a:t>Digite</a:t>
            </a: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uma string: ");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fgets(str, sizeof(str), st</a:t>
            </a:r>
            <a:r>
              <a:rPr lang="pt-BR" sz="2400"/>
              <a:t>din</a:t>
            </a: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);</a:t>
            </a:r>
            <a:endParaRPr sz="2400">
              <a:solidFill>
                <a:srgbClr val="0000FF"/>
              </a:solidFill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printf("Você digitou: ");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pt-BR" sz="2400">
                <a:solidFill>
                  <a:schemeClr val="dk1"/>
                </a:solidFill>
              </a:rPr>
              <a:t>puts(str);</a:t>
            </a:r>
            <a:endParaRPr sz="2400">
              <a:solidFill>
                <a:schemeClr val="dk1"/>
              </a:solidFill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return 0;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fgets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85" name="Google Shape;285;p40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27</a:t>
            </a:fld>
            <a:r>
              <a:rPr sz="1200"/>
              <a:t>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scanf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1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Declaração: </a:t>
            </a:r>
            <a:r>
              <a:rPr lang="pt-BR" sz="3200" b="0" i="1" strike="noStrike">
                <a:latin typeface="Arial"/>
                <a:ea typeface="Arial"/>
                <a:cs typeface="Arial"/>
                <a:sym typeface="Arial"/>
              </a:rPr>
              <a:t>int scanf(const char *format, …)</a:t>
            </a:r>
            <a:endParaRPr sz="3200" b="0" i="1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Permite ler dados digitados pelo usuário no console e armazená-los em variáveis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57200" lvl="0" indent="-320040" algn="l" rtl="0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Recebe um especificador de formato, que indica o tipo do dado a ser lido, e o endereço da variável (uso do operador &amp;, exceto para strings e arrays).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Retorna </a:t>
            </a:r>
            <a:r>
              <a:rPr lang="pt-BR" sz="3200"/>
              <a:t>a quantidade de variáveis lidas 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em caso de sucesso, ou </a:t>
            </a:r>
            <a:r>
              <a:rPr lang="pt-BR" sz="3200"/>
              <a:t>um valor negativo se ocorrer um erro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93" name="Google Shape;293;p41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28</a:t>
            </a:fld>
            <a:r>
              <a:rPr sz="1200"/>
              <a:t>26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2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Especificador de </a:t>
            </a:r>
            <a:r>
              <a:rPr lang="pt-BR" sz="4400"/>
              <a:t>F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ormato de scanf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9" name="Google Shape;299;p42"/>
          <p:cNvGraphicFramePr/>
          <p:nvPr/>
        </p:nvGraphicFramePr>
        <p:xfrm>
          <a:off x="361650" y="143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{C46C8735-DF36-4E59-A264-8BE38E92267C}</a:tableStyleId>
              </a:tblPr>
              <a:tblGrid>
                <a:gridCol w="243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%c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caractere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%s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 de caracteres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%d ou %i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inteiro com sinal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%f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ponto flutuante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/>
                        <a:t>%e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/>
                        <a:t>ponto flutuante em notação científica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%u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inteiro sem sinal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%o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octal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%x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hexadecimal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%[ ]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busca por um conjunto de caracteres</a:t>
                      </a:r>
                      <a:endParaRPr sz="24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00" name="Google Shape;300;p4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01" name="Google Shape;301;p4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29</a:t>
            </a:fld>
            <a:r>
              <a:rPr sz="1200"/>
              <a:t>27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3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Lendo </a:t>
            </a:r>
            <a:r>
              <a:rPr lang="pt-BR" sz="4400"/>
              <a:t>C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aracteres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3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Utilizar </a:t>
            </a:r>
            <a:r>
              <a:rPr lang="pt-BR" sz="3200" b="1" strike="noStrike"/>
              <a:t>%c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para ler caractere </a:t>
            </a:r>
            <a:r>
              <a:rPr lang="pt-BR" sz="3200"/>
              <a:t>ASCII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Utilizar </a:t>
            </a:r>
            <a:r>
              <a:rPr lang="pt-BR" sz="3200" b="1" strike="noStrike"/>
              <a:t>%s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para ler uma string.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A leitura termina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até encontrar </a:t>
            </a:r>
            <a:r>
              <a:rPr lang="pt-BR" sz="3200"/>
              <a:t>um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espaço em branco ou u</a:t>
            </a:r>
            <a:r>
              <a:rPr lang="pt-BR" sz="3200"/>
              <a:t>ma quebra de linha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/>
          </a:p>
        </p:txBody>
      </p:sp>
      <p:sp>
        <p:nvSpPr>
          <p:cNvPr id="308" name="Google Shape;308;p4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09" name="Google Shape;309;p4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30</a:t>
            </a:fld>
            <a:r>
              <a:rPr sz="1200"/>
              <a:t>28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4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L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eitura de </a:t>
            </a:r>
            <a:r>
              <a:rPr lang="pt-BR" sz="4400"/>
              <a:t>C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aracteres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#include &lt;stdio.h&gt;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int main() {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char ch;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char nome[3</a:t>
            </a:r>
            <a:r>
              <a:rPr lang="pt-BR" sz="2400"/>
              <a:t>1</a:t>
            </a: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];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printf("Digite um caractere: ");</a:t>
            </a:r>
            <a:endParaRPr sz="2400">
              <a:solidFill>
                <a:schemeClr val="dk1"/>
              </a:solidFill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scanf("%c", &amp;ch);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printf("Digite uma string: ");</a:t>
            </a:r>
            <a:endParaRPr sz="2400"/>
          </a:p>
          <a:p>
            <a:pPr marL="1800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scanf("%s", nome); </a:t>
            </a:r>
            <a:r>
              <a:rPr lang="pt-BR" sz="2400" b="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n</a:t>
            </a:r>
            <a:r>
              <a:rPr lang="pt-BR" sz="2400">
                <a:solidFill>
                  <a:srgbClr val="FF0000"/>
                </a:solidFill>
              </a:rPr>
              <a:t>ão aceita operador &amp;</a:t>
            </a:r>
            <a:endParaRPr sz="2400" b="0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return 0;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17" name="Google Shape;317;p44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31</a:t>
            </a:fld>
            <a:r>
              <a:rPr sz="1200"/>
              <a:t>29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Lendo </a:t>
            </a:r>
            <a:r>
              <a:rPr lang="pt-BR" sz="4400"/>
              <a:t>N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úmeros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Utilizar </a:t>
            </a:r>
            <a:r>
              <a:rPr lang="pt-BR" sz="3200" b="1" strike="noStrike"/>
              <a:t>%d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lang="pt-BR" sz="3200" b="1" strike="noStrike"/>
              <a:t>%i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para ler números inteiros.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Utilizar </a:t>
            </a:r>
            <a:r>
              <a:rPr lang="pt-BR" sz="3200" b="1" strike="noStrike"/>
              <a:t>%f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o</a:t>
            </a:r>
            <a:r>
              <a:rPr lang="pt-BR" sz="3200"/>
              <a:t>u </a:t>
            </a:r>
            <a:r>
              <a:rPr lang="pt-BR" sz="3200" b="1"/>
              <a:t>%e</a:t>
            </a:r>
            <a:r>
              <a:rPr lang="pt-BR" sz="3200"/>
              <a:t> 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para ler números </a:t>
            </a:r>
            <a:r>
              <a:rPr lang="pt-BR" sz="3200"/>
              <a:t>de ponto flutuante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A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leitura termina quando a</a:t>
            </a:r>
            <a:r>
              <a:rPr lang="pt-BR" sz="3200"/>
              <a:t>char 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o primeiro caractere não n</a:t>
            </a:r>
            <a:r>
              <a:rPr lang="pt-BR" sz="3200"/>
              <a:t>u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pt-BR" sz="3200"/>
              <a:t>é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rico.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25" name="Google Shape;325;p4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32</a:t>
            </a:fld>
            <a:r>
              <a:rPr sz="1200"/>
              <a:t>30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L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eitura de </a:t>
            </a:r>
            <a:r>
              <a:rPr lang="pt-BR" sz="4400"/>
              <a:t>N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úmeros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#include &lt;stdio.h&gt;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int main() {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int numero;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float moeda;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lvl="0" indent="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printf("Digite um número: ");</a:t>
            </a:r>
            <a:endParaRPr sz="2400">
              <a:solidFill>
                <a:schemeClr val="dk1"/>
              </a:solidFill>
            </a:endParaRPr>
          </a:p>
          <a:p>
            <a:pPr marL="18000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scanf("%d", &amp;numero);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lvl="0" indent="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printf("Digite um valor monetário: ");</a:t>
            </a:r>
            <a:endParaRPr sz="2400">
              <a:solidFill>
                <a:schemeClr val="dk1"/>
              </a:solidFill>
            </a:endParaRPr>
          </a:p>
          <a:p>
            <a:pPr marL="18000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scanf("%f", &amp;moeda);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   return 0;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pt-BR" sz="2400" b="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33" name="Google Shape;333;p4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33</a:t>
            </a:fld>
            <a:r>
              <a:rPr sz="1200"/>
              <a:t>31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Problemas com Leituras em C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7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A função scanf pode deixar caracteres inválidos no buffer se a entrada não corresponder ao formato esperado.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57200" lvl="0" indent="-320040" algn="l" rtl="0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A função scanf lê strings até o primeiro espaço em branco, ignorando o restante.</a:t>
            </a:r>
            <a:endParaRPr sz="3200">
              <a:solidFill>
                <a:schemeClr val="dk1"/>
              </a:solidFill>
            </a:endParaRPr>
          </a:p>
          <a:p>
            <a:pPr marL="457200" lvl="0" indent="-320040" algn="l" rtl="0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Chamadas consecutivas as funções getchar, gets e scanf podem ser ignoradas por conta de caracteres que ficam no buffer.</a:t>
            </a:r>
            <a:endParaRPr sz="3200"/>
          </a:p>
        </p:txBody>
      </p:sp>
      <p:sp>
        <p:nvSpPr>
          <p:cNvPr id="340" name="Google Shape;340;p4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41" name="Google Shape;341;p4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34</a:t>
            </a:fld>
            <a:r>
              <a:rPr sz="1200"/>
              <a:t>32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8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Como Evitar Problemas de Leitura?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Limpar o buffer com a função getchar() após cada função de leitura.</a:t>
            </a:r>
            <a:endParaRPr sz="3200"/>
          </a:p>
          <a:p>
            <a:pPr marL="45720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(getchar() != '\n');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20040" algn="l" rtl="0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Usar a função fgets() para leitura de strings com espaços.</a:t>
            </a:r>
            <a:endParaRPr sz="3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fgets(string, tamanho, stdin);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8" name="Google Shape;348;p4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49" name="Google Shape;349;p4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35</a:t>
            </a:fld>
            <a:r>
              <a:rPr sz="1200"/>
              <a:t>33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9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Referências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971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SCHILDT, Herbert. C: Completo e Total. 3. ed. Pearson Makron Books, 1997.</a:t>
            </a:r>
            <a:endParaRPr sz="2400">
              <a:solidFill>
                <a:schemeClr val="dk1"/>
              </a:solidFill>
            </a:endParaRPr>
          </a:p>
          <a:p>
            <a:pPr marL="457200" lvl="0" indent="-29718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ANTONELLO, Ricardo. Linguagem C. 1. ed. Livro Digital, 2020.</a:t>
            </a:r>
            <a:endParaRPr sz="2400"/>
          </a:p>
        </p:txBody>
      </p:sp>
      <p:sp>
        <p:nvSpPr>
          <p:cNvPr id="356" name="Google Shape;356;p4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57" name="Google Shape;357;p4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36</a:t>
            </a:fld>
            <a:r>
              <a:rPr sz="1200"/>
              <a:t>38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Mapa da aula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Aula (teoria): Aula06–08 — Entrada e saída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Laboratório guiado: Pratica04 / Pratica05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Atividade avaliativa: Atividade02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Sugestão de ritmo: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Conceitos nos slides   2) Prática no lab   3) Atividade sem 'receita'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Para estudar no livro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Livro-base: ANTONELLO, Ricardo. Linguagem C. 1. ed.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Leitura indicada: Cap. 4.7 e 4.8 (p. 33–38)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Exercícios do livro: Exercícios 4.13 (E/S)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Revise o capítulo após a aula e antes da prática.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Desafio (8 min)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Leia nome completo (espaços) e idade; imprima formatado. Use fgets + scanf com limpeza de buffer.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Trabalhe em dupla (instrução por pares).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Ao final, uma dupla compartilha a solução com a turma.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Quiz rápido (3 perguntas)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Por que gets é perigosa?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2) scanf("%s") lê nome composto?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3) Como limpar o buffer após scanf?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Respostas no quadro / Mentimeter / Kahoot.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2000</Words>
  <Application>Microsoft Office PowerPoint</Application>
  <PresentationFormat>Personalizar</PresentationFormat>
  <Paragraphs>374</Paragraphs>
  <Slides>36</Slides>
  <Notes>36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0" baseType="lpstr">
      <vt:lpstr>Arial</vt:lpstr>
      <vt:lpstr>Courier New</vt:lpstr>
      <vt:lpstr>Noto Sans Symbols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marcelo alves farias</cp:lastModifiedBy>
  <cp:revision>1</cp:revision>
  <dcterms:modified xsi:type="dcterms:W3CDTF">2026-07-06T19:05:11Z</dcterms:modified>
</cp:coreProperties>
</file>