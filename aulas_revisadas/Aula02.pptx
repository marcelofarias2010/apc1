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6" r:id="rId29"/>
    <p:sldId id="289" r:id="rId30"/>
    <p:sldId id="287" r:id="rId31"/>
    <p:sldId id="290" r:id="rId39"/>
    <p:sldId id="288" r:id="rId32"/>
    <p:sldId id="284" r:id="rId33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E3DD43-6D84-4977-B305-2D0B7C525A62}">
  <a:tblStyle styleId="{4CE3DD43-6D84-4977-B305-2D0B7C525A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30f06bda2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3630f06bd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5dec804266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25dec8042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22b90ce85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1422b90ce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3bb06a2339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13bb06a23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402df8164c_0_1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1402df8164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402df8164c_0_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1402df8164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144000" y="157320"/>
            <a:ext cx="9792000" cy="58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3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4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2"/>
          </p:nvPr>
        </p:nvSpPr>
        <p:spPr>
          <a:xfrm>
            <a:off x="345492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3"/>
          </p:nvPr>
        </p:nvSpPr>
        <p:spPr>
          <a:xfrm>
            <a:off x="676584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4"/>
          </p:nvPr>
        </p:nvSpPr>
        <p:spPr>
          <a:xfrm>
            <a:off x="14400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5"/>
          </p:nvPr>
        </p:nvSpPr>
        <p:spPr>
          <a:xfrm>
            <a:off x="345492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6"/>
          </p:nvPr>
        </p:nvSpPr>
        <p:spPr>
          <a:xfrm>
            <a:off x="676584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2520000" y="6887160"/>
            <a:ext cx="1440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04000" y="6887160"/>
            <a:ext cx="4608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856000" y="6887160"/>
            <a:ext cx="107964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44000" y="6769080"/>
            <a:ext cx="2275560" cy="6469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b="0" i="0" u="none" strike="noStrike" cap="none">
                <a:latin typeface="Arial"/>
                <a:ea typeface="Arial"/>
                <a:cs typeface="Arial"/>
                <a:sym typeface="Arial"/>
              </a:rPr>
              <a:t>Algoritmos e Programação de Computadores I</a:t>
            </a:r>
            <a:endParaRPr sz="4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u="none" strike="noStrike" cap="none" dirty="0">
                <a:latin typeface="Arial"/>
                <a:ea typeface="Arial"/>
                <a:cs typeface="Arial"/>
                <a:sym typeface="Arial"/>
              </a:rPr>
              <a:t>Visão Geral d</a:t>
            </a:r>
            <a:r>
              <a:rPr lang="pt-BR" sz="4400" b="1" dirty="0"/>
              <a:t>o</a:t>
            </a:r>
            <a:r>
              <a:rPr lang="pt-BR" sz="4400" b="1" i="0" u="none" strike="noStrike" cap="none" dirty="0">
                <a:latin typeface="Arial"/>
                <a:ea typeface="Arial"/>
                <a:cs typeface="Arial"/>
                <a:sym typeface="Arial"/>
              </a:rPr>
              <a:t> C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Prof. Marcelo Farias</a:t>
            </a:r>
            <a:endParaRPr sz="3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Objetivos da Aula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Apresentar a evolução da linguagem C.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Identificar as principais características da linguagem C.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Entender o processo de compilação em C.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Aprender a sintaxe básica da linguagem C.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Conhecer os principais compiladores para desenvolvimento em C.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r>
              <a:rPr sz="1200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História do C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1972 – Linguagem C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Criada por Dennis Ritchie para o desenvolvimento do sistema operacional Unix.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1978 – C Kernigham e Ritchie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Primeira versão oficial descrita em </a:t>
            </a:r>
            <a:r>
              <a:rPr lang="pt-BR" sz="2800" b="0" i="1" u="none" strike="noStrike" cap="none">
                <a:latin typeface="Arial"/>
                <a:ea typeface="Arial"/>
                <a:cs typeface="Arial"/>
                <a:sym typeface="Arial"/>
              </a:rPr>
              <a:t>The C Programming Language</a:t>
            </a: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1989 – ANSI C ou C90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Tornou-se um padrão para unificar as diversas implementações existentes.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r>
              <a:rPr sz="1200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História do C (cont.)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1999 – C99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Revisão do ANSI C que </a:t>
            </a:r>
            <a:r>
              <a:rPr lang="pt-BR" sz="2800"/>
              <a:t>adicionou</a:t>
            </a: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 tipo </a:t>
            </a:r>
            <a:r>
              <a:rPr lang="pt-BR" sz="2800" b="0" i="1" u="none" strike="noStrike" cap="none"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 e  comentários com //.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2011 – C11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Padrão que incorporou multitarefa e estruturas</a:t>
            </a:r>
            <a:r>
              <a:rPr lang="pt-BR" sz="2800"/>
              <a:t>/</a:t>
            </a: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uniões anônimas.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2018 – C17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Correções de bugs.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r>
              <a:rPr sz="1200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r>
              <a:rPr sz="1200"/>
              <a:t>5</a:t>
            </a:r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 l="2110" t="20476" r="1532" b="6000"/>
          <a:stretch/>
        </p:blipFill>
        <p:spPr>
          <a:xfrm>
            <a:off x="121900" y="404950"/>
            <a:ext cx="9836825" cy="606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 é uma </a:t>
            </a:r>
            <a:r>
              <a:rPr lang="pt-BR" sz="4400"/>
              <a:t>L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inguagem de </a:t>
            </a:r>
            <a:r>
              <a:rPr lang="pt-BR" sz="4400"/>
              <a:t>M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édio </a:t>
            </a:r>
            <a:r>
              <a:rPr lang="pt-BR" sz="4400"/>
              <a:t>N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ível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 é considerada uma linguagem de alto nível, pois abstrai muitos detalhes do hardware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Também oferece recursos para manipulação direta do hardware, aproximando-se do baixo nível.</a:t>
            </a:r>
            <a:endParaRPr sz="3200"/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Por isso, muitos autores chamam C de “linguagem de médio nível”, embora essa não seja uma categoria formal.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r>
              <a:rPr sz="1200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 é </a:t>
            </a:r>
            <a:r>
              <a:rPr lang="pt-BR" sz="4400"/>
              <a:t>C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ompilado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 compilador converte o código fonte em código objeto (compilação antecipada ou </a:t>
            </a:r>
            <a:r>
              <a:rPr lang="pt-BR" sz="3200" i="1"/>
              <a:t>ahead-of-time</a:t>
            </a:r>
            <a:r>
              <a:rPr lang="pt-BR" sz="3200"/>
              <a:t>)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Se o código objeto referenciar outros códigos ou bibliotecas externas é preciso ligá-los a ele.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ligador cria um executável a partir dos códigos objetos e bibliotecas ex</a:t>
            </a:r>
            <a:r>
              <a:rPr lang="pt-BR" sz="3200"/>
              <a:t>ternas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r>
              <a:rPr sz="1200"/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 é </a:t>
            </a:r>
            <a:r>
              <a:rPr lang="pt-BR" sz="4400"/>
              <a:t>P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ortável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 dirty="0">
                <a:latin typeface="Arial"/>
                <a:ea typeface="Arial"/>
                <a:cs typeface="Arial"/>
                <a:sym typeface="Arial"/>
              </a:rPr>
              <a:t>Pode ser compilada e executada em diferentes arquiteturas, seja de hardware ou de software. </a:t>
            </a:r>
            <a:endParaRPr sz="3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 dirty="0">
                <a:latin typeface="Arial"/>
                <a:ea typeface="Arial"/>
                <a:cs typeface="Arial"/>
                <a:sym typeface="Arial"/>
              </a:rPr>
              <a:t>Há uma diversidade de compiladores (e</a:t>
            </a:r>
            <a:r>
              <a:rPr lang="pt-BR" sz="3200" dirty="0"/>
              <a:t>x.: </a:t>
            </a:r>
            <a:r>
              <a:rPr lang="pt-BR" sz="3200" dirty="0" err="1"/>
              <a:t>clang</a:t>
            </a:r>
            <a:r>
              <a:rPr lang="pt-BR" sz="3200" dirty="0"/>
              <a:t>, </a:t>
            </a:r>
            <a:r>
              <a:rPr lang="pt-BR" sz="3200" dirty="0" err="1"/>
              <a:t>gcc</a:t>
            </a:r>
            <a:r>
              <a:rPr lang="pt-BR" sz="3200" dirty="0"/>
              <a:t>, cl).</a:t>
            </a:r>
            <a:endParaRPr sz="3200" dirty="0"/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dirty="0"/>
              <a:t>O </a:t>
            </a:r>
            <a:r>
              <a:rPr lang="pt-BR" sz="3200" dirty="0" err="1"/>
              <a:t>pré</a:t>
            </a:r>
            <a:r>
              <a:rPr lang="pt-BR" sz="3200" dirty="0"/>
              <a:t>-processador C prepara o código fonte para a plataforma desejada com base nas diretivas (ex.: #include, #define, etc.) especificadas no código.</a:t>
            </a:r>
            <a:endParaRPr sz="3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r>
              <a:rPr sz="1200"/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 é </a:t>
            </a:r>
            <a:r>
              <a:rPr lang="pt-BR" sz="4400"/>
              <a:t>E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struturado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Um programa em C é composto por blocos elementares de código.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Cada bloco compartimenta cód</a:t>
            </a:r>
            <a:r>
              <a:rPr lang="pt-BR" sz="3200"/>
              <a:t>igo e dados, sendo delimitado por 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um início e um fim.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 função é o principal componente estrutural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/>
          </a:p>
        </p:txBody>
      </p:sp>
      <p:sp>
        <p:nvSpPr>
          <p:cNvPr id="139" name="Google Shape;139;p2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r>
              <a:rPr sz="1200"/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 é </a:t>
            </a:r>
            <a:r>
              <a:rPr lang="pt-BR" sz="4400"/>
              <a:t>I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mperativo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Orientado a comandos que manipulam variáveis e </a:t>
            </a:r>
            <a:r>
              <a:rPr lang="pt-BR" sz="3200">
                <a:solidFill>
                  <a:schemeClr val="dk1"/>
                </a:solidFill>
              </a:rPr>
              <a:t>são executados de forma sequencial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Os comandos podem ser de atribuição, </a:t>
            </a:r>
            <a:r>
              <a:rPr lang="pt-BR" sz="3200"/>
              <a:t>seleção 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e repetição.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r>
              <a:rPr sz="1200"/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 é </a:t>
            </a:r>
            <a:r>
              <a:rPr lang="pt-BR" sz="4400"/>
              <a:t>P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rocedural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Código organizado em sub-r</a:t>
            </a:r>
            <a:r>
              <a:rPr lang="pt-BR" sz="3200"/>
              <a:t>o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tinas ou funções.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Favorece a modularização e o compartilhamento de código.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 </a:t>
            </a:r>
            <a:r>
              <a:rPr lang="pt-BR" sz="3200">
                <a:solidFill>
                  <a:srgbClr val="FF0000"/>
                </a:solidFill>
              </a:rPr>
              <a:t>não</a:t>
            </a:r>
            <a:r>
              <a:rPr lang="pt-BR" sz="3200"/>
              <a:t> permite criar uma função dentro de função, mas permite ponteiros para funções.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r>
              <a:rPr sz="1200"/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Bibliotecas Externas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Módulos com funções prontas para serem utilizadas por outros programas.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Podem ser estáticas (ligadas na compilação) ou dinâmicas (carregadas na execução).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 i="1"/>
              <a:t>C Standard Library</a:t>
            </a:r>
            <a:r>
              <a:rPr lang="pt-BR" sz="3200"/>
              <a:t> é a biblioteca padrão.</a:t>
            </a:r>
            <a:endParaRPr sz="3200"/>
          </a:p>
        </p:txBody>
      </p:sp>
      <p:sp>
        <p:nvSpPr>
          <p:cNvPr id="163" name="Google Shape;163;p2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r>
              <a:rPr sz="1200"/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 versus C++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C++ é uma extensão do C que acrescentou a orientação a objetos.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Grande parte do código em C pode ser compilado em C++.</a:t>
            </a:r>
            <a:r>
              <a:rPr lang="pt-BR" sz="3200"/>
              <a:t> Já o contrário não rola.</a:t>
            </a:r>
            <a:endParaRPr sz="3200"/>
          </a:p>
          <a:p>
            <a:pPr marL="457200" lvl="0" indent="-320040" algn="l" rtl="0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C++ possui mais recursos e funções do que C.</a:t>
            </a:r>
            <a:endParaRPr sz="3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417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Nota: Orientação a objetos é um paradigma de programação que organiza o código em objetos, que representam entidades do mundo real, facilitando a reutilização e a manutenção do software.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r>
              <a:rPr sz="1200"/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 versus C</a:t>
            </a:r>
            <a:r>
              <a:rPr lang="pt-BR" sz="4400"/>
              <a:t>#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pt-BR" sz="3200"/>
              <a:t>#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é uma </a:t>
            </a:r>
            <a:r>
              <a:rPr lang="pt-BR" sz="3200"/>
              <a:t>linguagem orientada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a objetos que não tem r</a:t>
            </a:r>
            <a:r>
              <a:rPr lang="pt-BR" sz="3200"/>
              <a:t>elação alguma com C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C# requer a instalação do framework .NET.</a:t>
            </a:r>
            <a:endParaRPr sz="3200"/>
          </a:p>
          <a:p>
            <a:pPr marL="457200" lvl="0" indent="-320040" algn="l" rtl="0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C# possui mais recursos e funções do que C.</a:t>
            </a:r>
            <a:endParaRPr sz="3200"/>
          </a:p>
        </p:txBody>
      </p:sp>
      <p:sp>
        <p:nvSpPr>
          <p:cNvPr id="179" name="Google Shape;179;p2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r>
              <a:rPr sz="1200"/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O que se </a:t>
            </a:r>
            <a:r>
              <a:rPr lang="pt-BR" sz="4400"/>
              <a:t>D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esenvolve em C?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Sistemas operacionais (ex.: Linux</a:t>
            </a:r>
            <a:r>
              <a:rPr lang="pt-BR" sz="3200"/>
              <a:t> e Windows)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Gerenciadores de banco de dados (ex.: MySQL e Postgre</a:t>
            </a:r>
            <a:r>
              <a:rPr lang="pt-BR" sz="3200"/>
              <a:t>SQL).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Compiladores e interpretadores (e</a:t>
            </a:r>
            <a:r>
              <a:rPr lang="pt-BR" sz="3200"/>
              <a:t>x.: Java e PHP).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Aplicações com interface gráfica (ex</a:t>
            </a:r>
            <a:r>
              <a:rPr lang="pt-BR" sz="3200"/>
              <a:t>.: Chrome e Gimp).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Sistemas embarcados (ex.: </a:t>
            </a:r>
            <a:r>
              <a:rPr lang="pt-BR" sz="3200"/>
              <a:t>sistemas automotivos e controles industriais).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88" name="Google Shape;188;p2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r>
              <a:rPr sz="1200"/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7680" y="1584000"/>
            <a:ext cx="6524280" cy="50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P</a:t>
            </a:r>
            <a:r>
              <a:rPr lang="pt-BR" sz="4400"/>
              <a:t>rocesso de Compilação no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 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r>
              <a:rPr sz="1200"/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Compiladores C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Clang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GCC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MinGW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Microsoft C/C++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17</a:t>
            </a:fld>
            <a:r>
              <a:rPr sz="1200"/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GCC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Compilador C do projeto </a:t>
            </a: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GNU Compiler Collection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Usado </a:t>
            </a:r>
            <a:r>
              <a:rPr lang="pt-BR" sz="3200"/>
              <a:t>n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o desenvolvimento do Linux.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Compatível com C90, C99, C11 e C17.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20" name="Google Shape;220;p3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18</a:t>
            </a:fld>
            <a:r>
              <a:rPr sz="1200"/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MinGW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Compilador C do projeto </a:t>
            </a: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Minimalist GNU for Windows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Permite o desenvolvimento de aplicativos nativos no Windows, sem depender de bibliotecas da MS.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Suporte a especificação C11. 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28" name="Google Shape;228;p3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19</a:t>
            </a:fld>
            <a:r>
              <a:rPr sz="1200"/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Sintaxe </a:t>
            </a:r>
            <a:r>
              <a:rPr lang="pt-BR" sz="4400"/>
              <a:t>B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ás</a:t>
            </a:r>
            <a:r>
              <a:rPr lang="pt-BR" sz="4400"/>
              <a:t>ica 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do C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Diferencia maiúsculo e minúsculo (</a:t>
            </a: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lang="pt-BR" sz="3200" i="1"/>
              <a:t> sensitive</a:t>
            </a:r>
            <a:r>
              <a:rPr lang="pt-BR" sz="3200"/>
              <a:t>)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Chaves { } delimitam blocos de comandos.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Toda linha termina com ponto e vírgula.</a:t>
            </a:r>
            <a:endParaRPr sz="3200"/>
          </a:p>
        </p:txBody>
      </p:sp>
      <p:sp>
        <p:nvSpPr>
          <p:cNvPr id="243" name="Google Shape;243;p3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44" name="Google Shape;244;p3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20</a:t>
            </a:fld>
            <a:r>
              <a:rPr sz="1200"/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/>
              <a:t> 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Palavras Reservadas do C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0" name="Google Shape;250;p36"/>
          <p:cNvGraphicFramePr/>
          <p:nvPr/>
        </p:nvGraphicFramePr>
        <p:xfrm>
          <a:off x="144000" y="1584000"/>
          <a:ext cx="9792000" cy="4633040"/>
        </p:xfrm>
        <a:graphic>
          <a:graphicData uri="http://schemas.openxmlformats.org/drawingml/2006/table">
            <a:tbl>
              <a:tblPr>
                <a:noFill/>
                <a:tableStyleId>{4CE3DD43-6D84-4977-B305-2D0B7C525A62}</a:tableStyleId>
              </a:tblPr>
              <a:tblGrid>
                <a:gridCol w="24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</a:t>
                      </a:r>
                      <a:r>
                        <a:rPr lang="pt-BR" sz="3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auto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double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struct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</a:t>
                      </a: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break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else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long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switch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</a:t>
                      </a: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case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enum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typedef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</a:t>
                      </a: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char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extern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return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union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</a:t>
                      </a: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const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float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short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unsigned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</a:t>
                      </a: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continue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for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signed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void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</a:t>
                      </a: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goto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sizeof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volatile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</a:t>
                      </a: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if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static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while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1" name="Google Shape;251;p3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52" name="Google Shape;252;p3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r>
              <a:rPr sz="1200"/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Comentários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De linha (//) a partir do C99.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1134"/>
              </a:spcBef>
              <a:spcAft>
                <a:spcPts val="0"/>
              </a:spcAft>
              <a:buNone/>
            </a:pPr>
            <a:r>
              <a:rPr lang="pt-BR" sz="2800" i="0" u="none" strike="noStrike" cap="none">
                <a:latin typeface="Courier New"/>
                <a:ea typeface="Courier New"/>
                <a:cs typeface="Courier New"/>
                <a:sym typeface="Courier New"/>
              </a:rPr>
              <a:t>x = 10; </a:t>
            </a:r>
            <a:r>
              <a:rPr lang="pt-BR" sz="28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// Atribui valor 10</a:t>
            </a:r>
            <a:endParaRPr sz="280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De bloco (/*   */)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1134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/* x = 10; </a:t>
            </a:r>
            <a:endParaRPr sz="280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spcBef>
                <a:spcPts val="1134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   y = 20; */</a:t>
            </a:r>
            <a:endParaRPr sz="280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spcBef>
                <a:spcPts val="1134"/>
              </a:spcBef>
              <a:spcAft>
                <a:spcPts val="0"/>
              </a:spcAft>
              <a:buNone/>
            </a:pPr>
            <a:endParaRPr sz="2800"/>
          </a:p>
          <a:p>
            <a:pPr marL="457200" marR="0" lvl="0" indent="0" algn="l" rtl="0">
              <a:spcBef>
                <a:spcPts val="1134"/>
              </a:spcBef>
              <a:spcAft>
                <a:spcPts val="0"/>
              </a:spcAft>
              <a:buNone/>
            </a:pPr>
            <a:endParaRPr sz="3000"/>
          </a:p>
          <a:p>
            <a:pPr marL="457200" marR="0" lvl="0" indent="0" algn="l" rtl="0">
              <a:spcBef>
                <a:spcPts val="1134"/>
              </a:spcBef>
              <a:spcAft>
                <a:spcPts val="0"/>
              </a:spcAft>
              <a:buNone/>
            </a:pPr>
            <a:r>
              <a:rPr lang="pt-BR" sz="2400"/>
              <a:t>Obs.: O bloco ou a linha comentada são ignorados pelo compilador.</a:t>
            </a:r>
            <a:endParaRPr sz="2400"/>
          </a:p>
        </p:txBody>
      </p:sp>
      <p:sp>
        <p:nvSpPr>
          <p:cNvPr id="259" name="Google Shape;259;p3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22</a:t>
            </a:fld>
            <a:r>
              <a:rPr sz="1200"/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lang="pt-BR" sz="4400"/>
              <a:t>S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imples </a:t>
            </a:r>
            <a:r>
              <a:rPr lang="pt-BR" sz="4400"/>
              <a:t>P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rograma em C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strike="noStrike">
                <a:latin typeface="Courier New"/>
                <a:ea typeface="Courier New"/>
                <a:cs typeface="Courier New"/>
                <a:sym typeface="Courier New"/>
              </a:rPr>
              <a:t>#include &lt;stdio.h&gt;	</a:t>
            </a:r>
            <a:r>
              <a:rPr lang="pt-BR" sz="24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// Inclui a biblioteca padrão E/S</a:t>
            </a:r>
            <a:endParaRPr sz="2400" strike="noStrike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strike="noStrike">
                <a:latin typeface="Courier New"/>
                <a:ea typeface="Courier New"/>
                <a:cs typeface="Courier New"/>
                <a:sym typeface="Courier New"/>
              </a:rPr>
              <a:t>int main() {			</a:t>
            </a:r>
            <a:r>
              <a:rPr lang="pt-BR" sz="24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// Função principal obrigatória</a:t>
            </a:r>
            <a:endParaRPr sz="2400" strike="noStrike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strike="noStrike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// Seu código aqui</a:t>
            </a:r>
            <a:endParaRPr sz="2400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strike="noStrike">
                <a:latin typeface="Courier New"/>
                <a:ea typeface="Courier New"/>
                <a:cs typeface="Courier New"/>
                <a:sym typeface="Courier New"/>
              </a:rPr>
              <a:t>  return 0;				</a:t>
            </a:r>
            <a:r>
              <a:rPr lang="pt-BR" sz="24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// Indica término com sucesso</a:t>
            </a:r>
            <a:endParaRPr sz="2400" strike="noStrike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strike="noStrike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 strike="noStrike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23</a:t>
            </a:fld>
            <a:r>
              <a:rPr sz="1200"/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Compilando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lang="pt-BR" sz="4400"/>
              <a:t>P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rograma em C 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75" name="Google Shape;275;p3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r>
              <a:rPr sz="1200"/>
              <a:t>24</a:t>
            </a:r>
            <a:endParaRPr/>
          </a:p>
        </p:txBody>
      </p:sp>
      <p:sp>
        <p:nvSpPr>
          <p:cNvPr id="276" name="Google Shape;276;p3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Windows (PowerShell / CMD):</a:t>
            </a:r>
            <a:endParaRPr sz="3200" b="1" strike="noStrike"/>
          </a:p>
          <a:p>
            <a:r>
              <a:t>gcc -std=c99 -Wall -o saida.exe nome_do_arquivo.c</a:t>
            </a:r>
          </a:p>
          <a:p>
            <a:r>
              <a:t>.\saida.exe</a:t>
            </a:r>
          </a:p>
          <a:p>
            <a:endParaRPr/>
          </a:p>
          <a:p>
            <a:r>
              <a:t>Linux / macOS:</a:t>
            </a:r>
          </a:p>
          <a:p>
            <a:r>
              <a:t>gcc -std=c99 -Wall -o saida nome_do_arquivo.c</a:t>
            </a:r>
          </a:p>
          <a:p>
            <a:r>
              <a:t>./saida</a:t>
            </a:r>
          </a:p>
          <a:p>
            <a:endParaRPr/>
          </a:p>
          <a:p>
            <a:r>
              <a:t>Dica: -Wall mostra avisos úteis para iniciantes.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Ligando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B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ibliote</a:t>
            </a:r>
            <a:r>
              <a:rPr lang="pt-BR" sz="4400"/>
              <a:t>cas Externas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do 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C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83" name="Google Shape;283;p4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r>
              <a:rPr sz="1200"/>
              <a:t>25</a:t>
            </a:r>
            <a:endParaRPr/>
          </a:p>
        </p:txBody>
      </p:sp>
      <p:sp>
        <p:nvSpPr>
          <p:cNvPr id="284" name="Google Shape;284;p4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Para funções de &lt;math.h&gt;:</a:t>
            </a:r>
            <a:endParaRPr sz="3200"/>
          </a:p>
          <a:p>
            <a:endParaRPr sz="3200"/>
          </a:p>
          <a:p>
            <a:r>
              <a:t>Windows:</a:t>
            </a:r>
          </a:p>
          <a:p>
            <a:r>
              <a:t>gcc -std=c99 -Wall -o saida.exe nome_do_arquivo.c -lm</a:t>
            </a:r>
          </a:p>
          <a:p>
            <a:r>
              <a:t>.\saida.exe</a:t>
            </a:r>
          </a:p>
          <a:p>
            <a:endParaRPr/>
          </a:p>
          <a:p>
            <a:r>
              <a:t>Linux / macOS:</a:t>
            </a:r>
          </a:p>
          <a:p>
            <a:r>
              <a:t>gcc -std=c99 -Wall -o saida nome_do_arquivo.c -lm</a:t>
            </a:r>
          </a:p>
          <a:p>
            <a:r>
              <a:t>./saida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Depurando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lang="pt-BR" sz="4400"/>
              <a:t>P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rograma em C 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91" name="Google Shape;291;p4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r>
              <a:rPr sz="1200"/>
              <a:t>26</a:t>
            </a:r>
            <a:endParaRPr/>
          </a:p>
        </p:txBody>
      </p:sp>
      <p:sp>
        <p:nvSpPr>
          <p:cNvPr id="292" name="Google Shape;292;p4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Windows:</a:t>
            </a:r>
            <a:endParaRPr sz="3200"/>
          </a:p>
          <a:p>
            <a:r>
              <a:t>gcc -std=c99 -Wall -g -o saida.exe nome_do_arquivo.c</a:t>
            </a:r>
          </a:p>
          <a:p>
            <a:r>
              <a:t>gdb saida.exe</a:t>
            </a:r>
          </a:p>
          <a:p>
            <a:endParaRPr/>
          </a:p>
          <a:p>
            <a:r>
              <a:t>Comandos gdb: break n | run | next | print var | quit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Mapa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Aula (teoria): Aula02 — Visão geral do C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Laboratório guiado: Pratica01 / Pratica02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Atividade avaliativa: Atividade01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Sugestão de ritmo: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Conceitos nos slides   2) Prática no lab   3) Atividade sem 'receita'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Para estudar no livro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Livro-base: ANTONELLO, Ricardo. Linguagem C. 1. ed.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Leitura indicada: Cap. 3 — Introdução à Linguagem C (p. 22–27)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Exercícios do livro: Exercícios 3.7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Revise o capítulo após a aula e antes da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9DA42-3408-D306-88B5-107D80008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/>
              <a:t>Recursos para trabalhar com linguagem C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31808F-4980-DEE5-403E-8067B7718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000" y="1266092"/>
            <a:ext cx="9792000" cy="5586884"/>
          </a:xfrm>
        </p:spPr>
        <p:txBody>
          <a:bodyPr/>
          <a:lstStyle/>
          <a:p>
            <a:r>
              <a:rPr lang="pt-BR" sz="1600" dirty="0"/>
              <a:t>Para as práticas de </a:t>
            </a:r>
            <a:r>
              <a:rPr lang="pt-BR" sz="1600" b="1" dirty="0"/>
              <a:t>APC I em C</a:t>
            </a:r>
            <a:r>
              <a:rPr lang="pt-BR" sz="1600" dirty="0"/>
              <a:t> (no estilo das suas Praticas/), o laboratório precisa deste conjunto mínimo:</a:t>
            </a:r>
          </a:p>
          <a:p>
            <a:r>
              <a:rPr lang="pt-BR" sz="1600" dirty="0"/>
              <a:t>Essencial</a:t>
            </a:r>
          </a:p>
          <a:p>
            <a:pPr lvl="0"/>
            <a:r>
              <a:rPr lang="pt-BR" sz="1600" b="1" dirty="0"/>
              <a:t>Compilador C (GCC)</a:t>
            </a:r>
            <a:endParaRPr lang="pt-BR" sz="1600" dirty="0"/>
          </a:p>
          <a:p>
            <a:pPr lvl="1"/>
            <a:r>
              <a:rPr lang="pt-BR" sz="1600" dirty="0"/>
              <a:t>No Windows: </a:t>
            </a:r>
            <a:r>
              <a:rPr lang="pt-BR" sz="1600" b="1" dirty="0"/>
              <a:t>MinGW-w64 / </a:t>
            </a:r>
            <a:r>
              <a:rPr lang="pt-BR" sz="1600" b="1" dirty="0" err="1"/>
              <a:t>WinLibs</a:t>
            </a:r>
            <a:r>
              <a:rPr lang="pt-BR" sz="1600" dirty="0"/>
              <a:t> (ou equivalente).</a:t>
            </a:r>
          </a:p>
          <a:p>
            <a:pPr lvl="1"/>
            <a:r>
              <a:rPr lang="pt-BR" sz="1600" dirty="0"/>
              <a:t>Comando no terminal: </a:t>
            </a:r>
            <a:r>
              <a:rPr lang="pt-BR" sz="1600" dirty="0" err="1">
                <a:highlight>
                  <a:srgbClr val="FFFF00"/>
                </a:highlight>
              </a:rPr>
              <a:t>gcc</a:t>
            </a:r>
            <a:r>
              <a:rPr lang="pt-BR" sz="1600" dirty="0">
                <a:highlight>
                  <a:srgbClr val="FFFF00"/>
                </a:highlight>
              </a:rPr>
              <a:t> --</a:t>
            </a:r>
            <a:r>
              <a:rPr lang="pt-BR" sz="1600" dirty="0" err="1">
                <a:highlight>
                  <a:srgbClr val="FFFF00"/>
                </a:highlight>
              </a:rPr>
              <a:t>version</a:t>
            </a:r>
            <a:r>
              <a:rPr lang="pt-BR" sz="1600" dirty="0">
                <a:highlight>
                  <a:srgbClr val="FFFF00"/>
                </a:highlight>
              </a:rPr>
              <a:t> </a:t>
            </a:r>
            <a:r>
              <a:rPr lang="pt-BR" sz="1600" dirty="0"/>
              <a:t>deve funcionar.</a:t>
            </a:r>
          </a:p>
          <a:p>
            <a:pPr lvl="1"/>
            <a:r>
              <a:rPr lang="pt-BR" sz="1600" dirty="0"/>
              <a:t>Flags usadas nas aulas: -</a:t>
            </a:r>
            <a:r>
              <a:rPr lang="pt-BR" sz="1600" dirty="0" err="1"/>
              <a:t>std</a:t>
            </a:r>
            <a:r>
              <a:rPr lang="pt-BR" sz="1600" dirty="0"/>
              <a:t>=c99 -Wall -</a:t>
            </a:r>
            <a:r>
              <a:rPr lang="pt-BR" sz="1600" dirty="0" err="1"/>
              <a:t>lm</a:t>
            </a:r>
            <a:r>
              <a:rPr lang="pt-BR" sz="1600" dirty="0"/>
              <a:t>.</a:t>
            </a:r>
          </a:p>
          <a:p>
            <a:pPr lvl="0"/>
            <a:r>
              <a:rPr lang="pt-BR" sz="1600" b="1" dirty="0"/>
              <a:t>Editor / IDE</a:t>
            </a:r>
            <a:endParaRPr lang="pt-BR" sz="1600" dirty="0"/>
          </a:p>
          <a:p>
            <a:pPr lvl="1"/>
            <a:r>
              <a:rPr lang="pt-BR" sz="1600" b="1" dirty="0"/>
              <a:t>Visual Studio </a:t>
            </a:r>
            <a:r>
              <a:rPr lang="pt-BR" sz="1600" b="1" dirty="0" err="1"/>
              <a:t>Code</a:t>
            </a:r>
            <a:r>
              <a:rPr lang="pt-BR" sz="1600" dirty="0"/>
              <a:t> (como nas práticas) </a:t>
            </a:r>
            <a:r>
              <a:rPr lang="pt-BR" sz="1600" b="1" dirty="0"/>
              <a:t>ou</a:t>
            </a:r>
            <a:r>
              <a:rPr lang="pt-BR" sz="1600" dirty="0"/>
              <a:t> alternativa portátil (</a:t>
            </a:r>
            <a:r>
              <a:rPr lang="pt-BR" sz="1600" dirty="0" err="1"/>
              <a:t>VSCodium</a:t>
            </a:r>
            <a:r>
              <a:rPr lang="pt-BR" sz="1600" dirty="0"/>
              <a:t> / </a:t>
            </a:r>
            <a:r>
              <a:rPr lang="pt-BR" sz="1600" dirty="0" err="1"/>
              <a:t>Code</a:t>
            </a:r>
            <a:r>
              <a:rPr lang="pt-BR" sz="1600" dirty="0"/>
              <a:t>::</a:t>
            </a:r>
            <a:r>
              <a:rPr lang="pt-BR" sz="1600" dirty="0" err="1"/>
              <a:t>Blocks</a:t>
            </a:r>
            <a:r>
              <a:rPr lang="pt-BR" sz="1600" dirty="0"/>
              <a:t>).</a:t>
            </a:r>
          </a:p>
          <a:p>
            <a:pPr lvl="1"/>
            <a:r>
              <a:rPr lang="pt-BR" sz="1600" dirty="0"/>
              <a:t>Extensões úteis no VS </a:t>
            </a:r>
            <a:r>
              <a:rPr lang="pt-BR" sz="1600" dirty="0" err="1"/>
              <a:t>Code</a:t>
            </a:r>
            <a:r>
              <a:rPr lang="pt-BR" sz="1600" dirty="0"/>
              <a:t>: </a:t>
            </a:r>
            <a:r>
              <a:rPr lang="pt-BR" sz="1600" b="1" dirty="0">
                <a:highlight>
                  <a:srgbClr val="FFFF00"/>
                </a:highlight>
              </a:rPr>
              <a:t>C/C++</a:t>
            </a:r>
            <a:r>
              <a:rPr lang="pt-BR" sz="1600" dirty="0">
                <a:highlight>
                  <a:srgbClr val="FFFF00"/>
                </a:highlight>
              </a:rPr>
              <a:t> (Microsoft) </a:t>
            </a:r>
            <a:r>
              <a:rPr lang="pt-BR" sz="1600" dirty="0"/>
              <a:t>e, se quiser, </a:t>
            </a:r>
            <a:r>
              <a:rPr lang="pt-BR" sz="1600" b="1" dirty="0" err="1">
                <a:highlight>
                  <a:srgbClr val="FFFF00"/>
                </a:highlight>
              </a:rPr>
              <a:t>Code</a:t>
            </a:r>
            <a:r>
              <a:rPr lang="pt-BR" sz="1600" b="1" dirty="0">
                <a:highlight>
                  <a:srgbClr val="FFFF00"/>
                </a:highlight>
              </a:rPr>
              <a:t> </a:t>
            </a:r>
            <a:r>
              <a:rPr lang="pt-BR" sz="1600" b="1" dirty="0" err="1">
                <a:highlight>
                  <a:srgbClr val="FFFF00"/>
                </a:highlight>
              </a:rPr>
              <a:t>Runner</a:t>
            </a:r>
            <a:r>
              <a:rPr lang="pt-BR" sz="1600" dirty="0"/>
              <a:t>.</a:t>
            </a:r>
          </a:p>
          <a:p>
            <a:pPr lvl="0"/>
            <a:r>
              <a:rPr lang="pt-BR" sz="1600" b="1" dirty="0"/>
              <a:t>Terminal</a:t>
            </a:r>
            <a:endParaRPr lang="pt-BR" sz="1600" dirty="0"/>
          </a:p>
          <a:p>
            <a:pPr lvl="1"/>
            <a:r>
              <a:rPr lang="pt-BR" sz="1600" dirty="0" err="1">
                <a:highlight>
                  <a:srgbClr val="FFFF00"/>
                </a:highlight>
              </a:rPr>
              <a:t>PowerShell</a:t>
            </a:r>
            <a:r>
              <a:rPr lang="pt-BR" sz="1600" dirty="0">
                <a:highlight>
                  <a:srgbClr val="FFFF00"/>
                </a:highlight>
              </a:rPr>
              <a:t> ou CMD </a:t>
            </a:r>
            <a:r>
              <a:rPr lang="pt-BR" sz="1600" dirty="0"/>
              <a:t>no Windows (já vem com o SO).</a:t>
            </a:r>
          </a:p>
          <a:p>
            <a:pPr lvl="1"/>
            <a:r>
              <a:rPr lang="pt-BR" sz="1600" dirty="0"/>
              <a:t>Alunos precisam conseguir: </a:t>
            </a:r>
          </a:p>
          <a:p>
            <a:pPr lvl="1"/>
            <a:r>
              <a:rPr lang="pt-BR" sz="1600" dirty="0"/>
              <a:t>	1. </a:t>
            </a:r>
            <a:r>
              <a:rPr lang="pt-BR" sz="1600" dirty="0" err="1"/>
              <a:t>cd</a:t>
            </a:r>
            <a:r>
              <a:rPr lang="pt-BR" sz="1600" dirty="0"/>
              <a:t> — mudar de pasta</a:t>
            </a:r>
          </a:p>
          <a:p>
            <a:pPr lvl="1"/>
            <a:r>
              <a:rPr lang="pt-BR" sz="1600" dirty="0"/>
              <a:t>	2. </a:t>
            </a:r>
            <a:r>
              <a:rPr lang="pt-BR" sz="1600" dirty="0" err="1"/>
              <a:t>gcc</a:t>
            </a:r>
            <a:r>
              <a:rPr lang="pt-BR" sz="1600" dirty="0"/>
              <a:t> — compilar</a:t>
            </a:r>
          </a:p>
          <a:p>
            <a:pPr lvl="1"/>
            <a:r>
              <a:rPr lang="pt-BR" sz="1600" dirty="0"/>
              <a:t>	3. Executar .\</a:t>
            </a:r>
            <a:r>
              <a:rPr lang="pt-BR" sz="1600" dirty="0" err="1"/>
              <a:t>a.out</a:t>
            </a:r>
            <a:r>
              <a:rPr lang="pt-BR" sz="1600" dirty="0"/>
              <a:t> / .\programa.exe</a:t>
            </a:r>
          </a:p>
          <a:p>
            <a:pPr lvl="0"/>
            <a:r>
              <a:rPr lang="pt-BR" sz="1600" b="1" dirty="0" err="1"/>
              <a:t>Git</a:t>
            </a:r>
            <a:r>
              <a:rPr lang="pt-BR" sz="1600" dirty="0"/>
              <a:t> (se as práticas usam GitHub)</a:t>
            </a:r>
          </a:p>
          <a:p>
            <a:pPr lvl="1"/>
            <a:r>
              <a:rPr lang="pt-BR" sz="1600" b="1" dirty="0" err="1"/>
              <a:t>Git</a:t>
            </a:r>
            <a:r>
              <a:rPr lang="pt-BR" sz="1600" b="1" dirty="0"/>
              <a:t> for Windows</a:t>
            </a:r>
            <a:r>
              <a:rPr lang="pt-BR" sz="1600" dirty="0"/>
              <a:t> instalado.</a:t>
            </a:r>
          </a:p>
          <a:p>
            <a:pPr lvl="1"/>
            <a:r>
              <a:rPr lang="pt-BR" sz="1600" dirty="0"/>
              <a:t>Conta GitHub + repositório da turma </a:t>
            </a:r>
            <a:r>
              <a:rPr lang="pt-BR" sz="1600" dirty="0" err="1"/>
              <a:t>clonável</a:t>
            </a:r>
            <a:r>
              <a:rPr lang="pt-BR" sz="1600" dirty="0"/>
              <a:t>.</a:t>
            </a:r>
          </a:p>
          <a:p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C3557C-8C69-4220-9841-958F2B50C8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29</a:t>
            </a:fld>
            <a:r>
              <a:rPr sz="1200"/>
              <a:t>29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8881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Desafio (8 min)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rPr dirty="0" err="1"/>
              <a:t>Escreva</a:t>
            </a:r>
            <a:r>
              <a:rPr dirty="0"/>
              <a:t>, compile e execute um </a:t>
            </a:r>
            <a:r>
              <a:rPr dirty="0" err="1"/>
              <a:t>programa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imprima</a:t>
            </a:r>
            <a:r>
              <a:rPr dirty="0"/>
              <a:t>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nome</a:t>
            </a:r>
            <a:r>
              <a:rPr dirty="0"/>
              <a:t> e a </a:t>
            </a:r>
            <a:r>
              <a:rPr dirty="0" err="1"/>
              <a:t>disciplina</a:t>
            </a:r>
            <a:r>
              <a:rPr dirty="0"/>
              <a:t> (-std=c99 -Wall).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rPr dirty="0" err="1"/>
              <a:t>Trabalhe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dupla</a:t>
            </a:r>
            <a:r>
              <a:rPr dirty="0"/>
              <a:t> (</a:t>
            </a:r>
            <a:r>
              <a:rPr dirty="0" err="1"/>
              <a:t>instrução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pares).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rPr dirty="0"/>
              <a:t>Ao final,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dupla</a:t>
            </a:r>
            <a:r>
              <a:rPr dirty="0"/>
              <a:t> </a:t>
            </a:r>
            <a:r>
              <a:rPr dirty="0" err="1"/>
              <a:t>compartilha</a:t>
            </a:r>
            <a:r>
              <a:rPr dirty="0"/>
              <a:t> a </a:t>
            </a:r>
            <a:r>
              <a:rPr dirty="0" err="1"/>
              <a:t>solução</a:t>
            </a:r>
            <a:r>
              <a:rPr dirty="0"/>
              <a:t> com a </a:t>
            </a:r>
            <a:r>
              <a:rPr dirty="0" err="1"/>
              <a:t>turma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Quiz rápido (3 perguntas)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C é compilada ou interpretada?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2) Para que serve a função main?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3) Qual a diferença entre // e /* */ 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Respostas no quadro / Mentimeter / Kahoot.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Referências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71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SCHILDT, Herbert. C: Completo e Total. 3. ed. Pearson Makron Books, 1997.</a:t>
            </a:r>
            <a:endParaRPr sz="2400">
              <a:solidFill>
                <a:schemeClr val="dk1"/>
              </a:solidFill>
            </a:endParaRPr>
          </a:p>
          <a:p>
            <a:pPr marL="457200" lvl="0" indent="-29718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ANTONELLO, Ricardo. Linguagem C. 1. ed. Livro Digital, 2020</a:t>
            </a:r>
            <a:endParaRPr sz="2400">
              <a:solidFill>
                <a:schemeClr val="dk1"/>
              </a:solidFill>
            </a:endParaRPr>
          </a:p>
          <a:p>
            <a:pPr marL="457200" lvl="0" indent="-29718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LLVM Project. Clang: a C language family frontend for LLVM. Disponível em &lt;http://llvm.org/&gt;.</a:t>
            </a:r>
            <a:endParaRPr sz="2400">
              <a:solidFill>
                <a:schemeClr val="dk1"/>
              </a:solidFill>
            </a:endParaRPr>
          </a:p>
          <a:p>
            <a:pPr marL="457200" lvl="0" indent="-29718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GNU Project. GCC, the GNU Compiler Collection. Disponível em &lt;https://gcc.gnu.org/&gt;.</a:t>
            </a:r>
            <a:endParaRPr sz="2400">
              <a:solidFill>
                <a:schemeClr val="dk1"/>
              </a:solidFill>
            </a:endParaRPr>
          </a:p>
          <a:p>
            <a:pPr marL="457200" lvl="0" indent="-29718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MinGW. Minimalist GNU for Windows. Disponível em &lt;http://www.mingw.org/&gt;</a:t>
            </a:r>
            <a:endParaRPr sz="2400">
              <a:solidFill>
                <a:schemeClr val="dk1"/>
              </a:solidFill>
            </a:endParaRPr>
          </a:p>
          <a:p>
            <a:pPr marL="457200" lvl="0" indent="-29718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MICROSOFT. Visual Studio Downloads. Disponível em &lt;https://visualstudio.microsoft.com/ pt-br/download&gt;.</a:t>
            </a:r>
            <a:endParaRPr sz="2400"/>
          </a:p>
        </p:txBody>
      </p:sp>
      <p:sp>
        <p:nvSpPr>
          <p:cNvPr id="299" name="Google Shape;299;p4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00" name="Google Shape;300;p4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32</a:t>
            </a:fld>
            <a:r>
              <a:rPr sz="1200"/>
              <a:t>31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Desafio — passo a passo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t>1) Em dupla: um digita e o outro orienta (troquem na metade do tempo).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t>2) No terminal, vá até a pasta do exercício (comando cd).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t>3) Crie um arquivo .c e use printf para imprimir seu nome e a disciplina.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t>4) Compile com as flags pedidas: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t>     Windows: gcc -std=c99 -Wall -o desafio.exe arquivo.c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t>     Linux/macOS: gcc -std=c99 -Wall -o desafio arquivo.c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t>5) Execute:  .\desafio.exe   |   ./desafio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t>6) Confira a saída e prepare-se para compartilhar com a turma.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1786</Words>
  <Application>Microsoft Office PowerPoint</Application>
  <PresentationFormat>Personalizar</PresentationFormat>
  <Paragraphs>272</Paragraphs>
  <Slides>32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6" baseType="lpstr">
      <vt:lpstr>Arial</vt:lpstr>
      <vt:lpstr>Courier New</vt:lpstr>
      <vt:lpstr>Noto Sans Symbols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Mapa da aula</vt:lpstr>
      <vt:lpstr>Para estudar no livro</vt:lpstr>
      <vt:lpstr>Recursos para trabalhar com linguagem C</vt:lpstr>
      <vt:lpstr>Desafio (8 min)</vt:lpstr>
      <vt:lpstr>Quiz rápido (3 perguntas)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marcelo alves farias</cp:lastModifiedBy>
  <cp:revision>2</cp:revision>
  <dcterms:modified xsi:type="dcterms:W3CDTF">2026-08-11T19:29:54Z</dcterms:modified>
</cp:coreProperties>
</file>