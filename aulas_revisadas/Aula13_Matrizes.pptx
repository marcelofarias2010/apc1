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3CDADA-22CD-46E9-A736-1D6E355DC96B}">
  <a:tblStyle styleId="{FB3CDADA-22CD-46E9-A736-1D6E355DC9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11940297c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11940297c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c90dc28a71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1c90dc28a71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c90dc28a71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1c90dc28a71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cdf8c63f6c_0_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1cdf8c63f6c_0_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c90dc28a71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1c90dc28a71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c90dc28a71_0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1c90dc28a71_0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cdf8c63f6c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1cdf8c63f6c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cdf8c63f6c_0_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1cdf8c63f6c_0_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cdf8c63f6c_0_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1cdf8c63f6c_0_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cdf8c63f6c_0_5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1cdf8c63f6c_0_5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d01a5910f1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1d01a5910f1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d01a5910f1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1d01a5910f1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" type="subTitle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3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200" u="none" cap="none" strike="noStrik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Vetores e Matrizes em C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Compreender vetores e matrizes em C.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r>
              <a:t>Declarar, inicializar e acessar elementos.</a:t>
            </a:r>
          </a:p>
          <a:p>
            <a:r>
              <a:t>Percorrer coleções com laços.</a:t>
            </a:r>
          </a:p>
        </p:txBody>
      </p:sp>
      <p:sp>
        <p:nvSpPr>
          <p:cNvPr id="75" name="Google Shape;75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Matrizes (ou </a:t>
            </a:r>
            <a:r>
              <a:rPr b="0" i="1" lang="pt-BR" sz="4400" u="none" cap="none" strike="noStrike">
                <a:latin typeface="Arial"/>
                <a:ea typeface="Arial"/>
                <a:cs typeface="Arial"/>
                <a:sym typeface="Arial"/>
              </a:rPr>
              <a:t>Arrays</a:t>
            </a: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)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oleção de valores do mesmo tipo que é referenciada p</a:t>
            </a:r>
            <a:r>
              <a:rPr lang="pt-BR" sz="3200"/>
              <a:t>or um nome comum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Ocupam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posições contíguas </a:t>
            </a:r>
            <a:r>
              <a:rPr lang="pt-BR" sz="3200"/>
              <a:t>n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a memória.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Podem ter uma </a:t>
            </a:r>
            <a:r>
              <a:rPr lang="pt-BR" sz="3200"/>
              <a:t>ou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mais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dimensões.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Alocando u</a:t>
            </a:r>
            <a:r>
              <a:rPr lang="pt-BR" sz="4400"/>
              <a:t>ma Matriz na Memória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4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300" y="1419426"/>
            <a:ext cx="6363397" cy="517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Tipos de</a:t>
            </a:r>
            <a:r>
              <a:rPr lang="pt-BR" sz="4400"/>
              <a:t> Matrizes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Vetor (Unidimensional)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Matriz Bidimensional 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Matriz Multidimensional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Vetor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Possui uma única dimensão.</a:t>
            </a:r>
            <a:endParaRPr sz="3200">
              <a:solidFill>
                <a:schemeClr val="dk1"/>
              </a:solidFill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Usada para representar uma lista sequencial.</a:t>
            </a:r>
            <a:endParaRPr sz="3200">
              <a:solidFill>
                <a:schemeClr val="dk1"/>
              </a:solidFill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Forma de declarar:</a:t>
            </a:r>
            <a:endParaRPr sz="3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&lt;</a:t>
            </a:r>
            <a:r>
              <a:rPr i="1" lang="pt-BR" sz="3200">
                <a:solidFill>
                  <a:schemeClr val="dk1"/>
                </a:solidFill>
              </a:rPr>
              <a:t>tipo&gt; &lt;nome_da_variável&gt;[tamanho];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7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Representação d</a:t>
            </a:r>
            <a:r>
              <a:rPr lang="pt-BR" sz="4400"/>
              <a:t>o Vetor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00" y="1855125"/>
            <a:ext cx="8082825" cy="26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Vetores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44000" y="1487880"/>
            <a:ext cx="9792000" cy="5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400"/>
              <a:t>num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[10];      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</a:t>
            </a:r>
            <a:r>
              <a:rPr lang="pt-BR" sz="2400">
                <a:solidFill>
                  <a:srgbClr val="0000FF"/>
                </a:solidFill>
              </a:rPr>
              <a:t>vetor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rgbClr val="0000FF"/>
                </a:solidFill>
              </a:rPr>
              <a:t>de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 números in</a:t>
            </a:r>
            <a:r>
              <a:rPr lang="pt-BR" sz="2400">
                <a:solidFill>
                  <a:srgbClr val="0000FF"/>
                </a:solidFill>
              </a:rPr>
              <a:t>teiros</a:t>
            </a:r>
            <a:endParaRPr b="0" sz="240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char nome[25]</a:t>
            </a:r>
            <a:r>
              <a:rPr lang="pt-BR" sz="2400">
                <a:solidFill>
                  <a:schemeClr val="dk1"/>
                </a:solidFill>
              </a:rPr>
              <a:t>;  </a:t>
            </a:r>
            <a:r>
              <a:rPr lang="pt-BR" sz="2400">
                <a:solidFill>
                  <a:srgbClr val="0000FF"/>
                </a:solidFill>
              </a:rPr>
              <a:t>// vetor de 25 caracteres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float notas[3];    </a:t>
            </a:r>
            <a:r>
              <a:rPr lang="pt-BR" sz="2400">
                <a:solidFill>
                  <a:srgbClr val="0000FF"/>
                </a:solidFill>
              </a:rPr>
              <a:t>// vetor de 3 números fracionários</a:t>
            </a:r>
            <a:endParaRPr sz="2400">
              <a:solidFill>
                <a:srgbClr val="0000FF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Acessando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um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Vetor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Cada elemento é acessado por um índice</a:t>
            </a:r>
            <a:r>
              <a:rPr lang="pt-BR" sz="3200"/>
              <a:t> que indica a posição do elemento no vetor</a:t>
            </a:r>
            <a:r>
              <a:rPr lang="pt-BR" sz="3200"/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Elementos são percorridos em um único laço.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Uso do operador [n], onde n é um valor entre 0 e tamanho - 1.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45720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45720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800"/>
              <a:t>Obs.: C </a:t>
            </a:r>
            <a:r>
              <a:rPr lang="pt-BR" sz="2800">
                <a:solidFill>
                  <a:srgbClr val="FF0000"/>
                </a:solidFill>
              </a:rPr>
              <a:t>não</a:t>
            </a:r>
            <a:r>
              <a:rPr lang="pt-BR" sz="2800"/>
              <a:t> tem verificação de limites do vetor.</a:t>
            </a:r>
            <a:endParaRPr sz="2800"/>
          </a:p>
        </p:txBody>
      </p:sp>
      <p:sp>
        <p:nvSpPr>
          <p:cNvPr id="131" name="Google Shape;131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Acesso a V</a:t>
            </a:r>
            <a:r>
              <a:rPr lang="pt-BR" sz="4400"/>
              <a:t>etores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44000" y="1487880"/>
            <a:ext cx="9792000" cy="5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 // acesso a um elemento específico do vetor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float notas[3];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</a:t>
            </a:r>
            <a:r>
              <a:rPr lang="pt-BR" sz="2400">
                <a:solidFill>
                  <a:schemeClr val="dk1"/>
                </a:solidFill>
              </a:rPr>
              <a:t>notas[0] = 2.5f;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notas[1] = 4.6f;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chemeClr val="dk1"/>
                </a:solidFill>
              </a:rPr>
              <a:t> notas[2] = 8.3f;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 // acesso usando um laço para percorrer todos elementos do vetor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int num[10];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chemeClr val="dk1"/>
                </a:solidFill>
              </a:rPr>
              <a:t> for(int i=0; i &lt; 10; i++) num[i] = i;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Inicializando </a:t>
            </a:r>
            <a:r>
              <a:rPr lang="pt-BR" sz="4400"/>
              <a:t>um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Vetor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V</a:t>
            </a:r>
            <a:r>
              <a:rPr lang="pt-BR" sz="3200"/>
              <a:t>etores</a:t>
            </a:r>
            <a:r>
              <a:rPr lang="pt-BR" sz="3200"/>
              <a:t> p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odem ser inicializad</a:t>
            </a:r>
            <a:r>
              <a:rPr lang="pt-BR" sz="3200"/>
              <a:t>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na declaração com uma lista de valores separad</a:t>
            </a:r>
            <a:r>
              <a:rPr lang="pt-BR" sz="3200"/>
              <a:t>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por vírgula entre { }.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No caso de um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vetor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de caracteres, a lista</a:t>
            </a:r>
            <a:r>
              <a:rPr lang="pt-BR" sz="3200"/>
              <a:t> pode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ser uma string entre </a:t>
            </a:r>
            <a:r>
              <a:rPr lang="pt-BR" sz="3200"/>
              <a:t>aspas duplas 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" ".</a:t>
            </a:r>
            <a:endParaRPr sz="3200"/>
          </a:p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</a:rPr>
              <a:t>Obs.: a quantidade de valores </a:t>
            </a:r>
            <a:r>
              <a:rPr lang="pt-BR" sz="2800">
                <a:solidFill>
                  <a:srgbClr val="FF0000"/>
                </a:solidFill>
              </a:rPr>
              <a:t>não</a:t>
            </a:r>
            <a:r>
              <a:rPr lang="pt-BR" sz="2800">
                <a:solidFill>
                  <a:schemeClr val="dk1"/>
                </a:solidFill>
              </a:rPr>
              <a:t> pode ultrapassar o</a:t>
            </a:r>
            <a:br>
              <a:rPr lang="pt-BR" sz="2800">
                <a:solidFill>
                  <a:schemeClr val="dk1"/>
                </a:solidFill>
              </a:rPr>
            </a:br>
            <a:r>
              <a:rPr lang="pt-BR" sz="2800">
                <a:solidFill>
                  <a:schemeClr val="dk1"/>
                </a:solidFill>
              </a:rPr>
              <a:t>	tamanho do vetor.</a:t>
            </a:r>
            <a:endParaRPr sz="3200"/>
          </a:p>
        </p:txBody>
      </p:sp>
      <p:sp>
        <p:nvSpPr>
          <p:cNvPr id="147" name="Google Shape;147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Inicialização de</a:t>
            </a:r>
            <a:r>
              <a:rPr lang="pt-BR" sz="4400"/>
              <a:t> Vetores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144000" y="1487880"/>
            <a:ext cx="9792000" cy="5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400"/>
              <a:t>num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[10]</a:t>
            </a:r>
            <a:r>
              <a:rPr lang="pt-BR" sz="2400"/>
              <a:t> = {1, 1, 2, 3, 5, 8, 13, 21, 34, 55};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char nome[25] = "José"; </a:t>
            </a:r>
            <a:r>
              <a:rPr lang="pt-BR" sz="2400">
                <a:solidFill>
                  <a:srgbClr val="0000FF"/>
                </a:solidFill>
              </a:rPr>
              <a:t>// ou {'J', 'o', 's', 'e', '\0'}</a:t>
            </a:r>
            <a:endParaRPr sz="24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float notas[3] = {2.5f, 4.6f, 8.3f};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notas = {0f, 0f, 0f}; </a:t>
            </a:r>
            <a:r>
              <a:rPr lang="pt-BR" sz="2400">
                <a:solidFill>
                  <a:srgbClr val="FF0000"/>
                </a:solidFill>
              </a:rPr>
              <a:t>// isso é uma atribuição que não é permitido em C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Matriz </a:t>
            </a:r>
            <a:r>
              <a:rPr lang="pt-BR" sz="4400"/>
              <a:t>Bi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dimensional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Possui duas dimensões.</a:t>
            </a:r>
            <a:endParaRPr i="1" sz="3200">
              <a:solidFill>
                <a:schemeClr val="dk1"/>
              </a:solidFill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Usada para representar uma </a:t>
            </a:r>
            <a:r>
              <a:rPr lang="pt-BR" sz="3200"/>
              <a:t>matriz</a:t>
            </a:r>
            <a:r>
              <a:rPr lang="pt-BR" sz="3200"/>
              <a:t> linha-coluna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Forma de declarar:</a:t>
            </a:r>
            <a:endParaRPr sz="32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&lt;</a:t>
            </a:r>
            <a:r>
              <a:rPr i="1" lang="pt-BR" sz="3200">
                <a:solidFill>
                  <a:schemeClr val="dk1"/>
                </a:solidFill>
              </a:rPr>
              <a:t>tipo&gt; &lt;nome_da_variável&gt;[tamanho1][tamanho2];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14</a:t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54000" y="157325"/>
            <a:ext cx="9984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Representação d</a:t>
            </a:r>
            <a:r>
              <a:rPr lang="pt-BR" sz="4400"/>
              <a:t>a Matriz Bidimensional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38" y="1616551"/>
            <a:ext cx="9205550" cy="41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Matriz</a:t>
            </a:r>
            <a:r>
              <a:rPr lang="pt-BR" sz="4400"/>
              <a:t>es Bidimensionais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int num[10][10];       </a:t>
            </a:r>
            <a:r>
              <a:rPr lang="pt-BR" sz="2400">
                <a:solidFill>
                  <a:srgbClr val="0000FF"/>
                </a:solidFill>
              </a:rPr>
              <a:t>// matriz 10x10 =&gt; 100 números inteiros</a:t>
            </a:r>
            <a:endParaRPr sz="24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float notas[</a:t>
            </a:r>
            <a:r>
              <a:rPr lang="pt-BR" sz="2400"/>
              <a:t>5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][</a:t>
            </a:r>
            <a:r>
              <a:rPr lang="pt-BR" sz="2400"/>
              <a:t>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];     </a:t>
            </a:r>
            <a:r>
              <a:rPr lang="pt-BR" sz="2400"/>
              <a:t>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matriz </a:t>
            </a:r>
            <a:r>
              <a:rPr lang="pt-BR" sz="2400">
                <a:solidFill>
                  <a:srgbClr val="0000FF"/>
                </a:solidFill>
              </a:rPr>
              <a:t>5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pt-BR" sz="2400">
                <a:solidFill>
                  <a:srgbClr val="0000FF"/>
                </a:solidFill>
              </a:rPr>
              <a:t>3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lang="pt-BR" sz="2400">
                <a:solidFill>
                  <a:srgbClr val="0000FF"/>
                </a:solidFill>
              </a:rPr>
              <a:t>15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rgbClr val="0000FF"/>
                </a:solidFill>
              </a:rPr>
              <a:t>números fracionários</a:t>
            </a:r>
            <a:endParaRPr sz="2400">
              <a:solidFill>
                <a:srgbClr val="0000FF"/>
              </a:solidFill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Acessando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uma Matriz Bidimensional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Cada elemento é acessado por dois índices, onde o primeiro indica a linha e o segundo, a coluna.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Elementos são percorridos com até dois laços.</a:t>
            </a:r>
            <a:endParaRPr sz="3200"/>
          </a:p>
        </p:txBody>
      </p:sp>
      <p:sp>
        <p:nvSpPr>
          <p:cNvPr id="187" name="Google Shape;187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Acesso a Matriz Bidim.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144000" y="1487880"/>
            <a:ext cx="9792000" cy="5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 // acesso um elemento específico da matriz bidimensional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float notas[5][3];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notas[0][0] = 2.5f;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notas[0][1] = 4.6f;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chemeClr val="dk1"/>
                </a:solidFill>
              </a:rPr>
              <a:t> notas[0][2] = 8.3f;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 // acesso usando dois laços para percorrer todos elementos da matriz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int num</a:t>
            </a:r>
            <a:r>
              <a:rPr lang="pt-BR" sz="2400">
                <a:solidFill>
                  <a:schemeClr val="dk1"/>
                </a:solidFill>
              </a:rPr>
              <a:t>[10]</a:t>
            </a:r>
            <a:r>
              <a:rPr lang="pt-BR" sz="2400">
                <a:solidFill>
                  <a:schemeClr val="dk1"/>
                </a:solidFill>
              </a:rPr>
              <a:t>[10];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chemeClr val="dk1"/>
                </a:solidFill>
              </a:rPr>
              <a:t> for(int i=0; i &lt; 10; i++) 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chemeClr val="dk1"/>
                </a:solidFill>
              </a:rPr>
              <a:t>   for(int j=0; j &lt; 10; j++) num[i][j] = i + j;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Inicializando uma </a:t>
            </a:r>
            <a:r>
              <a:rPr lang="pt-BR" sz="4400"/>
              <a:t>M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atriz </a:t>
            </a:r>
            <a:r>
              <a:rPr lang="pt-BR" sz="4400"/>
              <a:t>Bidimensional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Semelhante a um vetor, onde o</a:t>
            </a:r>
            <a:r>
              <a:rPr lang="pt-BR" sz="3200"/>
              <a:t> total de elementos é o produto das dimensões.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Os valores de cada dimensão podem ser agrupados entre { }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/>
        </p:nvSpPr>
        <p:spPr>
          <a:xfrm>
            <a:off x="144000" y="157325"/>
            <a:ext cx="9894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Ex. de </a:t>
            </a:r>
            <a:r>
              <a:rPr lang="pt-BR" sz="4400"/>
              <a:t>Inicialização de Matrizes Bidim.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144000" y="1487880"/>
            <a:ext cx="9792000" cy="5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float notas1[3][4] = {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8.0f, 7.5f, 8.5f, 9.0f, 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8.9f, 9.0f, 8.6f, 8.4f, </a:t>
            </a:r>
            <a:br>
              <a:rPr lang="pt-BR" sz="2400"/>
            </a:br>
            <a:r>
              <a:rPr lang="pt-BR" sz="2400"/>
              <a:t>   </a:t>
            </a:r>
            <a:r>
              <a:rPr lang="pt-BR" sz="2400"/>
              <a:t>6.8f, 7.1f, </a:t>
            </a:r>
            <a:r>
              <a:rPr lang="pt-BR" sz="2400"/>
              <a:t>7.0f, 7.6f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};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</a:t>
            </a:r>
            <a:r>
              <a:rPr lang="pt-BR" sz="2400">
                <a:solidFill>
                  <a:schemeClr val="dk1"/>
                </a:solidFill>
              </a:rPr>
              <a:t>float notas2[4][3] = {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{8.0f, 7.5f, 8.5f}, 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{9.0f, 8.9f, 9.0f},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{8.6f, 8.4f, 6.8f},</a:t>
            </a:r>
            <a:br>
              <a:rPr lang="pt-BR" sz="2400">
                <a:solidFill>
                  <a:schemeClr val="dk1"/>
                </a:solidFill>
              </a:rPr>
            </a:br>
            <a:r>
              <a:rPr lang="pt-BR" sz="2400">
                <a:solidFill>
                  <a:schemeClr val="dk1"/>
                </a:solidFill>
              </a:rPr>
              <a:t>      {7.1f, 7.0f, 7.6f}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};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2" name="Google Shape;212;p3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Aula13 — Vetores e matrizes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Pratica08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Atividade04 (vetores)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8.1 e 8.2 (p. 96–101)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8.4 (vetores/matrizes)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Leia 5 notas em um vetor, calcule a média e conte quantas estão acima da média.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Qual o índice do primeiro elemento?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C verifica limites do vetor automaticamente?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Como percorrer uma matriz 2D?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Referências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SCHILDT, Herbert. C: Completo e Total. 3. ed. Pearson Makron Books, 1997.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ANTONELLO, Ricardo. Linguagem C. 1. ed. Livro Digital, 2020.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ASCENCIO, Ana Fernanda Gomes; CAMPOS, Edilene. Fundamentos da Programação de Computadores. 3. ed. Pearson, 2012.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