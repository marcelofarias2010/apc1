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99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300" r:id="rId26"/>
    <p:sldId id="301" r:id="rId25"/>
    <p:sldId id="302" r:id="rId24"/>
    <p:sldId id="303" r:id="rId23"/>
    <p:sldId id="298" r:id="rId48"/>
  </p:sldIdLst>
  <p:sldSz cy="7559675" cx="10080625"/>
  <p:notesSz cx="7559675" cy="10691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B3CDADA-22CD-46E9-A736-1D6E355DC96B}">
  <a:tblStyle styleId="{FB3CDADA-22CD-46E9-A736-1D6E355DC96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3" Type="http://schemas.openxmlformats.org/officeDocument/2006/relationships/slide" Target="slides/slide27.xml"/><Relationship Id="rId24" Type="http://schemas.openxmlformats.org/officeDocument/2006/relationships/slide" Target="slides/slide26.xml"/><Relationship Id="rId25" Type="http://schemas.openxmlformats.org/officeDocument/2006/relationships/slide" Target="slides/slide25.xml"/><Relationship Id="rId26" Type="http://schemas.openxmlformats.org/officeDocument/2006/relationships/slide" Target="slides/slide24.xml"/><Relationship Id="rId27" Type="http://schemas.openxmlformats.org/officeDocument/2006/relationships/slide" Target="slides/slide2.xml"/><Relationship Id="rId28" Type="http://schemas.openxmlformats.org/officeDocument/2006/relationships/slide" Target="slides/slide3.xml"/><Relationship Id="rId29" Type="http://schemas.openxmlformats.org/officeDocument/2006/relationships/slide" Target="slides/slide4.xml"/><Relationship Id="rId30" Type="http://schemas.openxmlformats.org/officeDocument/2006/relationships/slide" Target="slides/slide5.xml"/><Relationship Id="rId31" Type="http://schemas.openxmlformats.org/officeDocument/2006/relationships/slide" Target="slides/slide6.xml"/><Relationship Id="rId32" Type="http://schemas.openxmlformats.org/officeDocument/2006/relationships/slide" Target="slides/slide7.xml"/><Relationship Id="rId33" Type="http://schemas.openxmlformats.org/officeDocument/2006/relationships/slide" Target="slides/slide8.xml"/><Relationship Id="rId34" Type="http://schemas.openxmlformats.org/officeDocument/2006/relationships/slide" Target="slides/slide9.xml"/><Relationship Id="rId35" Type="http://schemas.openxmlformats.org/officeDocument/2006/relationships/slide" Target="slides/slide10.xml"/><Relationship Id="rId36" Type="http://schemas.openxmlformats.org/officeDocument/2006/relationships/slide" Target="slides/slide11.xml"/><Relationship Id="rId37" Type="http://schemas.openxmlformats.org/officeDocument/2006/relationships/slide" Target="slides/slide12.xml"/><Relationship Id="rId38" Type="http://schemas.openxmlformats.org/officeDocument/2006/relationships/slide" Target="slides/slide13.xml"/><Relationship Id="rId39" Type="http://schemas.openxmlformats.org/officeDocument/2006/relationships/slide" Target="slides/slide14.xml"/><Relationship Id="rId40" Type="http://schemas.openxmlformats.org/officeDocument/2006/relationships/slide" Target="slides/slide15.xml"/><Relationship Id="rId41" Type="http://schemas.openxmlformats.org/officeDocument/2006/relationships/slide" Target="slides/slide16.xml"/><Relationship Id="rId42" Type="http://schemas.openxmlformats.org/officeDocument/2006/relationships/slide" Target="slides/slide17.xml"/><Relationship Id="rId43" Type="http://schemas.openxmlformats.org/officeDocument/2006/relationships/slide" Target="slides/slide18.xml"/><Relationship Id="rId44" Type="http://schemas.openxmlformats.org/officeDocument/2006/relationships/slide" Target="slides/slide19.xml"/><Relationship Id="rId45" Type="http://schemas.openxmlformats.org/officeDocument/2006/relationships/slide" Target="slides/slide20.xml"/><Relationship Id="rId46" Type="http://schemas.openxmlformats.org/officeDocument/2006/relationships/slide" Target="slides/slide21.xml"/><Relationship Id="rId47" Type="http://schemas.openxmlformats.org/officeDocument/2006/relationships/slide" Target="slides/slide22.xml"/><Relationship Id="rId48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1e54a0c44c8_0_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g1e54a0c44c8_0_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1e54a0c44c8_0_7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g1e54a0c44c8_0_7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1e54a0c44c8_0_14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g1e54a0c44c8_0_14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1e54a0c44c8_0_21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g1e54a0c44c8_0_21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1e54a0c44c8_0_28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g1e54a0c44c8_0_28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e54a0c44c8_0_35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g1e54a0c44c8_0_35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1e54a0c44c8_0_42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g1e54a0c44c8_0_42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1e54a0c44c8_0_49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g1e54a0c44c8_0_49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1e54a0c44c8_0_56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g1e54a0c44c8_0_56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1e54a0c44c8_0_63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g1e54a0c44c8_0_63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1e54a0c44c8_0_7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g1e54a0c44c8_0_7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1e54a0c44c8_0_77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g1e54a0c44c8_0_77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1e54a0c44c8_0_84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g1e54a0c44c8_0_84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1e54a0c44c8_0_91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g1e54a0c44c8_0_91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1e54a0c44c8_0_98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g1e54a0c44c8_0_98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1e54a0c44c8_0_105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g1e54a0c44c8_0_105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1e54a0c44c8_0_112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g1e54a0c44c8_0_112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1e54a0c44c8_0_119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g1e54a0c44c8_0_119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1e54a0c44c8_0_126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g1e54a0c44c8_0_126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1e54a0c44c8_0_133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g1e54a0c44c8_0_133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0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0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type="title"/>
          </p:nvPr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None/>
              <a:defRPr sz="1400"/>
            </a:lvl1pPr>
            <a:lvl2pPr lvl="1" algn="r">
              <a:buNone/>
              <a:defRPr sz="1400"/>
            </a:lvl2pPr>
            <a:lvl3pPr lvl="2" algn="r">
              <a:buNone/>
              <a:defRPr sz="1400"/>
            </a:lvl3pPr>
            <a:lvl4pPr lvl="3" algn="r">
              <a:buNone/>
              <a:defRPr sz="1400"/>
            </a:lvl4pPr>
            <a:lvl5pPr lvl="4" algn="r">
              <a:buNone/>
              <a:defRPr sz="1400"/>
            </a:lvl5pPr>
            <a:lvl6pPr lvl="5" algn="r">
              <a:buNone/>
              <a:defRPr sz="1400"/>
            </a:lvl6pPr>
            <a:lvl7pPr lvl="6" algn="r">
              <a:buNone/>
              <a:defRPr sz="1400"/>
            </a:lvl7pPr>
            <a:lvl8pPr lvl="7" algn="r">
              <a:buNone/>
              <a:defRPr sz="1400"/>
            </a:lvl8pPr>
            <a:lvl9pPr lvl="8" algn="r">
              <a:buNone/>
              <a:defRPr sz="1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" type="body"/>
          </p:nvPr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None/>
              <a:defRPr sz="1400"/>
            </a:lvl1pPr>
            <a:lvl2pPr lvl="1" algn="r">
              <a:buNone/>
              <a:defRPr sz="1400"/>
            </a:lvl2pPr>
            <a:lvl3pPr lvl="2" algn="r">
              <a:buNone/>
              <a:defRPr sz="1400"/>
            </a:lvl3pPr>
            <a:lvl4pPr lvl="3" algn="r">
              <a:buNone/>
              <a:defRPr sz="1400"/>
            </a:lvl4pPr>
            <a:lvl5pPr lvl="4" algn="r">
              <a:buNone/>
              <a:defRPr sz="1400"/>
            </a:lvl5pPr>
            <a:lvl6pPr lvl="5" algn="r">
              <a:buNone/>
              <a:defRPr sz="1400"/>
            </a:lvl6pPr>
            <a:lvl7pPr lvl="6" algn="r">
              <a:buNone/>
              <a:defRPr sz="1400"/>
            </a:lvl7pPr>
            <a:lvl8pPr lvl="7" algn="r">
              <a:buNone/>
              <a:defRPr sz="1400"/>
            </a:lvl8pPr>
            <a:lvl9pPr lvl="8" algn="r">
              <a:buNone/>
              <a:defRPr sz="1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144000" y="1584000"/>
            <a:ext cx="9792000" cy="2403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2" type="body"/>
          </p:nvPr>
        </p:nvSpPr>
        <p:spPr>
          <a:xfrm>
            <a:off x="144000" y="4216320"/>
            <a:ext cx="9792000" cy="2403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r">
              <a:buNone/>
              <a:defRPr sz="1400"/>
            </a:lvl1pPr>
            <a:lvl2pPr lvl="1" algn="r">
              <a:buNone/>
              <a:defRPr sz="1400"/>
            </a:lvl2pPr>
            <a:lvl3pPr lvl="2" algn="r">
              <a:buNone/>
              <a:defRPr sz="1400"/>
            </a:lvl3pPr>
            <a:lvl4pPr lvl="3" algn="r">
              <a:buNone/>
              <a:defRPr sz="1400"/>
            </a:lvl4pPr>
            <a:lvl5pPr lvl="4" algn="r">
              <a:buNone/>
              <a:defRPr sz="1400"/>
            </a:lvl5pPr>
            <a:lvl6pPr lvl="5" algn="r">
              <a:buNone/>
              <a:defRPr sz="1400"/>
            </a:lvl6pPr>
            <a:lvl7pPr lvl="6" algn="r">
              <a:buNone/>
              <a:defRPr sz="1400"/>
            </a:lvl7pPr>
            <a:lvl8pPr lvl="7" algn="r">
              <a:buNone/>
              <a:defRPr sz="1400"/>
            </a:lvl8pPr>
            <a:lvl9pPr lvl="8" algn="r">
              <a:buNone/>
              <a:defRPr sz="1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" type="body"/>
          </p:nvPr>
        </p:nvSpPr>
        <p:spPr>
          <a:xfrm>
            <a:off x="144000" y="1584000"/>
            <a:ext cx="477828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2" type="body"/>
          </p:nvPr>
        </p:nvSpPr>
        <p:spPr>
          <a:xfrm>
            <a:off x="5161680" y="1584000"/>
            <a:ext cx="477828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idx="1" type="subTitle"/>
          </p:nvPr>
        </p:nvSpPr>
        <p:spPr>
          <a:xfrm>
            <a:off x="144000" y="157320"/>
            <a:ext cx="9792000" cy="585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/>
          <p:nvPr>
            <p:ph type="title"/>
          </p:nvPr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9"/>
          <p:cNvSpPr txBox="1"/>
          <p:nvPr>
            <p:ph idx="1" type="body"/>
          </p:nvPr>
        </p:nvSpPr>
        <p:spPr>
          <a:xfrm>
            <a:off x="144000" y="1584000"/>
            <a:ext cx="4778280" cy="2403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9"/>
          <p:cNvSpPr txBox="1"/>
          <p:nvPr>
            <p:ph idx="2" type="body"/>
          </p:nvPr>
        </p:nvSpPr>
        <p:spPr>
          <a:xfrm>
            <a:off x="5161680" y="1584000"/>
            <a:ext cx="477828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9"/>
          <p:cNvSpPr txBox="1"/>
          <p:nvPr>
            <p:ph idx="3" type="body"/>
          </p:nvPr>
        </p:nvSpPr>
        <p:spPr>
          <a:xfrm>
            <a:off x="144000" y="4216320"/>
            <a:ext cx="4778280" cy="2403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0"/>
          <p:cNvSpPr txBox="1"/>
          <p:nvPr>
            <p:ph type="title"/>
          </p:nvPr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1" type="body"/>
          </p:nvPr>
        </p:nvSpPr>
        <p:spPr>
          <a:xfrm>
            <a:off x="144000" y="1584000"/>
            <a:ext cx="477828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2" type="body"/>
          </p:nvPr>
        </p:nvSpPr>
        <p:spPr>
          <a:xfrm>
            <a:off x="5161680" y="1584000"/>
            <a:ext cx="4778280" cy="2403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0"/>
          <p:cNvSpPr txBox="1"/>
          <p:nvPr>
            <p:ph idx="3" type="body"/>
          </p:nvPr>
        </p:nvSpPr>
        <p:spPr>
          <a:xfrm>
            <a:off x="5161680" y="4216320"/>
            <a:ext cx="4778280" cy="2403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type="title"/>
          </p:nvPr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144000" y="1584000"/>
            <a:ext cx="4778280" cy="2403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2" type="body"/>
          </p:nvPr>
        </p:nvSpPr>
        <p:spPr>
          <a:xfrm>
            <a:off x="5161680" y="1584000"/>
            <a:ext cx="4778280" cy="2403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3" type="body"/>
          </p:nvPr>
        </p:nvSpPr>
        <p:spPr>
          <a:xfrm>
            <a:off x="144000" y="4216320"/>
            <a:ext cx="9792000" cy="2403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type="title"/>
          </p:nvPr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2"/>
          <p:cNvSpPr txBox="1"/>
          <p:nvPr>
            <p:ph idx="1" type="body"/>
          </p:nvPr>
        </p:nvSpPr>
        <p:spPr>
          <a:xfrm>
            <a:off x="144000" y="1584000"/>
            <a:ext cx="4778280" cy="2403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2"/>
          <p:cNvSpPr txBox="1"/>
          <p:nvPr>
            <p:ph idx="2" type="body"/>
          </p:nvPr>
        </p:nvSpPr>
        <p:spPr>
          <a:xfrm>
            <a:off x="5161680" y="1584000"/>
            <a:ext cx="4778280" cy="2403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idx="3" type="body"/>
          </p:nvPr>
        </p:nvSpPr>
        <p:spPr>
          <a:xfrm>
            <a:off x="144000" y="4216320"/>
            <a:ext cx="4778280" cy="2403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2"/>
          <p:cNvSpPr txBox="1"/>
          <p:nvPr>
            <p:ph idx="4" type="body"/>
          </p:nvPr>
        </p:nvSpPr>
        <p:spPr>
          <a:xfrm>
            <a:off x="5161680" y="4216320"/>
            <a:ext cx="4778280" cy="2403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title"/>
          </p:nvPr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1" type="body"/>
          </p:nvPr>
        </p:nvSpPr>
        <p:spPr>
          <a:xfrm>
            <a:off x="144000" y="1584000"/>
            <a:ext cx="3152880" cy="2403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3"/>
          <p:cNvSpPr txBox="1"/>
          <p:nvPr>
            <p:ph idx="2" type="body"/>
          </p:nvPr>
        </p:nvSpPr>
        <p:spPr>
          <a:xfrm>
            <a:off x="3454920" y="1584000"/>
            <a:ext cx="3152880" cy="2403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3" type="body"/>
          </p:nvPr>
        </p:nvSpPr>
        <p:spPr>
          <a:xfrm>
            <a:off x="6765840" y="1584000"/>
            <a:ext cx="3152880" cy="2403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3"/>
          <p:cNvSpPr txBox="1"/>
          <p:nvPr>
            <p:ph idx="4" type="body"/>
          </p:nvPr>
        </p:nvSpPr>
        <p:spPr>
          <a:xfrm>
            <a:off x="144000" y="4216320"/>
            <a:ext cx="3152880" cy="2403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3"/>
          <p:cNvSpPr txBox="1"/>
          <p:nvPr>
            <p:ph idx="5" type="body"/>
          </p:nvPr>
        </p:nvSpPr>
        <p:spPr>
          <a:xfrm>
            <a:off x="3454920" y="4216320"/>
            <a:ext cx="3152880" cy="2403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3"/>
          <p:cNvSpPr txBox="1"/>
          <p:nvPr>
            <p:ph idx="6" type="body"/>
          </p:nvPr>
        </p:nvSpPr>
        <p:spPr>
          <a:xfrm>
            <a:off x="6765840" y="4216320"/>
            <a:ext cx="3152880" cy="2403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2520000" y="6887160"/>
            <a:ext cx="1440000" cy="521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104000" y="6887160"/>
            <a:ext cx="4608000" cy="521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856000" y="6887160"/>
            <a:ext cx="1079640" cy="521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ctr">
              <a:spcBef>
                <a:spcPts val="0"/>
              </a:spcBef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ctr">
              <a:spcBef>
                <a:spcPts val="0"/>
              </a:spcBef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ctr">
              <a:spcBef>
                <a:spcPts val="0"/>
              </a:spcBef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ctr">
              <a:spcBef>
                <a:spcPts val="0"/>
              </a:spcBef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ctr">
              <a:spcBef>
                <a:spcPts val="0"/>
              </a:spcBef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ctr">
              <a:spcBef>
                <a:spcPts val="0"/>
              </a:spcBef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ctr">
              <a:spcBef>
                <a:spcPts val="0"/>
              </a:spcBef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ctr">
              <a:spcBef>
                <a:spcPts val="0"/>
              </a:spcBef>
              <a:buNone/>
              <a:defRPr b="0" i="0" sz="1400" u="none" cap="none" strike="noStrike"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1" name="Google Shape;11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44000" y="6769080"/>
            <a:ext cx="2275560" cy="64692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/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4200" u="none" cap="none" strike="noStrike">
                <a:latin typeface="Arial"/>
                <a:ea typeface="Arial"/>
                <a:cs typeface="Arial"/>
                <a:sym typeface="Arial"/>
              </a:rPr>
              <a:t>Algoritmos e Programação de Computadores I</a:t>
            </a:r>
            <a:endParaRPr b="0" i="0" sz="4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4400" u="none" cap="none" strike="noStrike">
                <a:latin typeface="Arial"/>
                <a:ea typeface="Arial"/>
                <a:cs typeface="Arial"/>
                <a:sym typeface="Arial"/>
              </a:rPr>
              <a:t>Strings em C</a:t>
            </a:r>
            <a:endParaRPr b="0" i="0" sz="4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r>
              <a:rPr>
                <a:latin typeface="Arial"/>
              </a:rPr>
              <a:t/>
            </a:r>
          </a:p>
          <a:p>
            <a:r>
              <a:rPr>
                <a:latin typeface="Arial"/>
              </a:rPr>
              <a:t/>
            </a:r>
          </a:p>
          <a:p>
            <a:r>
              <a:rPr>
                <a:latin typeface="Arial"/>
              </a:rPr>
              <a:t>Prof. Marcelo Farias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da Aula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>
                <a:latin typeface="Arial"/>
              </a:defRPr>
            </a:pPr>
            <a:r>
              <a:t>Compreender string como vetor de char terminado em '\0'.</a:t>
            </a:r>
          </a:p>
          <a:p>
            <a:pPr>
              <a:defRPr sz="2000">
                <a:latin typeface="Arial"/>
              </a:defRPr>
            </a:pPr>
            <a:r>
              <a:t>Manipular strings com &lt;string.h&gt; com segurança.</a:t>
            </a:r>
          </a:p>
          <a:p>
            <a:pPr>
              <a:defRPr sz="2000">
                <a:latin typeface="Arial"/>
              </a:defRPr>
            </a:pPr>
            <a:r>
              <a:t>Preferir fgets; nunca usar gets.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6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4400" u="none" cap="none" strike="noStrike">
                <a:latin typeface="Arial"/>
                <a:ea typeface="Arial"/>
                <a:cs typeface="Arial"/>
                <a:sym typeface="Arial"/>
              </a:rPr>
              <a:t> Strings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36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4000" lvl="0" marL="431999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Vetor</a:t>
            </a:r>
            <a:r>
              <a:rPr b="0" lang="pt-BR" sz="3200" strike="noStrike">
                <a:latin typeface="Arial"/>
                <a:ea typeface="Arial"/>
                <a:cs typeface="Arial"/>
                <a:sym typeface="Arial"/>
              </a:rPr>
              <a:t> de caracteres terminado com o </a:t>
            </a:r>
            <a:r>
              <a:rPr lang="pt-BR" sz="3200">
                <a:solidFill>
                  <a:schemeClr val="dk1"/>
                </a:solidFill>
              </a:rPr>
              <a:t>caractere especial de fim de string </a:t>
            </a:r>
            <a:r>
              <a:rPr lang="pt-BR" sz="3200"/>
              <a:t>'</a:t>
            </a:r>
            <a:r>
              <a:rPr b="1" lang="pt-BR" sz="3200"/>
              <a:t>\0'</a:t>
            </a:r>
            <a:r>
              <a:rPr lang="pt-BR" sz="3200"/>
              <a:t>.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1999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D</a:t>
            </a:r>
            <a:r>
              <a:rPr b="0" lang="pt-BR" sz="3200" strike="noStrike">
                <a:latin typeface="Arial"/>
                <a:ea typeface="Arial"/>
                <a:cs typeface="Arial"/>
                <a:sym typeface="Arial"/>
              </a:rPr>
              <a:t>evem ser declaradas com um tamanho </a:t>
            </a:r>
            <a:r>
              <a:rPr lang="pt-BR" sz="3200"/>
              <a:t>igual ao número de caracteres da string mais 1.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1999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lang="pt-BR" sz="3200" strike="noStrike">
                <a:latin typeface="Arial"/>
                <a:ea typeface="Arial"/>
                <a:cs typeface="Arial"/>
                <a:sym typeface="Arial"/>
              </a:rPr>
              <a:t>Podem ser inicializadas com</a:t>
            </a:r>
            <a:r>
              <a:rPr lang="pt-BR" sz="3200"/>
              <a:t> valores entre</a:t>
            </a:r>
            <a:r>
              <a:rPr b="0" lang="pt-BR" sz="3200" strike="noStrike">
                <a:latin typeface="Arial"/>
                <a:ea typeface="Arial"/>
                <a:cs typeface="Arial"/>
                <a:sym typeface="Arial"/>
              </a:rPr>
              <a:t> aspas duplas " ".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spcBef>
                <a:spcPts val="280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  <a:p>
            <a:pPr indent="457200" lvl="0" marL="0" marR="0" rtl="0" algn="l">
              <a:spcBef>
                <a:spcPts val="2800"/>
              </a:spcBef>
              <a:spcAft>
                <a:spcPts val="0"/>
              </a:spcAft>
              <a:buNone/>
            </a:pPr>
            <a:r>
              <a:rPr lang="pt-BR" sz="2800"/>
              <a:t>Obs.: C </a:t>
            </a:r>
            <a:r>
              <a:rPr lang="pt-BR" sz="2800">
                <a:solidFill>
                  <a:srgbClr val="FF0000"/>
                </a:solidFill>
              </a:rPr>
              <a:t>não</a:t>
            </a:r>
            <a:r>
              <a:rPr lang="pt-BR" sz="2800"/>
              <a:t> tem um tipo de dados específico para strings.</a:t>
            </a:r>
            <a:endParaRPr sz="2800"/>
          </a:p>
        </p:txBody>
      </p:sp>
      <p:sp>
        <p:nvSpPr>
          <p:cNvPr id="243" name="Google Shape;243;p36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244" name="Google Shape;244;p36"/>
          <p:cNvSpPr txBox="1"/>
          <p:nvPr>
            <p:ph idx="12" type="sldNum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sz="1200"/>
              <a:t>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7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4400" strike="noStrike">
                <a:latin typeface="Arial"/>
                <a:ea typeface="Arial"/>
                <a:cs typeface="Arial"/>
                <a:sym typeface="Arial"/>
              </a:rPr>
              <a:t> Exemplo de </a:t>
            </a:r>
            <a:r>
              <a:rPr lang="pt-BR" sz="4400"/>
              <a:t>S</a:t>
            </a:r>
            <a:r>
              <a:rPr b="0" lang="pt-BR" sz="4400" strike="noStrike">
                <a:latin typeface="Arial"/>
                <a:ea typeface="Arial"/>
                <a:cs typeface="Arial"/>
                <a:sym typeface="Arial"/>
              </a:rPr>
              <a:t>trings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37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400">
                <a:solidFill>
                  <a:srgbClr val="0000FF"/>
                </a:solidFill>
              </a:rPr>
              <a:t>   // string dimensionada</a:t>
            </a:r>
            <a:endParaRPr sz="2400">
              <a:solidFill>
                <a:srgbClr val="0000FF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2400"/>
              <a:t>   char str1[14] = {'E', 'u', ' ', 'g', 'o', 's', 't', 'o', ' ', 'd', 'e', ' ', 'C', '\0'};</a:t>
            </a:r>
            <a:endParaRPr sz="24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4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2400">
                <a:solidFill>
                  <a:srgbClr val="0000FF"/>
                </a:solidFill>
              </a:rPr>
              <a:t>   // string não-dimensionada</a:t>
            </a:r>
            <a:endParaRPr sz="2400">
              <a:solidFill>
                <a:srgbClr val="0000FF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2400"/>
              <a:t>   char str2[ ] = "Eu gosto de C";</a:t>
            </a:r>
            <a:endParaRPr sz="24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2400"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2400">
                <a:solidFill>
                  <a:srgbClr val="0000FF"/>
                </a:solidFill>
              </a:rPr>
              <a:t>   // ponteiro para caractere</a:t>
            </a:r>
            <a:endParaRPr sz="2400">
              <a:solidFill>
                <a:srgbClr val="0000FF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2400"/>
              <a:t>   char *str3 = str1; </a:t>
            </a:r>
            <a:endParaRPr sz="2400"/>
          </a:p>
        </p:txBody>
      </p:sp>
      <p:sp>
        <p:nvSpPr>
          <p:cNvPr id="251" name="Google Shape;251;p37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252" name="Google Shape;252;p37"/>
          <p:cNvSpPr txBox="1"/>
          <p:nvPr>
            <p:ph idx="12" type="sldNum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sz="1200"/>
              <a:t>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8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4400" u="none" cap="none" strike="noStrike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4400"/>
              <a:t>Manipulação de </a:t>
            </a:r>
            <a:r>
              <a:rPr b="0" i="0" lang="pt-BR" sz="4400" u="none" cap="none" strike="noStrike">
                <a:latin typeface="Arial"/>
                <a:ea typeface="Arial"/>
                <a:cs typeface="Arial"/>
                <a:sym typeface="Arial"/>
              </a:rPr>
              <a:t>Strings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38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4000" lvl="0" marL="431999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C não suporta operações com strings</a:t>
            </a:r>
            <a:r>
              <a:rPr b="0" lang="pt-BR" sz="3200" strike="noStrike">
                <a:latin typeface="Arial"/>
                <a:ea typeface="Arial"/>
                <a:cs typeface="Arial"/>
                <a:sym typeface="Arial"/>
              </a:rPr>
              <a:t>.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1999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Manipulação de strings é feita com uso de funções da biblioteca &lt;string.h&gt;.</a:t>
            </a:r>
            <a:endParaRPr sz="2800"/>
          </a:p>
        </p:txBody>
      </p:sp>
      <p:sp>
        <p:nvSpPr>
          <p:cNvPr id="259" name="Google Shape;259;p38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260" name="Google Shape;260;p38"/>
          <p:cNvSpPr txBox="1"/>
          <p:nvPr>
            <p:ph idx="12" type="sldNum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sz="1200"/>
              <a:t>5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9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4400" strike="noStrike">
                <a:latin typeface="Arial"/>
                <a:ea typeface="Arial"/>
                <a:cs typeface="Arial"/>
                <a:sym typeface="Arial"/>
              </a:rPr>
              <a:t> Funções de</a:t>
            </a:r>
            <a:r>
              <a:rPr lang="pt-BR" sz="4400"/>
              <a:t> Manipulação de Strings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66" name="Google Shape;266;p39"/>
          <p:cNvGraphicFramePr/>
          <p:nvPr/>
        </p:nvGraphicFramePr>
        <p:xfrm>
          <a:off x="339875" y="1584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{FB3CDADA-22CD-46E9-A736-1D6E355DC96B}</a:tableStyleId>
              </a:tblPr>
              <a:tblGrid>
                <a:gridCol w="2373500"/>
                <a:gridCol w="6997725"/>
              </a:tblGrid>
              <a:tr h="63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pt-BR" sz="2200">
                          <a:solidFill>
                            <a:schemeClr val="dk1"/>
                          </a:solidFill>
                        </a:rPr>
                        <a:t>memset(</a:t>
                      </a:r>
                      <a:r>
                        <a:rPr lang="pt-BR" sz="2200"/>
                        <a:t>s1</a:t>
                      </a:r>
                      <a:r>
                        <a:rPr lang="pt-BR" sz="2200">
                          <a:solidFill>
                            <a:schemeClr val="dk1"/>
                          </a:solidFill>
                        </a:rPr>
                        <a:t>, c, n)</a:t>
                      </a:r>
                      <a:endParaRPr sz="2200"/>
                    </a:p>
                  </a:txBody>
                  <a:tcPr marT="45725" marB="45725" marR="90000" marL="90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pt-BR" sz="2200"/>
                        <a:t>Copia </a:t>
                      </a:r>
                      <a:r>
                        <a:rPr lang="pt-BR" sz="2200">
                          <a:solidFill>
                            <a:schemeClr val="dk1"/>
                          </a:solidFill>
                        </a:rPr>
                        <a:t>caractere c nas n primeiras posições de s1.</a:t>
                      </a:r>
                      <a:endParaRPr sz="2200"/>
                    </a:p>
                  </a:txBody>
                  <a:tcPr marT="45725" marB="45725" marR="90000" marL="90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2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strcpy(s1, s2)</a:t>
                      </a:r>
                      <a:endParaRPr b="0" sz="220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0000" marL="90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220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Copia s2 em s1.</a:t>
                      </a:r>
                      <a:endParaRPr b="0" sz="220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0000" marL="90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220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strcat(s1, s2)</a:t>
                      </a:r>
                      <a:endParaRPr b="0" sz="220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0000" marL="90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220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Concatena s2 no final de s1.</a:t>
                      </a:r>
                      <a:endParaRPr b="0" sz="220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0000" marL="90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220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strlen(s1)</a:t>
                      </a:r>
                      <a:endParaRPr b="0" sz="220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0000" marL="90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220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Retorna </a:t>
                      </a:r>
                      <a:r>
                        <a:rPr lang="pt-BR" sz="2200"/>
                        <a:t>o </a:t>
                      </a:r>
                      <a:r>
                        <a:rPr b="0" lang="pt-BR" sz="220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tamanho de s1.</a:t>
                      </a:r>
                      <a:endParaRPr b="0" sz="220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0000" marL="90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220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strcmp(s1, s2)</a:t>
                      </a:r>
                      <a:endParaRPr b="0" sz="220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0000" marL="90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220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Retorna 0 se s1 == s2; &lt; 0 se s1 &lt; s2; &gt; 0 se s1 &gt; s2.</a:t>
                      </a:r>
                      <a:endParaRPr b="0" sz="220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0000" marL="90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220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strchr(s1, ch)</a:t>
                      </a:r>
                      <a:endParaRPr b="0" sz="220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0000" marL="90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220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Retorna a posição da primeira ocorrência de ch em s1.</a:t>
                      </a:r>
                      <a:endParaRPr b="0" sz="220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0000" marL="90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220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strstr(s1, s2)</a:t>
                      </a:r>
                      <a:endParaRPr b="0" sz="220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0000" marL="90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pt-BR" sz="2200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Retorna a posição da primeira ocorrência de s2 em s1.</a:t>
                      </a:r>
                      <a:endParaRPr b="0" sz="2200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0000" marL="90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67" name="Google Shape;267;p39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268" name="Google Shape;268;p39"/>
          <p:cNvSpPr txBox="1"/>
          <p:nvPr>
            <p:ph idx="12" type="sldNum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sz="1200"/>
              <a:t>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0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4400" u="none" cap="none" strike="noStrike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4400"/>
              <a:t>memset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40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4000" lvl="0" marL="431999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Declaração: </a:t>
            </a:r>
            <a:r>
              <a:rPr i="1" lang="pt-BR" sz="3200"/>
              <a:t>memset(void *str, int c, size_t n);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1999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Usada para preencher uma string com um caractere.</a:t>
            </a:r>
            <a:endParaRPr sz="3200"/>
          </a:p>
        </p:txBody>
      </p:sp>
      <p:sp>
        <p:nvSpPr>
          <p:cNvPr id="275" name="Google Shape;275;p40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276" name="Google Shape;276;p40"/>
          <p:cNvSpPr txBox="1"/>
          <p:nvPr>
            <p:ph idx="12" type="sldNum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sz="1200"/>
              <a:t>7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1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4400" u="none" cap="none" strike="noStrike">
                <a:latin typeface="Arial"/>
                <a:ea typeface="Arial"/>
                <a:cs typeface="Arial"/>
                <a:sym typeface="Arial"/>
              </a:rPr>
              <a:t> Exemplo de </a:t>
            </a:r>
            <a:r>
              <a:rPr lang="pt-BR" sz="4400"/>
              <a:t>memset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41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283" name="Google Shape;283;p41"/>
          <p:cNvSpPr txBox="1"/>
          <p:nvPr>
            <p:ph idx="12" type="sldNum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sz="1200"/>
              <a:t>8</a:t>
            </a:r>
            <a:endParaRPr/>
          </a:p>
        </p:txBody>
      </p:sp>
      <p:sp>
        <p:nvSpPr>
          <p:cNvPr id="284" name="Google Shape;284;p41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80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#include &lt;stdio.h&gt;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</a:rPr>
              <a:t>#include &lt;string.h&gt;</a:t>
            </a:r>
            <a:endParaRPr sz="2400">
              <a:solidFill>
                <a:schemeClr val="dk1"/>
              </a:solidFill>
            </a:endParaRPr>
          </a:p>
          <a:p>
            <a:pPr indent="0" lvl="0" marL="18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180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int main() {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   char s1[80];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   memset(s1, 'a', 40); </a:t>
            </a:r>
            <a:r>
              <a:rPr lang="pt-BR" sz="2400">
                <a:solidFill>
                  <a:schemeClr val="hlink"/>
                </a:solidFill>
              </a:rPr>
              <a:t>// preenche s1 com 40 caracteres a</a:t>
            </a:r>
            <a:endParaRPr sz="2400"/>
          </a:p>
          <a:p>
            <a:pPr indent="0" lvl="0" marL="180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2400"/>
              <a:t>   printf("%s\n", s1);</a:t>
            </a:r>
            <a:endParaRPr sz="2400"/>
          </a:p>
          <a:p>
            <a:pPr indent="0" lvl="0" marL="180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   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   return 0;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}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2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4400" u="none" cap="none" strike="noStrike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4400"/>
              <a:t>strcpy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42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4000" lvl="0" marL="431999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Declaração: </a:t>
            </a:r>
            <a:r>
              <a:rPr i="1" lang="pt-BR" sz="3200"/>
              <a:t>strcpy(char *dest, const char *src);</a:t>
            </a:r>
            <a:endParaRPr b="0" i="1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1999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Usada para atribuir valores para uma string.</a:t>
            </a:r>
            <a:endParaRPr sz="3200"/>
          </a:p>
        </p:txBody>
      </p:sp>
      <p:sp>
        <p:nvSpPr>
          <p:cNvPr id="291" name="Google Shape;291;p42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292" name="Google Shape;292;p42"/>
          <p:cNvSpPr txBox="1"/>
          <p:nvPr>
            <p:ph idx="12" type="sldNum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sz="1200"/>
              <a:t>9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3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4400" u="none" cap="none" strike="noStrike">
                <a:latin typeface="Arial"/>
                <a:ea typeface="Arial"/>
                <a:cs typeface="Arial"/>
                <a:sym typeface="Arial"/>
              </a:rPr>
              <a:t> Exemplo de </a:t>
            </a:r>
            <a:r>
              <a:rPr lang="pt-BR" sz="4400"/>
              <a:t>strcpy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43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299" name="Google Shape;299;p43"/>
          <p:cNvSpPr txBox="1"/>
          <p:nvPr>
            <p:ph idx="12" type="sldNum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sz="1200"/>
              <a:t>10</a:t>
            </a:r>
            <a:endParaRPr/>
          </a:p>
        </p:txBody>
      </p:sp>
      <p:sp>
        <p:nvSpPr>
          <p:cNvPr id="300" name="Google Shape;300;p43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80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#include &lt;stdio.h&gt;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</a:rPr>
              <a:t>#include &lt;string.h&gt;</a:t>
            </a:r>
            <a:endParaRPr sz="2400">
              <a:solidFill>
                <a:schemeClr val="dk1"/>
              </a:solidFill>
            </a:endParaRPr>
          </a:p>
          <a:p>
            <a:pPr indent="0" lvl="0" marL="18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180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int main() {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400"/>
              <a:t>   char s1[80];</a:t>
            </a:r>
            <a:endParaRPr sz="2400"/>
          </a:p>
          <a:p>
            <a:pPr indent="0" lvl="0" marL="180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2400"/>
              <a:t>   strcpy(s1, "Isso é uma string!");</a:t>
            </a: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2400">
                <a:solidFill>
                  <a:schemeClr val="hlink"/>
                </a:solidFill>
              </a:rPr>
              <a:t>// copia a string em s1</a:t>
            </a:r>
            <a:endParaRPr sz="2400"/>
          </a:p>
          <a:p>
            <a:pPr indent="0" lvl="0" marL="180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2400"/>
              <a:t>   printf("%s\n", s1);</a:t>
            </a:r>
            <a:endParaRPr sz="2400"/>
          </a:p>
          <a:p>
            <a:pPr indent="0" lvl="0" marL="180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   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   return 0;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}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4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4400" u="none" cap="none" strike="noStrike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4400"/>
              <a:t>strcat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44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4000" lvl="0" marL="431999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Sintaxe: </a:t>
            </a:r>
            <a:r>
              <a:rPr i="1" lang="pt-BR" sz="3200"/>
              <a:t>strcat(char *dest, const char *src);</a:t>
            </a:r>
            <a:endParaRPr b="0" i="1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1999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Usada para concatenar strings</a:t>
            </a:r>
            <a:r>
              <a:rPr b="0" lang="pt-BR" sz="3200" strike="noStrike">
                <a:latin typeface="Arial"/>
                <a:ea typeface="Arial"/>
                <a:cs typeface="Arial"/>
                <a:sym typeface="Arial"/>
              </a:rPr>
              <a:t>.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307" name="Google Shape;307;p44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308" name="Google Shape;308;p44"/>
          <p:cNvSpPr txBox="1"/>
          <p:nvPr>
            <p:ph idx="12" type="sldNum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sz="1200"/>
              <a:t>11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5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4400" u="none" cap="none" strike="noStrike">
                <a:latin typeface="Arial"/>
                <a:ea typeface="Arial"/>
                <a:cs typeface="Arial"/>
                <a:sym typeface="Arial"/>
              </a:rPr>
              <a:t> Exemplo de </a:t>
            </a:r>
            <a:r>
              <a:rPr lang="pt-BR" sz="4400"/>
              <a:t>strcat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45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315" name="Google Shape;315;p45"/>
          <p:cNvSpPr txBox="1"/>
          <p:nvPr>
            <p:ph idx="12" type="sldNum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sz="1200"/>
              <a:t>12</a:t>
            </a:r>
            <a:endParaRPr/>
          </a:p>
        </p:txBody>
      </p:sp>
      <p:sp>
        <p:nvSpPr>
          <p:cNvPr id="316" name="Google Shape;316;p45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80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#include &lt;stdio.h&gt;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</a:rPr>
              <a:t>#include &lt;string.h&gt;</a:t>
            </a:r>
            <a:endParaRPr sz="2400">
              <a:solidFill>
                <a:schemeClr val="dk1"/>
              </a:solidFill>
            </a:endParaRPr>
          </a:p>
          <a:p>
            <a:pPr indent="0" lvl="0" marL="18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180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int main() {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2400"/>
              <a:t>   char s1[80] = </a:t>
            </a:r>
            <a:r>
              <a:rPr lang="pt-BR" sz="2400">
                <a:solidFill>
                  <a:schemeClr val="dk1"/>
                </a:solidFill>
              </a:rPr>
              <a:t>"Isso é "</a:t>
            </a:r>
            <a:r>
              <a:rPr lang="pt-BR" sz="2400"/>
              <a:t>;</a:t>
            </a:r>
            <a:endParaRPr sz="2400"/>
          </a:p>
          <a:p>
            <a:pPr indent="0" lvl="0" marL="180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2400"/>
              <a:t>   strcat(s1, "uma string"); </a:t>
            </a: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2400">
                <a:solidFill>
                  <a:schemeClr val="hlink"/>
                </a:solidFill>
              </a:rPr>
              <a:t>// concatena a string com s1</a:t>
            </a:r>
            <a:endParaRPr sz="2400"/>
          </a:p>
          <a:p>
            <a:pPr indent="0" lvl="0" marL="180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2400"/>
              <a:t>   printf("%s\n", s1);</a:t>
            </a:r>
            <a:endParaRPr sz="2400"/>
          </a:p>
          <a:p>
            <a:pPr indent="0" lvl="0" marL="180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   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   return 0;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}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6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4400" u="none" cap="none" strike="noStrike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4400"/>
              <a:t>strlen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46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4000" lvl="0" marL="431999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Declaração: </a:t>
            </a:r>
            <a:r>
              <a:rPr i="1" lang="pt-BR" sz="3200"/>
              <a:t>strlen(const char *str);</a:t>
            </a:r>
            <a:endParaRPr b="0" i="1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1999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Usada para calcular o tamanho da string (sem contar com </a:t>
            </a:r>
            <a:r>
              <a:rPr b="1" lang="pt-BR" sz="3200"/>
              <a:t>\0</a:t>
            </a:r>
            <a:r>
              <a:rPr lang="pt-BR" sz="3200"/>
              <a:t>)</a:t>
            </a:r>
            <a:r>
              <a:rPr b="0" lang="pt-BR" sz="3200" strike="noStrike">
                <a:latin typeface="Arial"/>
                <a:ea typeface="Arial"/>
                <a:cs typeface="Arial"/>
                <a:sym typeface="Arial"/>
              </a:rPr>
              <a:t>.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323" name="Google Shape;323;p46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324" name="Google Shape;324;p46"/>
          <p:cNvSpPr txBox="1"/>
          <p:nvPr>
            <p:ph idx="12" type="sldNum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sz="1200"/>
              <a:t>13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7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4400" u="none" cap="none" strike="noStrike">
                <a:latin typeface="Arial"/>
                <a:ea typeface="Arial"/>
                <a:cs typeface="Arial"/>
                <a:sym typeface="Arial"/>
              </a:rPr>
              <a:t> E</a:t>
            </a:r>
            <a:r>
              <a:rPr lang="pt-BR" sz="4400"/>
              <a:t>xemplo de strlen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47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331" name="Google Shape;331;p47"/>
          <p:cNvSpPr txBox="1"/>
          <p:nvPr>
            <p:ph idx="12" type="sldNum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sz="1200"/>
              <a:t>14</a:t>
            </a:r>
            <a:endParaRPr/>
          </a:p>
        </p:txBody>
      </p:sp>
      <p:sp>
        <p:nvSpPr>
          <p:cNvPr id="332" name="Google Shape;332;p47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80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#include &lt;stdio.h&gt;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</a:rPr>
              <a:t>#include &lt;string.h&gt;</a:t>
            </a:r>
            <a:endParaRPr sz="2400">
              <a:solidFill>
                <a:schemeClr val="dk1"/>
              </a:solidFill>
            </a:endParaRPr>
          </a:p>
          <a:p>
            <a:pPr indent="0" lvl="0" marL="18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180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int main() {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2400"/>
              <a:t>   char s1[80];</a:t>
            </a:r>
            <a:endParaRPr sz="2400"/>
          </a:p>
          <a:p>
            <a:pPr indent="0" lvl="0" marL="180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2400"/>
              <a:t>   fgets(s1, sizeof(s1), stdin);</a:t>
            </a:r>
            <a:endParaRPr sz="2400"/>
          </a:p>
          <a:p>
            <a:pPr indent="0" lvl="0" marL="180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2400"/>
              <a:t>   printf("tamanho da string: %ld", strlen(s1)); </a:t>
            </a:r>
            <a:r>
              <a:rPr lang="pt-BR" sz="2400">
                <a:solidFill>
                  <a:schemeClr val="hlink"/>
                </a:solidFill>
              </a:rPr>
              <a:t>// calcula tamanho de s1</a:t>
            </a:r>
            <a:endParaRPr sz="2400"/>
          </a:p>
          <a:p>
            <a:pPr indent="0" lvl="0" marL="180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   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   return 0;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}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8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4400" u="none" cap="none" strike="noStrike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4400"/>
              <a:t>strcmp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48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4000" lvl="0" marL="431999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Declaração: </a:t>
            </a:r>
            <a:r>
              <a:rPr i="1" lang="pt-BR" sz="3200"/>
              <a:t>strcmp(const char *str1, const char *str2);</a:t>
            </a:r>
            <a:endParaRPr b="0" i="1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1999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Usada para comparar duas strings pela ordem alfabética do conteúdo</a:t>
            </a:r>
            <a:r>
              <a:rPr b="0" lang="pt-BR" sz="3200" strike="noStrike">
                <a:latin typeface="Arial"/>
                <a:ea typeface="Arial"/>
                <a:cs typeface="Arial"/>
                <a:sym typeface="Arial"/>
              </a:rPr>
              <a:t>.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339" name="Google Shape;339;p48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340" name="Google Shape;340;p48"/>
          <p:cNvSpPr txBox="1"/>
          <p:nvPr>
            <p:ph idx="12" type="sldNum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sz="1200"/>
              <a:t>15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9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4400" u="none" cap="none" strike="noStrike">
                <a:latin typeface="Arial"/>
                <a:ea typeface="Arial"/>
                <a:cs typeface="Arial"/>
                <a:sym typeface="Arial"/>
              </a:rPr>
              <a:t> Exemplo de </a:t>
            </a:r>
            <a:r>
              <a:rPr lang="pt-BR" sz="4400"/>
              <a:t>strcmp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49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347" name="Google Shape;347;p49"/>
          <p:cNvSpPr txBox="1"/>
          <p:nvPr>
            <p:ph idx="12" type="sldNum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sz="1200"/>
              <a:t>16</a:t>
            </a:r>
            <a:endParaRPr/>
          </a:p>
        </p:txBody>
      </p:sp>
      <p:sp>
        <p:nvSpPr>
          <p:cNvPr id="348" name="Google Shape;348;p49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80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#include &lt;stdio.h&gt;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</a:rPr>
              <a:t>#include &lt;string.h&gt;</a:t>
            </a:r>
            <a:endParaRPr sz="2400">
              <a:solidFill>
                <a:schemeClr val="dk1"/>
              </a:solidFill>
            </a:endParaRPr>
          </a:p>
          <a:p>
            <a:pPr indent="0" lvl="0" marL="18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180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int main() {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2400"/>
              <a:t>   char s1[80], s2[80];</a:t>
            </a:r>
            <a:endParaRPr sz="2400"/>
          </a:p>
          <a:p>
            <a:pPr indent="0" lvl="0" marL="180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2400"/>
              <a:t>   fgets(s1, sizeof(s1), stdin); fgets(s2, sizeof(s2), stdin);</a:t>
            </a:r>
            <a:endParaRPr sz="2400"/>
          </a:p>
          <a:p>
            <a:pPr indent="0" lvl="0" marL="18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400">
                <a:solidFill>
                  <a:schemeClr val="hlink"/>
                </a:solidFill>
              </a:rPr>
              <a:t>   // comparação das strings s1 e s2</a:t>
            </a:r>
            <a:endParaRPr sz="2400"/>
          </a:p>
          <a:p>
            <a:pPr indent="0" lvl="0" marL="180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2400"/>
              <a:t>   printf("As strings são iguais? %d\n", strcmp(s1, s2));</a:t>
            </a: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 </a:t>
            </a:r>
            <a:endParaRPr sz="2400"/>
          </a:p>
          <a:p>
            <a:pPr indent="0" lvl="0" marL="180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   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   return 0;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80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}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50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4400" u="none" cap="none" strike="noStrike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4400"/>
              <a:t>strchr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50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4000" lvl="0" marL="431999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Declaração: </a:t>
            </a:r>
            <a:r>
              <a:rPr i="1" lang="pt-BR" sz="3200"/>
              <a:t>strchr(const char *str, int c);</a:t>
            </a:r>
            <a:endParaRPr b="0" i="1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1999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Usada para localizar um caractere dentro de uma string</a:t>
            </a:r>
            <a:r>
              <a:rPr b="0" lang="pt-BR" sz="3200" strike="noStrike">
                <a:latin typeface="Arial"/>
                <a:ea typeface="Arial"/>
                <a:cs typeface="Arial"/>
                <a:sym typeface="Arial"/>
              </a:rPr>
              <a:t>.</a:t>
            </a:r>
            <a:endParaRPr sz="2800"/>
          </a:p>
        </p:txBody>
      </p:sp>
      <p:sp>
        <p:nvSpPr>
          <p:cNvPr id="355" name="Google Shape;355;p50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356" name="Google Shape;356;p50"/>
          <p:cNvSpPr txBox="1"/>
          <p:nvPr>
            <p:ph idx="12" type="sldNum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sz="1200"/>
              <a:t>17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51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4400" u="none" cap="none" strike="noStrike">
                <a:latin typeface="Arial"/>
                <a:ea typeface="Arial"/>
                <a:cs typeface="Arial"/>
                <a:sym typeface="Arial"/>
              </a:rPr>
              <a:t> Exemplo de </a:t>
            </a:r>
            <a:r>
              <a:rPr lang="pt-BR" sz="4400"/>
              <a:t>strchr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51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363" name="Google Shape;363;p51"/>
          <p:cNvSpPr txBox="1"/>
          <p:nvPr>
            <p:ph idx="12" type="sldNum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sz="1200"/>
              <a:t>18</a:t>
            </a:r>
            <a:endParaRPr/>
          </a:p>
        </p:txBody>
      </p:sp>
      <p:sp>
        <p:nvSpPr>
          <p:cNvPr id="364" name="Google Shape;364;p51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80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#include &lt;stdio.h&gt;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r>
              <a:rPr>
                <a:latin typeface="Arial"/>
              </a:rPr>
              <a:t>#include &lt;string.h&gt;</a:t>
            </a:r>
          </a:p>
          <a:p>
            <a:r>
              <a:rPr>
                <a:latin typeface="Arial"/>
              </a:rPr>
              <a:t/>
            </a:r>
          </a:p>
          <a:p>
            <a:r>
              <a:rPr>
                <a:latin typeface="Arial"/>
              </a:rPr>
              <a:t>int main() {</a:t>
            </a:r>
          </a:p>
          <a:p>
            <a:r>
              <a:rPr>
                <a:latin typeface="Arial"/>
              </a:rPr>
              <a:t>   char s1[80];</a:t>
            </a:r>
          </a:p>
          <a:p>
            <a:r>
              <a:rPr>
                <a:latin typeface="Arial"/>
              </a:rPr>
              <a:t>   int ch;</a:t>
            </a:r>
          </a:p>
          <a:p>
            <a:r>
              <a:rPr>
                <a:latin typeface="Arial"/>
              </a:rPr>
              <a:t>   printf("Digite uma frase: ");</a:t>
            </a:r>
          </a:p>
          <a:p>
            <a:r>
              <a:rPr>
                <a:latin typeface="Arial"/>
              </a:rPr>
              <a:t>   fgets(s1, sizeof(s1), stdin);</a:t>
            </a:r>
          </a:p>
          <a:p>
            <a:r>
              <a:rPr>
                <a:latin typeface="Arial"/>
              </a:rPr>
              <a:t>   printf("Digite um caractere: ");</a:t>
            </a:r>
          </a:p>
          <a:p>
            <a:r>
              <a:rPr>
                <a:latin typeface="Arial"/>
              </a:rPr>
              <a:t>   ch = getchar();</a:t>
            </a:r>
          </a:p>
          <a:p>
            <a:r>
              <a:rPr>
                <a:latin typeface="Arial"/>
              </a:rPr>
              <a:t>   if (strchr(s1, ch) != NULL)</a:t>
            </a:r>
          </a:p>
          <a:p>
            <a:r>
              <a:rPr>
                <a:latin typeface="Arial"/>
              </a:rPr>
              <a:t>      printf("caractere encontrado!\n");</a:t>
            </a:r>
          </a:p>
          <a:p>
            <a:r>
              <a:rPr>
                <a:latin typeface="Arial"/>
              </a:rPr>
              <a:t>   printf("%s\n", strchr("alo", 'o'));</a:t>
            </a:r>
          </a:p>
          <a:p>
            <a:r>
              <a:rPr>
                <a:latin typeface="Arial"/>
              </a:rPr>
              <a:t>   return 0;</a:t>
            </a:r>
          </a:p>
          <a:p>
            <a:r>
              <a:rPr>
                <a:latin typeface="Arial"/>
              </a:rPr>
              <a:t>}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52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4400" u="none" cap="none" strike="noStrike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4400"/>
              <a:t>strstr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52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4000" lvl="0" marL="431999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Declaração: char *strstr(const char *haystack, const char *needle);</a:t>
            </a:r>
            <a:r>
              <a:rPr i="1" lang="pt-BR" sz="3200"/>
              <a:t/>
            </a:r>
            <a:endParaRPr b="0" i="1" sz="3200" strike="noStrike">
              <a:latin typeface="Arial"/>
              <a:ea typeface="Arial"/>
              <a:cs typeface="Arial"/>
              <a:sym typeface="Arial"/>
            </a:endParaRPr>
          </a:p>
          <a:p>
            <a:r>
              <a:t>Usada para localizar uma string dentro de outra string.</a:t>
            </a:r>
          </a:p>
        </p:txBody>
      </p:sp>
      <p:sp>
        <p:nvSpPr>
          <p:cNvPr id="371" name="Google Shape;371;p52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372" name="Google Shape;372;p52"/>
          <p:cNvSpPr txBox="1"/>
          <p:nvPr>
            <p:ph idx="12" type="sldNum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sz="1200"/>
              <a:t>19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53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4400" u="none" cap="none" strike="noStrike">
                <a:latin typeface="Arial"/>
                <a:ea typeface="Arial"/>
                <a:cs typeface="Arial"/>
                <a:sym typeface="Arial"/>
              </a:rPr>
              <a:t> Exemplo de </a:t>
            </a:r>
            <a:r>
              <a:rPr lang="pt-BR" sz="4400"/>
              <a:t>strstr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53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379" name="Google Shape;379;p53"/>
          <p:cNvSpPr txBox="1"/>
          <p:nvPr>
            <p:ph idx="12" type="sldNum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sz="1200"/>
              <a:t>20</a:t>
            </a:r>
            <a:endParaRPr/>
          </a:p>
        </p:txBody>
      </p:sp>
      <p:sp>
        <p:nvSpPr>
          <p:cNvPr id="380" name="Google Shape;380;p53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80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2400" strike="noStrike">
                <a:latin typeface="Arial"/>
                <a:ea typeface="Arial"/>
                <a:cs typeface="Arial"/>
                <a:sym typeface="Arial"/>
              </a:rPr>
              <a:t>#include &lt;stdio.h&gt;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r>
              <a:rPr>
                <a:latin typeface="Arial"/>
              </a:rPr>
              <a:t>#include &lt;string.h&gt;</a:t>
            </a:r>
          </a:p>
          <a:p>
            <a:r>
              <a:rPr>
                <a:latin typeface="Arial"/>
              </a:rPr>
              <a:t/>
            </a:r>
          </a:p>
          <a:p>
            <a:r>
              <a:rPr>
                <a:latin typeface="Arial"/>
              </a:rPr>
              <a:t>int main() {</a:t>
            </a:r>
          </a:p>
          <a:p>
            <a:r>
              <a:rPr>
                <a:latin typeface="Arial"/>
              </a:rPr>
              <a:t>   char s1[80], s2[80];</a:t>
            </a:r>
          </a:p>
          <a:p>
            <a:r>
              <a:rPr>
                <a:latin typeface="Arial"/>
              </a:rPr>
              <a:t>   printf("Frase: ");</a:t>
            </a:r>
          </a:p>
          <a:p>
            <a:r>
              <a:rPr>
                <a:latin typeface="Arial"/>
              </a:rPr>
              <a:t>   fgets(s1, sizeof(s1), stdin);</a:t>
            </a:r>
          </a:p>
          <a:p>
            <a:r>
              <a:rPr>
                <a:latin typeface="Arial"/>
              </a:rPr>
              <a:t>   printf("Trecho: ");</a:t>
            </a:r>
          </a:p>
          <a:p>
            <a:r>
              <a:rPr>
                <a:latin typeface="Arial"/>
              </a:rPr>
              <a:t>   fgets(s2, sizeof(s2), stdin);</a:t>
            </a:r>
          </a:p>
          <a:p>
            <a:r>
              <a:rPr>
                <a:latin typeface="Arial"/>
              </a:rPr>
              <a:t>   if (strstr(s1, s2) != NULL)</a:t>
            </a:r>
          </a:p>
          <a:p>
            <a:r>
              <a:rPr>
                <a:latin typeface="Arial"/>
              </a:rPr>
              <a:t>      printf("string encontrada!\n");</a:t>
            </a:r>
          </a:p>
          <a:p>
            <a:r>
              <a:rPr>
                <a:latin typeface="Arial"/>
              </a:rPr>
              <a:t>   printf("%s\n", strstr("aqui alo", "alo"));</a:t>
            </a:r>
          </a:p>
          <a:p>
            <a:r>
              <a:rPr>
                <a:latin typeface="Arial"/>
              </a:rPr>
              <a:t>   return 0;</a:t>
            </a:r>
          </a:p>
          <a:p>
            <a:r>
              <a:rPr>
                <a:latin typeface="Arial"/>
              </a:rPr>
              <a:t>}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54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4400" u="none" cap="none" strike="noStrike">
                <a:latin typeface="Arial"/>
                <a:ea typeface="Arial"/>
                <a:cs typeface="Arial"/>
                <a:sym typeface="Arial"/>
              </a:rPr>
              <a:t> Matrizes de Strings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54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4000" lvl="0" marL="431999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M</a:t>
            </a:r>
            <a:r>
              <a:rPr b="0" lang="pt-BR" sz="3200" strike="noStrike">
                <a:latin typeface="Arial"/>
                <a:ea typeface="Arial"/>
                <a:cs typeface="Arial"/>
                <a:sym typeface="Arial"/>
              </a:rPr>
              <a:t>atriz </a:t>
            </a:r>
            <a:r>
              <a:rPr lang="pt-BR" sz="3200"/>
              <a:t>bidimensional</a:t>
            </a:r>
            <a:r>
              <a:rPr b="0" lang="pt-BR" sz="3200" strike="noStrike">
                <a:latin typeface="Arial"/>
                <a:ea typeface="Arial"/>
                <a:cs typeface="Arial"/>
                <a:sym typeface="Arial"/>
              </a:rPr>
              <a:t> de caracteres.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1999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/>
              <a:t>Uma dimensão indica o número de strings e a outra o tamanho de cada string</a:t>
            </a:r>
            <a:r>
              <a:rPr b="0" lang="pt-BR" sz="3200" strike="noStrike">
                <a:latin typeface="Arial"/>
                <a:ea typeface="Arial"/>
                <a:cs typeface="Arial"/>
                <a:sym typeface="Arial"/>
              </a:rPr>
              <a:t>.</a:t>
            </a:r>
            <a:endParaRPr sz="2800"/>
          </a:p>
        </p:txBody>
      </p:sp>
      <p:sp>
        <p:nvSpPr>
          <p:cNvPr id="387" name="Google Shape;387;p54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388" name="Google Shape;388;p54"/>
          <p:cNvSpPr txBox="1"/>
          <p:nvPr>
            <p:ph idx="12" type="sldNum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sz="1200"/>
              <a:t>21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55"/>
          <p:cNvSpPr txBox="1"/>
          <p:nvPr/>
        </p:nvSpPr>
        <p:spPr>
          <a:xfrm>
            <a:off x="144000" y="157320"/>
            <a:ext cx="9792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4400" u="none" cap="none" strike="noStrike">
                <a:latin typeface="Arial"/>
                <a:ea typeface="Arial"/>
                <a:cs typeface="Arial"/>
                <a:sym typeface="Arial"/>
              </a:rPr>
              <a:t> Exemplo de </a:t>
            </a:r>
            <a:r>
              <a:rPr lang="pt-BR" sz="4400"/>
              <a:t>Matriz de Strings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55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395" name="Google Shape;395;p55"/>
          <p:cNvSpPr txBox="1"/>
          <p:nvPr>
            <p:ph idx="12" type="sldNum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sz="1200"/>
              <a:t>22</a:t>
            </a:r>
            <a:endParaRPr/>
          </a:p>
        </p:txBody>
      </p:sp>
      <p:sp>
        <p:nvSpPr>
          <p:cNvPr id="396" name="Google Shape;396;p55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80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</a:rPr>
              <a:t>#define MAX 10</a:t>
            </a:r>
            <a:endParaRPr sz="2400">
              <a:solidFill>
                <a:schemeClr val="dk1"/>
              </a:solidFill>
            </a:endParaRPr>
          </a:p>
          <a:p>
            <a:r>
              <a:t>#define SIZE 61</a:t>
            </a:r>
          </a:p>
          <a:p>
            <a:r>
              <a:t/>
            </a:r>
          </a:p>
          <a:p>
            <a:r>
              <a:t>char nomes[MAX][SIZE];</a:t>
            </a:r>
          </a:p>
          <a:p>
            <a:r>
              <a:t/>
            </a:r>
          </a:p>
          <a:p>
            <a:r>
              <a:t>for (int i = 0; i &lt; MAX; i++)</a:t>
            </a:r>
          </a:p>
          <a:p>
            <a:r>
              <a:t>    fgets(nomes[i], sizeof(nomes[i]), stdin);</a:t>
            </a:r>
          </a:p>
          <a:p>
            <a:r>
              <a:t/>
            </a:r>
          </a:p>
          <a:p>
            <a:r>
              <a:t>for (int i = 0; i &lt; MAX; i++)</a:t>
            </a:r>
          </a:p>
          <a:p>
            <a:r>
              <a:t>    printf("%s", nomes[i]);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56"/>
          <p:cNvSpPr txBox="1"/>
          <p:nvPr/>
        </p:nvSpPr>
        <p:spPr>
          <a:xfrm>
            <a:off x="144000" y="157320"/>
            <a:ext cx="9792000" cy="1262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4400" strike="noStrike">
                <a:latin typeface="Arial"/>
                <a:ea typeface="Arial"/>
                <a:cs typeface="Arial"/>
                <a:sym typeface="Arial"/>
              </a:rPr>
              <a:t> Referências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56"/>
          <p:cNvSpPr txBox="1"/>
          <p:nvPr/>
        </p:nvSpPr>
        <p:spPr>
          <a:xfrm>
            <a:off x="144000" y="1584000"/>
            <a:ext cx="9792000" cy="50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718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80"/>
              <a:buFont typeface="Noto Sans Symbols"/>
              <a:buChar char="●"/>
            </a:pPr>
            <a:r>
              <a:rPr lang="pt-BR" sz="2400">
                <a:solidFill>
                  <a:schemeClr val="dk1"/>
                </a:solidFill>
              </a:rPr>
              <a:t>SCHILDT, Herbert. C: Completo e Total. 3. ed. Pearson Makron Books, 1997.</a:t>
            </a:r>
            <a:endParaRPr sz="2400">
              <a:solidFill>
                <a:schemeClr val="dk1"/>
              </a:solidFill>
            </a:endParaRPr>
          </a:p>
          <a:p>
            <a:pPr indent="-29718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80"/>
              <a:buFont typeface="Noto Sans Symbols"/>
              <a:buChar char="●"/>
            </a:pPr>
            <a:r>
              <a:rPr lang="pt-BR" sz="2400">
                <a:solidFill>
                  <a:schemeClr val="dk1"/>
                </a:solidFill>
              </a:rPr>
              <a:t>ANTONELLO, Ricardo. Linguagem C. 1. ed. Livro Digital, 2020.</a:t>
            </a:r>
            <a:endParaRPr sz="2400"/>
          </a:p>
        </p:txBody>
      </p:sp>
      <p:sp>
        <p:nvSpPr>
          <p:cNvPr id="403" name="Google Shape;403;p56"/>
          <p:cNvSpPr txBox="1"/>
          <p:nvPr/>
        </p:nvSpPr>
        <p:spPr>
          <a:xfrm>
            <a:off x="2713375" y="6877725"/>
            <a:ext cx="6065100" cy="46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Algoritmos e Programação de Computadores I</a:t>
            </a:r>
            <a:endParaRPr/>
          </a:p>
        </p:txBody>
      </p:sp>
      <p:sp>
        <p:nvSpPr>
          <p:cNvPr id="404" name="Google Shape;404;p56"/>
          <p:cNvSpPr txBox="1"/>
          <p:nvPr>
            <p:ph idx="12" type="sldNum"/>
          </p:nvPr>
        </p:nvSpPr>
        <p:spPr>
          <a:xfrm>
            <a:off x="9433260" y="6981108"/>
            <a:ext cx="604800" cy="57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r>
              <a:rPr sz="1200"/>
              <a:t>27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F4E79"/>
                </a:solidFill>
                <a:latin typeface="Arial"/>
              </a:rPr>
              <a:t>Mapa da aula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Aula (teoria): Aula14 — Strings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Laboratório guiado: Pratica09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Atividade avaliativa: Atividade04 (strstr)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Sugestão de ritmo: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1) Conceitos nos slides   2) Prática no lab   3) Atividade sem 'receita'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Arial"/>
              </a:defRPr>
            </a:pPr>
            <a:r>
              <a:t>Algoritmos e Programação de Computadores I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F4E79"/>
                </a:solidFill>
                <a:latin typeface="Arial"/>
              </a:rPr>
              <a:t>Para estudar no livro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Livro-base: ANTONELLO, Ricardo. Linguagem C. 1. ed.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Leitura indicada: Cap. 8.3 — Strings (p. 102–112)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Exercícios do livro: Exercícios 8.4 (strings)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Revise o capítulo após a aula e antes da prática.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Arial"/>
              </a:defRPr>
            </a:pPr>
            <a:r>
              <a:t>Algoritmos e Programação de Computadores I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F4E79"/>
                </a:solidFill>
                <a:latin typeface="Arial"/>
              </a:rPr>
              <a:t>Desafio (8 min)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Leia frase e trecho com fgets; diga se o trecho ocorre (strstr). Remova o '\n' antes de comparar.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Trabalhe em dupla (instrução por pares).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Ao final, uma dupla compartilha a solução com a turma.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Arial"/>
              </a:defRPr>
            </a:pPr>
            <a:r>
              <a:t>Algoritmos e Programação de Computadores I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1F4E79"/>
                </a:solidFill>
                <a:latin typeface="Arial"/>
              </a:rPr>
              <a:t>Quiz rápido (3 perguntas)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1) Por que a string termina com '\0'?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2) Diferença entre strcpy e strcat?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3) Por que #define MAX 10; (com ;) é erro?</a:t>
            </a: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</a:p>
          <a:p>
            <a:pPr>
              <a:spcAft>
                <a:spcPts val="600"/>
              </a:spcAft>
              <a:defRPr sz="1800">
                <a:latin typeface="Arial"/>
              </a:defRPr>
            </a:pPr>
            <a:r>
              <a:t>Respostas no quadro / Mentimeter / Kahoot.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Arial"/>
              </a:defRPr>
            </a:pPr>
            <a:r>
              <a:t>Algoritmos e Programação de Computadores 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